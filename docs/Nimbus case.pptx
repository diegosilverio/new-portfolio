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Lst>
  <p:sldSz cy="5143500" cx="9144000"/>
  <p:notesSz cx="6858000" cy="9144000"/>
  <p:embeddedFontLst>
    <p:embeddedFont>
      <p:font typeface="Roboto"/>
      <p:regular r:id="rId24"/>
      <p:bold r:id="rId25"/>
      <p:italic r:id="rId26"/>
      <p:boldItalic r:id="rId2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454">
          <p15:clr>
            <a:srgbClr val="A4A3A4"/>
          </p15:clr>
        </p15:guide>
        <p15:guide id="2" pos="5216">
          <p15:clr>
            <a:srgbClr val="A4A3A4"/>
          </p15:clr>
        </p15:guide>
        <p15:guide id="3" pos="446">
          <p15:clr>
            <a:srgbClr val="9AA0A6"/>
          </p15:clr>
        </p15:guide>
        <p15:guide id="4" orient="horz" pos="2786">
          <p15:clr>
            <a:srgbClr val="9AA0A6"/>
          </p15:clr>
        </p15:guide>
        <p15:guide id="5" pos="2438">
          <p15:clr>
            <a:srgbClr val="9AA0A6"/>
          </p15:clr>
        </p15:guide>
        <p15:guide id="6" pos="907">
          <p15:clr>
            <a:srgbClr val="9AA0A6"/>
          </p15:clr>
        </p15:guide>
        <p15:guide id="7" pos="2816">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454" orient="horz"/>
        <p:guide pos="5216"/>
        <p:guide pos="446"/>
        <p:guide pos="2786" orient="horz"/>
        <p:guide pos="2438"/>
        <p:guide pos="907"/>
        <p:guide pos="2816"/>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font" Target="fonts/Roboto-regular.fntdata"/><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Roboto-italic.fntdata"/><Relationship Id="rId25" Type="http://schemas.openxmlformats.org/officeDocument/2006/relationships/font" Target="fonts/Roboto-bold.fntdata"/><Relationship Id="rId27" Type="http://schemas.openxmlformats.org/officeDocument/2006/relationships/font" Target="fonts/Roboto-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16f5671dfb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16f5671dfb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g16f5671dfb1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 name="Google Shape;60;g16f5671dfb1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pt-BR"/>
              <a:t>contexto:</a:t>
            </a:r>
            <a:endParaRPr/>
          </a:p>
          <a:p>
            <a:pPr indent="-298450" lvl="0" marL="457200" rtl="0" algn="l">
              <a:lnSpc>
                <a:spcPct val="115000"/>
              </a:lnSpc>
              <a:spcBef>
                <a:spcPts val="0"/>
              </a:spcBef>
              <a:spcAft>
                <a:spcPts val="0"/>
              </a:spcAft>
              <a:buSzPts val="1100"/>
              <a:buChar char="-"/>
            </a:pPr>
            <a:r>
              <a:rPr lang="pt-BR"/>
              <a:t>time core</a:t>
            </a:r>
            <a:endParaRPr/>
          </a:p>
          <a:p>
            <a:pPr indent="-298450" lvl="0" marL="457200" rtl="0" algn="l">
              <a:lnSpc>
                <a:spcPct val="115000"/>
              </a:lnSpc>
              <a:spcBef>
                <a:spcPts val="0"/>
              </a:spcBef>
              <a:spcAft>
                <a:spcPts val="0"/>
              </a:spcAft>
              <a:buSzPts val="1100"/>
              <a:buChar char="-"/>
            </a:pPr>
            <a:r>
              <a:rPr lang="pt-BR"/>
              <a:t>quantos usuários no aplicativo</a:t>
            </a:r>
            <a:endParaRPr/>
          </a:p>
          <a:p>
            <a:pPr indent="-298450" lvl="0" marL="457200" rtl="0" algn="l">
              <a:lnSpc>
                <a:spcPct val="115000"/>
              </a:lnSpc>
              <a:spcBef>
                <a:spcPts val="0"/>
              </a:spcBef>
              <a:spcAft>
                <a:spcPts val="0"/>
              </a:spcAft>
              <a:buSzPts val="1100"/>
              <a:buChar char="-"/>
            </a:pPr>
            <a:r>
              <a:rPr lang="pt-BR"/>
              <a:t>tempo sem mexer no app</a:t>
            </a:r>
            <a:endParaRPr/>
          </a:p>
          <a:p>
            <a:pPr indent="-298450" lvl="0" marL="457200" rtl="0" algn="l">
              <a:lnSpc>
                <a:spcPct val="115000"/>
              </a:lnSpc>
              <a:spcBef>
                <a:spcPts val="0"/>
              </a:spcBef>
              <a:spcAft>
                <a:spcPts val="0"/>
              </a:spcAft>
              <a:buSzPts val="1100"/>
              <a:buChar char="-"/>
            </a:pPr>
            <a:r>
              <a:rPr lang="pt-BR"/>
              <a:t>time responsável</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g170b86de89c_0_1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 name="Google Shape;68;g170b86de89c_0_1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100961311c8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 name="Google Shape;75;g100961311c8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pt-BR"/>
              <a:t>desafio</a:t>
            </a:r>
            <a:endParaRPr/>
          </a:p>
          <a:p>
            <a:pPr indent="-298450" lvl="0" marL="457200" rtl="0" algn="l">
              <a:lnSpc>
                <a:spcPct val="115000"/>
              </a:lnSpc>
              <a:spcBef>
                <a:spcPts val="0"/>
              </a:spcBef>
              <a:spcAft>
                <a:spcPts val="0"/>
              </a:spcAft>
              <a:buSzPts val="1100"/>
              <a:buChar char="-"/>
            </a:pPr>
            <a:r>
              <a:rPr lang="pt-BR"/>
              <a:t>como engajar o usuário no app e apresentar para ele a nova "marca"?</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g170b86de89c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 name="Google Shape;85;g170b86de89c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pt-BR" sz="900">
                <a:solidFill>
                  <a:schemeClr val="dk1"/>
                </a:solidFill>
              </a:rPr>
              <a:t>objetivos</a:t>
            </a:r>
            <a:endParaRPr sz="900">
              <a:solidFill>
                <a:schemeClr val="dk1"/>
              </a:solidFill>
            </a:endParaRPr>
          </a:p>
          <a:p>
            <a:pPr indent="-285750" lvl="0" marL="457200" rtl="0" algn="l">
              <a:lnSpc>
                <a:spcPct val="115000"/>
              </a:lnSpc>
              <a:spcBef>
                <a:spcPts val="0"/>
              </a:spcBef>
              <a:spcAft>
                <a:spcPts val="0"/>
              </a:spcAft>
              <a:buClr>
                <a:schemeClr val="dk1"/>
              </a:buClr>
              <a:buSzPts val="900"/>
              <a:buChar char="-"/>
            </a:pPr>
            <a:r>
              <a:rPr lang="pt-BR" sz="900">
                <a:solidFill>
                  <a:schemeClr val="dk1"/>
                </a:solidFill>
              </a:rPr>
              <a:t>fazer o update do app</a:t>
            </a:r>
            <a:endParaRPr sz="900">
              <a:solidFill>
                <a:schemeClr val="dk1"/>
              </a:solidFill>
            </a:endParaRPr>
          </a:p>
          <a:p>
            <a:pPr indent="-285750" lvl="0" marL="457200" rtl="0" algn="l">
              <a:lnSpc>
                <a:spcPct val="115000"/>
              </a:lnSpc>
              <a:spcBef>
                <a:spcPts val="0"/>
              </a:spcBef>
              <a:spcAft>
                <a:spcPts val="0"/>
              </a:spcAft>
              <a:buClr>
                <a:schemeClr val="dk1"/>
              </a:buClr>
              <a:buSzPts val="900"/>
              <a:buChar char="-"/>
            </a:pPr>
            <a:r>
              <a:rPr lang="pt-BR" sz="900">
                <a:solidFill>
                  <a:schemeClr val="dk1"/>
                </a:solidFill>
              </a:rPr>
              <a:t>trazer o visual para a nova marca</a:t>
            </a:r>
            <a:endParaRPr sz="900">
              <a:solidFill>
                <a:schemeClr val="dk1"/>
              </a:solidFill>
            </a:endParaRPr>
          </a:p>
          <a:p>
            <a:pPr indent="-285750" lvl="0" marL="457200" rtl="0" algn="l">
              <a:lnSpc>
                <a:spcPct val="115000"/>
              </a:lnSpc>
              <a:spcBef>
                <a:spcPts val="0"/>
              </a:spcBef>
              <a:spcAft>
                <a:spcPts val="0"/>
              </a:spcAft>
              <a:buClr>
                <a:schemeClr val="dk1"/>
              </a:buClr>
              <a:buSzPts val="900"/>
              <a:buChar char="-"/>
            </a:pPr>
            <a:r>
              <a:rPr lang="pt-BR" sz="900">
                <a:solidFill>
                  <a:schemeClr val="dk1"/>
                </a:solidFill>
              </a:rPr>
              <a:t>habilitar a escalabilidade do produto</a:t>
            </a:r>
            <a:endParaRPr sz="900">
              <a:solidFill>
                <a:schemeClr val="dk1"/>
              </a:solidFil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170b86de89c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g170b86de89c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pt-BR"/>
              <a:t>Problem</a:t>
            </a:r>
            <a:endParaRPr/>
          </a:p>
          <a:p>
            <a:pPr indent="0" lvl="0" marL="0" rtl="0" algn="l">
              <a:lnSpc>
                <a:spcPct val="115000"/>
              </a:lnSpc>
              <a:spcBef>
                <a:spcPts val="0"/>
              </a:spcBef>
              <a:spcAft>
                <a:spcPts val="0"/>
              </a:spcAft>
              <a:buNone/>
            </a:pPr>
            <a:r>
              <a:rPr lang="pt-BR"/>
              <a:t>Discovery</a:t>
            </a:r>
            <a:endParaRPr/>
          </a:p>
          <a:p>
            <a:pPr indent="0" lvl="0" marL="0" rtl="0" algn="l">
              <a:lnSpc>
                <a:spcPct val="115000"/>
              </a:lnSpc>
              <a:spcBef>
                <a:spcPts val="0"/>
              </a:spcBef>
              <a:spcAft>
                <a:spcPts val="0"/>
              </a:spcAft>
              <a:buNone/>
            </a:pPr>
            <a:r>
              <a:rPr lang="pt-BR"/>
              <a:t>- Discovery</a:t>
            </a:r>
            <a:endParaRPr/>
          </a:p>
          <a:p>
            <a:pPr indent="0" lvl="0" marL="0" rtl="0" algn="l">
              <a:lnSpc>
                <a:spcPct val="115000"/>
              </a:lnSpc>
              <a:spcBef>
                <a:spcPts val="0"/>
              </a:spcBef>
              <a:spcAft>
                <a:spcPts val="0"/>
              </a:spcAft>
              <a:buNone/>
            </a:pPr>
            <a:r>
              <a:rPr lang="pt-BR"/>
              <a:t>Creative sessions</a:t>
            </a:r>
            <a:endParaRPr/>
          </a:p>
          <a:p>
            <a:pPr indent="0" lvl="0" marL="0" rtl="0" algn="l">
              <a:lnSpc>
                <a:spcPct val="115000"/>
              </a:lnSpc>
              <a:spcBef>
                <a:spcPts val="0"/>
              </a:spcBef>
              <a:spcAft>
                <a:spcPts val="0"/>
              </a:spcAft>
              <a:buNone/>
            </a:pPr>
            <a:r>
              <a:rPr lang="pt-BR"/>
              <a:t>Design</a:t>
            </a:r>
            <a:endParaRPr/>
          </a:p>
          <a:p>
            <a:pPr indent="0" lvl="0" marL="0" rtl="0" algn="l">
              <a:lnSpc>
                <a:spcPct val="115000"/>
              </a:lnSpc>
              <a:spcBef>
                <a:spcPts val="0"/>
              </a:spcBef>
              <a:spcAft>
                <a:spcPts val="0"/>
              </a:spcAft>
              <a:buNone/>
            </a:pPr>
            <a:r>
              <a:rPr lang="pt-BR"/>
              <a:t>- Identify a new component need</a:t>
            </a:r>
            <a:endParaRPr/>
          </a:p>
          <a:p>
            <a:pPr indent="0" lvl="0" marL="0" rtl="0" algn="l">
              <a:lnSpc>
                <a:spcPct val="115000"/>
              </a:lnSpc>
              <a:spcBef>
                <a:spcPts val="0"/>
              </a:spcBef>
              <a:spcAft>
                <a:spcPts val="0"/>
              </a:spcAft>
              <a:buNone/>
            </a:pPr>
            <a:r>
              <a:rPr lang="pt-BR"/>
              <a:t>- Design exploration</a:t>
            </a:r>
            <a:endParaRPr/>
          </a:p>
          <a:p>
            <a:pPr indent="0" lvl="0" marL="0" rtl="0" algn="l">
              <a:lnSpc>
                <a:spcPct val="115000"/>
              </a:lnSpc>
              <a:spcBef>
                <a:spcPts val="0"/>
              </a:spcBef>
              <a:spcAft>
                <a:spcPts val="0"/>
              </a:spcAft>
              <a:buNone/>
            </a:pPr>
            <a:r>
              <a:rPr lang="pt-BR"/>
              <a:t>- Component craft</a:t>
            </a:r>
            <a:endParaRPr/>
          </a:p>
          <a:p>
            <a:pPr indent="0" lvl="0" marL="0" rtl="0" algn="l">
              <a:lnSpc>
                <a:spcPct val="115000"/>
              </a:lnSpc>
              <a:spcBef>
                <a:spcPts val="0"/>
              </a:spcBef>
              <a:spcAft>
                <a:spcPts val="0"/>
              </a:spcAft>
              <a:buNone/>
            </a:pPr>
            <a:r>
              <a:rPr lang="pt-BR"/>
              <a:t>- Release</a:t>
            </a:r>
            <a:endParaRPr/>
          </a:p>
          <a:p>
            <a:pPr indent="0" lvl="0" marL="0" rtl="0" algn="l">
              <a:lnSpc>
                <a:spcPct val="115000"/>
              </a:lnSpc>
              <a:spcBef>
                <a:spcPts val="0"/>
              </a:spcBef>
              <a:spcAft>
                <a:spcPts val="0"/>
              </a:spcAft>
              <a:buNone/>
            </a:pPr>
            <a:r>
              <a:rPr lang="pt-BR"/>
              <a:t>Prototype</a:t>
            </a:r>
            <a:endParaRPr/>
          </a:p>
          <a:p>
            <a:pPr indent="0" lvl="0" marL="0" rtl="0" algn="l">
              <a:lnSpc>
                <a:spcPct val="115000"/>
              </a:lnSpc>
              <a:spcBef>
                <a:spcPts val="0"/>
              </a:spcBef>
              <a:spcAft>
                <a:spcPts val="0"/>
              </a:spcAft>
              <a:buNone/>
            </a:pPr>
            <a:r>
              <a:rPr lang="pt-BR"/>
              <a:t>Hand-over to built</a:t>
            </a:r>
            <a:endParaRPr/>
          </a:p>
          <a:p>
            <a:pPr indent="0" lvl="0" marL="0" rtl="0" algn="l">
              <a:lnSpc>
                <a:spcPct val="115000"/>
              </a:lnSpc>
              <a:spcBef>
                <a:spcPts val="0"/>
              </a:spcBef>
              <a:spcAft>
                <a:spcPts val="0"/>
              </a:spcAft>
              <a:buNone/>
            </a:pPr>
            <a:r>
              <a:t/>
            </a:r>
            <a:endParaRPr/>
          </a:p>
          <a:p>
            <a:pPr indent="0" lvl="0" marL="0" rtl="0" algn="l">
              <a:lnSpc>
                <a:spcPct val="115000"/>
              </a:lnSpc>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170b86de89c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170b86de89c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Benchmark</a:t>
            </a:r>
            <a:endParaRPr/>
          </a:p>
          <a:p>
            <a:pPr indent="0" lvl="0" marL="0" rtl="0" algn="l">
              <a:spcBef>
                <a:spcPts val="0"/>
              </a:spcBef>
              <a:spcAft>
                <a:spcPts val="0"/>
              </a:spcAft>
              <a:buNone/>
            </a:pPr>
            <a:r>
              <a:rPr lang="pt-BR"/>
              <a:t>Foundations</a:t>
            </a:r>
            <a:endParaRPr/>
          </a:p>
          <a:p>
            <a:pPr indent="0" lvl="0" marL="0" rtl="0" algn="l">
              <a:spcBef>
                <a:spcPts val="0"/>
              </a:spcBef>
              <a:spcAft>
                <a:spcPts val="0"/>
              </a:spcAft>
              <a:buNone/>
            </a:pPr>
            <a:r>
              <a:rPr lang="pt-BR"/>
              <a:t>- princípios</a:t>
            </a:r>
            <a:endParaRPr/>
          </a:p>
          <a:p>
            <a:pPr indent="0" lvl="0" marL="0" rtl="0" algn="l">
              <a:spcBef>
                <a:spcPts val="0"/>
              </a:spcBef>
              <a:spcAft>
                <a:spcPts val="0"/>
              </a:spcAft>
              <a:buNone/>
            </a:pPr>
            <a:r>
              <a:rPr lang="pt-BR"/>
              <a:t>- tech and design needs</a:t>
            </a:r>
            <a:endParaRPr/>
          </a:p>
          <a:p>
            <a:pPr indent="0" lvl="0" marL="0" rtl="0" algn="l">
              <a:spcBef>
                <a:spcPts val="0"/>
              </a:spcBef>
              <a:spcAft>
                <a:spcPts val="0"/>
              </a:spcAft>
              <a:buNone/>
            </a:pPr>
            <a:r>
              <a:rPr lang="pt-BR"/>
              <a:t>- definições de tokens: cores, tipografia, espaçamentos</a:t>
            </a:r>
            <a:endParaRPr/>
          </a:p>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170b86de89c_0_2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 name="Google Shape;159;g170b86de89c_0_2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Benchmark</a:t>
            </a:r>
            <a:endParaRPr/>
          </a:p>
          <a:p>
            <a:pPr indent="0" lvl="0" marL="0" rtl="0" algn="l">
              <a:spcBef>
                <a:spcPts val="0"/>
              </a:spcBef>
              <a:spcAft>
                <a:spcPts val="0"/>
              </a:spcAft>
              <a:buNone/>
            </a:pPr>
            <a:r>
              <a:rPr lang="pt-BR"/>
              <a:t>Foundations</a:t>
            </a:r>
            <a:endParaRPr/>
          </a:p>
          <a:p>
            <a:pPr indent="0" lvl="0" marL="0" rtl="0" algn="l">
              <a:spcBef>
                <a:spcPts val="0"/>
              </a:spcBef>
              <a:spcAft>
                <a:spcPts val="0"/>
              </a:spcAft>
              <a:buNone/>
            </a:pPr>
            <a:r>
              <a:rPr lang="pt-BR"/>
              <a:t>- princípios</a:t>
            </a:r>
            <a:endParaRPr/>
          </a:p>
          <a:p>
            <a:pPr indent="0" lvl="0" marL="0" rtl="0" algn="l">
              <a:spcBef>
                <a:spcPts val="0"/>
              </a:spcBef>
              <a:spcAft>
                <a:spcPts val="0"/>
              </a:spcAft>
              <a:buNone/>
            </a:pPr>
            <a:r>
              <a:rPr lang="pt-BR"/>
              <a:t>- tech and design needs</a:t>
            </a:r>
            <a:endParaRPr/>
          </a:p>
          <a:p>
            <a:pPr indent="0" lvl="0" marL="0" rtl="0" algn="l">
              <a:spcBef>
                <a:spcPts val="0"/>
              </a:spcBef>
              <a:spcAft>
                <a:spcPts val="0"/>
              </a:spcAft>
              <a:buNone/>
            </a:pPr>
            <a:r>
              <a:rPr lang="pt-BR"/>
              <a:t>- definições de tokens: cores, tipografia, espaçamentos</a:t>
            </a:r>
            <a:endParaRPr/>
          </a:p>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170b86de89c_0_2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6" name="Google Shape;166;g170b86de89c_0_2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170b86de89c_0_3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2" name="Google Shape;172;g170b86de89c_0_3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170b86de89c_0_3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9" name="Google Shape;189;g170b86de89c_0_3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170b86de89c_0_2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8" name="Google Shape;198;g170b86de89c_0_2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170b86de89c_0_2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1" name="Google Shape;211;g170b86de89c_0_2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170b86de89c_0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0" name="Google Shape;220;g170b86de89c_0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pt-BR" sz="900">
                <a:solidFill>
                  <a:schemeClr val="dk1"/>
                </a:solidFill>
              </a:rPr>
              <a:t>Trazer resultado final em termos de entrega</a:t>
            </a:r>
            <a:endParaRPr sz="900">
              <a:solidFill>
                <a:schemeClr val="dk1"/>
              </a:solidFill>
            </a:endParaRPr>
          </a:p>
          <a:p>
            <a:pPr indent="-285750" lvl="0" marL="457200" rtl="0" algn="l">
              <a:lnSpc>
                <a:spcPct val="115000"/>
              </a:lnSpc>
              <a:spcBef>
                <a:spcPts val="0"/>
              </a:spcBef>
              <a:spcAft>
                <a:spcPts val="0"/>
              </a:spcAft>
              <a:buClr>
                <a:schemeClr val="dk1"/>
              </a:buClr>
              <a:buSzPts val="900"/>
              <a:buChar char="-"/>
            </a:pPr>
            <a:r>
              <a:rPr lang="pt-BR" sz="900">
                <a:solidFill>
                  <a:schemeClr val="dk1"/>
                </a:solidFill>
              </a:rPr>
              <a:t>48 componentes criados</a:t>
            </a:r>
            <a:endParaRPr sz="900">
              <a:solidFill>
                <a:schemeClr val="dk1"/>
              </a:solidFill>
            </a:endParaRPr>
          </a:p>
          <a:p>
            <a:pPr indent="-285750" lvl="0" marL="457200" rtl="0" algn="l">
              <a:lnSpc>
                <a:spcPct val="115000"/>
              </a:lnSpc>
              <a:spcBef>
                <a:spcPts val="0"/>
              </a:spcBef>
              <a:spcAft>
                <a:spcPts val="0"/>
              </a:spcAft>
              <a:buClr>
                <a:schemeClr val="dk1"/>
              </a:buClr>
              <a:buSzPts val="900"/>
              <a:buChar char="-"/>
            </a:pPr>
            <a:r>
              <a:rPr lang="pt-BR" sz="900">
                <a:solidFill>
                  <a:schemeClr val="dk1"/>
                </a:solidFill>
              </a:rPr>
              <a:t>4 aplicações utilizando</a:t>
            </a:r>
            <a:endParaRPr sz="900">
              <a:solidFill>
                <a:schemeClr val="dk1"/>
              </a:solidFill>
            </a:endParaRPr>
          </a:p>
          <a:p>
            <a:pPr indent="0" lvl="0" marL="0" rtl="0" algn="l">
              <a:spcBef>
                <a:spcPts val="0"/>
              </a:spcBef>
              <a:spcAft>
                <a:spcPts val="0"/>
              </a:spcAft>
              <a:buNone/>
            </a:pPr>
            <a:r>
              <a:rPr lang="pt-BR"/>
              <a:t>trazer 2 métricas aqui:</a:t>
            </a:r>
            <a:endParaRPr/>
          </a:p>
          <a:p>
            <a:pPr indent="-298450" lvl="0" marL="457200" rtl="0" algn="l">
              <a:spcBef>
                <a:spcPts val="0"/>
              </a:spcBef>
              <a:spcAft>
                <a:spcPts val="0"/>
              </a:spcAft>
              <a:buSzPts val="1100"/>
              <a:buChar char="-"/>
            </a:pPr>
            <a:r>
              <a:rPr lang="pt-BR"/>
              <a:t>coverage</a:t>
            </a:r>
            <a:endParaRPr/>
          </a:p>
          <a:p>
            <a:pPr indent="-298450" lvl="0" marL="457200" rtl="0" algn="l">
              <a:spcBef>
                <a:spcPts val="0"/>
              </a:spcBef>
              <a:spcAft>
                <a:spcPts val="0"/>
              </a:spcAft>
              <a:buSzPts val="1100"/>
              <a:buChar char="-"/>
            </a:pPr>
            <a:r>
              <a:rPr lang="pt-BR"/>
              <a:t>appstore</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g170b86de89c_0_3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1" name="Google Shape;231;g170b86de89c_0_3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pt-BR" sz="900">
                <a:solidFill>
                  <a:schemeClr val="dk1"/>
                </a:solidFill>
              </a:rPr>
              <a:t>Trazer resultado final em termos de entrega</a:t>
            </a:r>
            <a:endParaRPr sz="900">
              <a:solidFill>
                <a:schemeClr val="dk1"/>
              </a:solidFill>
            </a:endParaRPr>
          </a:p>
          <a:p>
            <a:pPr indent="-285750" lvl="0" marL="457200" rtl="0" algn="l">
              <a:lnSpc>
                <a:spcPct val="115000"/>
              </a:lnSpc>
              <a:spcBef>
                <a:spcPts val="0"/>
              </a:spcBef>
              <a:spcAft>
                <a:spcPts val="0"/>
              </a:spcAft>
              <a:buClr>
                <a:schemeClr val="dk1"/>
              </a:buClr>
              <a:buSzPts val="900"/>
              <a:buChar char="-"/>
            </a:pPr>
            <a:r>
              <a:rPr lang="pt-BR" sz="900">
                <a:solidFill>
                  <a:schemeClr val="dk1"/>
                </a:solidFill>
              </a:rPr>
              <a:t>48 componentes criados</a:t>
            </a:r>
            <a:endParaRPr sz="900">
              <a:solidFill>
                <a:schemeClr val="dk1"/>
              </a:solidFill>
            </a:endParaRPr>
          </a:p>
          <a:p>
            <a:pPr indent="-285750" lvl="0" marL="457200" rtl="0" algn="l">
              <a:lnSpc>
                <a:spcPct val="115000"/>
              </a:lnSpc>
              <a:spcBef>
                <a:spcPts val="0"/>
              </a:spcBef>
              <a:spcAft>
                <a:spcPts val="0"/>
              </a:spcAft>
              <a:buClr>
                <a:schemeClr val="dk1"/>
              </a:buClr>
              <a:buSzPts val="900"/>
              <a:buChar char="-"/>
            </a:pPr>
            <a:r>
              <a:rPr lang="pt-BR" sz="900">
                <a:solidFill>
                  <a:schemeClr val="dk1"/>
                </a:solidFill>
              </a:rPr>
              <a:t>4 aplicações utilizando</a:t>
            </a:r>
            <a:endParaRPr sz="900">
              <a:solidFill>
                <a:schemeClr val="dk1"/>
              </a:solidFill>
            </a:endParaRPr>
          </a:p>
          <a:p>
            <a:pPr indent="0" lvl="0" marL="0" rtl="0" algn="l">
              <a:spcBef>
                <a:spcPts val="0"/>
              </a:spcBef>
              <a:spcAft>
                <a:spcPts val="0"/>
              </a:spcAft>
              <a:buNone/>
            </a:pPr>
            <a:r>
              <a:rPr lang="pt-BR"/>
              <a:t>trazer 2 métricas aqui:</a:t>
            </a:r>
            <a:endParaRPr/>
          </a:p>
          <a:p>
            <a:pPr indent="-298450" lvl="0" marL="457200" rtl="0" algn="l">
              <a:spcBef>
                <a:spcPts val="0"/>
              </a:spcBef>
              <a:spcAft>
                <a:spcPts val="0"/>
              </a:spcAft>
              <a:buSzPts val="1100"/>
              <a:buChar char="-"/>
            </a:pPr>
            <a:r>
              <a:rPr lang="pt-BR"/>
              <a:t>coverage</a:t>
            </a:r>
            <a:endParaRPr/>
          </a:p>
          <a:p>
            <a:pPr indent="-298450" lvl="0" marL="457200" rtl="0" algn="l">
              <a:spcBef>
                <a:spcPts val="0"/>
              </a:spcBef>
              <a:spcAft>
                <a:spcPts val="0"/>
              </a:spcAft>
              <a:buSzPts val="1100"/>
              <a:buChar char="-"/>
            </a:pPr>
            <a:r>
              <a:rPr lang="pt-BR"/>
              <a:t>appstore</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g170b86de89c_0_3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0" name="Google Shape;240;g170b86de89c_0_3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pt-BR" sz="900">
                <a:solidFill>
                  <a:schemeClr val="dk1"/>
                </a:solidFill>
              </a:rPr>
              <a:t>Trazer resultado final em termos de entrega</a:t>
            </a:r>
            <a:endParaRPr sz="900">
              <a:solidFill>
                <a:schemeClr val="dk1"/>
              </a:solidFill>
            </a:endParaRPr>
          </a:p>
          <a:p>
            <a:pPr indent="-285750" lvl="0" marL="457200" rtl="0" algn="l">
              <a:lnSpc>
                <a:spcPct val="115000"/>
              </a:lnSpc>
              <a:spcBef>
                <a:spcPts val="0"/>
              </a:spcBef>
              <a:spcAft>
                <a:spcPts val="0"/>
              </a:spcAft>
              <a:buClr>
                <a:schemeClr val="dk1"/>
              </a:buClr>
              <a:buSzPts val="900"/>
              <a:buChar char="-"/>
            </a:pPr>
            <a:r>
              <a:rPr lang="pt-BR" sz="900">
                <a:solidFill>
                  <a:schemeClr val="dk1"/>
                </a:solidFill>
              </a:rPr>
              <a:t>48 componentes criados</a:t>
            </a:r>
            <a:endParaRPr sz="900">
              <a:solidFill>
                <a:schemeClr val="dk1"/>
              </a:solidFill>
            </a:endParaRPr>
          </a:p>
          <a:p>
            <a:pPr indent="-285750" lvl="0" marL="457200" rtl="0" algn="l">
              <a:lnSpc>
                <a:spcPct val="115000"/>
              </a:lnSpc>
              <a:spcBef>
                <a:spcPts val="0"/>
              </a:spcBef>
              <a:spcAft>
                <a:spcPts val="0"/>
              </a:spcAft>
              <a:buClr>
                <a:schemeClr val="dk1"/>
              </a:buClr>
              <a:buSzPts val="900"/>
              <a:buChar char="-"/>
            </a:pPr>
            <a:r>
              <a:rPr lang="pt-BR" sz="900">
                <a:solidFill>
                  <a:schemeClr val="dk1"/>
                </a:solidFill>
              </a:rPr>
              <a:t>4 aplicações utilizando</a:t>
            </a:r>
            <a:endParaRPr sz="900">
              <a:solidFill>
                <a:schemeClr val="dk1"/>
              </a:solidFill>
            </a:endParaRPr>
          </a:p>
          <a:p>
            <a:pPr indent="0" lvl="0" marL="0" rtl="0" algn="l">
              <a:spcBef>
                <a:spcPts val="0"/>
              </a:spcBef>
              <a:spcAft>
                <a:spcPts val="0"/>
              </a:spcAft>
              <a:buNone/>
            </a:pPr>
            <a:r>
              <a:rPr lang="pt-BR"/>
              <a:t>trazer 2 métricas aqui:</a:t>
            </a:r>
            <a:endParaRPr/>
          </a:p>
          <a:p>
            <a:pPr indent="-298450" lvl="0" marL="457200" rtl="0" algn="l">
              <a:spcBef>
                <a:spcPts val="0"/>
              </a:spcBef>
              <a:spcAft>
                <a:spcPts val="0"/>
              </a:spcAft>
              <a:buSzPts val="1100"/>
              <a:buChar char="-"/>
            </a:pPr>
            <a:r>
              <a:rPr lang="pt-BR"/>
              <a:t>coverage</a:t>
            </a:r>
            <a:endParaRPr/>
          </a:p>
          <a:p>
            <a:pPr indent="-298450" lvl="0" marL="457200" rtl="0" algn="l">
              <a:spcBef>
                <a:spcPts val="0"/>
              </a:spcBef>
              <a:spcAft>
                <a:spcPts val="0"/>
              </a:spcAft>
              <a:buSzPts val="1100"/>
              <a:buChar char="-"/>
            </a:pPr>
            <a:r>
              <a:rPr lang="pt-BR"/>
              <a:t>appstore</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g170b86de89c_0_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9" name="Google Shape;249;g170b86de89c_0_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g170b86de89c_0_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0" name="Google Shape;260;g170b86de89c_0_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pt-BR"/>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8.png"/><Relationship Id="rId4" Type="http://schemas.openxmlformats.org/officeDocument/2006/relationships/image" Target="../media/image1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3.jpg"/><Relationship Id="rId4" Type="http://schemas.openxmlformats.org/officeDocument/2006/relationships/image" Target="../media/image7.jpg"/><Relationship Id="rId5" Type="http://schemas.openxmlformats.org/officeDocument/2006/relationships/image" Target="../media/image10.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9.png"/><Relationship Id="rId4" Type="http://schemas.openxmlformats.org/officeDocument/2006/relationships/image" Target="../media/image12.png"/><Relationship Id="rId10" Type="http://schemas.openxmlformats.org/officeDocument/2006/relationships/image" Target="../media/image13.png"/><Relationship Id="rId9" Type="http://schemas.openxmlformats.org/officeDocument/2006/relationships/image" Target="../media/image16.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image" Target="../media/image1.png"/><Relationship Id="rId8" Type="http://schemas.openxmlformats.org/officeDocument/2006/relationships/image" Target="../media/image1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png"/><Relationship Id="rId4" Type="http://schemas.openxmlformats.org/officeDocument/2006/relationships/image" Target="../media/image20.png"/><Relationship Id="rId10" Type="http://schemas.openxmlformats.org/officeDocument/2006/relationships/image" Target="../media/image28.png"/><Relationship Id="rId9" Type="http://schemas.openxmlformats.org/officeDocument/2006/relationships/image" Target="../media/image26.png"/><Relationship Id="rId5" Type="http://schemas.openxmlformats.org/officeDocument/2006/relationships/image" Target="../media/image4.png"/><Relationship Id="rId6" Type="http://schemas.openxmlformats.org/officeDocument/2006/relationships/image" Target="../media/image9.png"/><Relationship Id="rId7" Type="http://schemas.openxmlformats.org/officeDocument/2006/relationships/image" Target="../media/image11.png"/><Relationship Id="rId8" Type="http://schemas.openxmlformats.org/officeDocument/2006/relationships/image" Target="../media/image2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3.jpg"/><Relationship Id="rId4" Type="http://schemas.openxmlformats.org/officeDocument/2006/relationships/image" Target="../media/image15.png"/><Relationship Id="rId5" Type="http://schemas.openxmlformats.org/officeDocument/2006/relationships/image" Target="../media/image18.png"/><Relationship Id="rId6" Type="http://schemas.openxmlformats.org/officeDocument/2006/relationships/image" Target="../media/image2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1.png"/><Relationship Id="rId4" Type="http://schemas.openxmlformats.org/officeDocument/2006/relationships/image" Target="../media/image2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32.jpg"/><Relationship Id="rId4" Type="http://schemas.openxmlformats.org/officeDocument/2006/relationships/image" Target="../media/image18.png"/><Relationship Id="rId5" Type="http://schemas.openxmlformats.org/officeDocument/2006/relationships/image" Target="../media/image3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31.png"/><Relationship Id="rId4" Type="http://schemas.openxmlformats.org/officeDocument/2006/relationships/image" Target="../media/image2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3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3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hyperlink" Target="https://nimbus.nuvemshop.com.br/" TargetMode="External"/><Relationship Id="rId4" Type="http://schemas.openxmlformats.org/officeDocument/2006/relationships/hyperlink" Target="https://nimbus.nuvemshop.com.br/"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C3357"/>
        </a:solidFill>
      </p:bgPr>
    </p:bg>
    <p:spTree>
      <p:nvGrpSpPr>
        <p:cNvPr id="53" name="Shape 53"/>
        <p:cNvGrpSpPr/>
        <p:nvPr/>
      </p:nvGrpSpPr>
      <p:grpSpPr>
        <a:xfrm>
          <a:off x="0" y="0"/>
          <a:ext cx="0" cy="0"/>
          <a:chOff x="0" y="0"/>
          <a:chExt cx="0" cy="0"/>
        </a:xfrm>
      </p:grpSpPr>
      <p:sp>
        <p:nvSpPr>
          <p:cNvPr id="54" name="Google Shape;54;p13"/>
          <p:cNvSpPr txBox="1"/>
          <p:nvPr/>
        </p:nvSpPr>
        <p:spPr>
          <a:xfrm>
            <a:off x="623973" y="2908819"/>
            <a:ext cx="3723900" cy="861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pt-BR" sz="2200">
                <a:solidFill>
                  <a:srgbClr val="D2E7F9"/>
                </a:solidFill>
                <a:latin typeface="Roboto"/>
                <a:ea typeface="Roboto"/>
                <a:cs typeface="Roboto"/>
                <a:sym typeface="Roboto"/>
              </a:rPr>
              <a:t>Nimbus </a:t>
            </a:r>
            <a:br>
              <a:rPr b="1" lang="pt-BR" sz="2200">
                <a:solidFill>
                  <a:srgbClr val="D2E7F9"/>
                </a:solidFill>
                <a:latin typeface="Roboto"/>
                <a:ea typeface="Roboto"/>
                <a:cs typeface="Roboto"/>
                <a:sym typeface="Roboto"/>
              </a:rPr>
            </a:br>
            <a:r>
              <a:rPr b="1" lang="pt-BR" sz="2200">
                <a:solidFill>
                  <a:srgbClr val="D2E7F9"/>
                </a:solidFill>
                <a:latin typeface="Roboto"/>
                <a:ea typeface="Roboto"/>
                <a:cs typeface="Roboto"/>
                <a:sym typeface="Roboto"/>
              </a:rPr>
              <a:t>Design System</a:t>
            </a:r>
            <a:endParaRPr b="1" sz="2200">
              <a:solidFill>
                <a:srgbClr val="D2E7F9"/>
              </a:solidFill>
              <a:latin typeface="Roboto"/>
              <a:ea typeface="Roboto"/>
              <a:cs typeface="Roboto"/>
              <a:sym typeface="Roboto"/>
            </a:endParaRPr>
          </a:p>
        </p:txBody>
      </p:sp>
      <p:sp>
        <p:nvSpPr>
          <p:cNvPr id="55" name="Google Shape;55;p13"/>
          <p:cNvSpPr txBox="1"/>
          <p:nvPr/>
        </p:nvSpPr>
        <p:spPr>
          <a:xfrm>
            <a:off x="623973" y="4149582"/>
            <a:ext cx="37239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1500">
                <a:solidFill>
                  <a:srgbClr val="D2E7F9"/>
                </a:solidFill>
                <a:latin typeface="Roboto"/>
                <a:ea typeface="Roboto"/>
                <a:cs typeface="Roboto"/>
                <a:sym typeface="Roboto"/>
              </a:rPr>
              <a:t>2021-22</a:t>
            </a:r>
            <a:endParaRPr sz="1500">
              <a:solidFill>
                <a:srgbClr val="D2E7F9"/>
              </a:solidFill>
              <a:latin typeface="Roboto"/>
              <a:ea typeface="Roboto"/>
              <a:cs typeface="Roboto"/>
              <a:sym typeface="Roboto"/>
            </a:endParaRPr>
          </a:p>
        </p:txBody>
      </p:sp>
      <p:pic>
        <p:nvPicPr>
          <p:cNvPr id="56" name="Google Shape;56;p13"/>
          <p:cNvPicPr preferRelativeResize="0"/>
          <p:nvPr/>
        </p:nvPicPr>
        <p:blipFill>
          <a:blip r:embed="rId3">
            <a:alphaModFix/>
          </a:blip>
          <a:stretch>
            <a:fillRect/>
          </a:stretch>
        </p:blipFill>
        <p:spPr>
          <a:xfrm>
            <a:off x="707900" y="1504075"/>
            <a:ext cx="2302751" cy="551050"/>
          </a:xfrm>
          <a:prstGeom prst="rect">
            <a:avLst/>
          </a:prstGeom>
          <a:noFill/>
          <a:ln>
            <a:noFill/>
          </a:ln>
        </p:spPr>
      </p:pic>
      <p:pic>
        <p:nvPicPr>
          <p:cNvPr id="57" name="Google Shape;57;p13"/>
          <p:cNvPicPr preferRelativeResize="0"/>
          <p:nvPr/>
        </p:nvPicPr>
        <p:blipFill>
          <a:blip r:embed="rId4">
            <a:alphaModFix/>
          </a:blip>
          <a:stretch>
            <a:fillRect/>
          </a:stretch>
        </p:blipFill>
        <p:spPr>
          <a:xfrm>
            <a:off x="4074248" y="654100"/>
            <a:ext cx="4491328" cy="3835291"/>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p14"/>
          <p:cNvSpPr txBox="1"/>
          <p:nvPr/>
        </p:nvSpPr>
        <p:spPr>
          <a:xfrm>
            <a:off x="600602" y="447475"/>
            <a:ext cx="3723900" cy="400200"/>
          </a:xfrm>
          <a:prstGeom prst="rect">
            <a:avLst/>
          </a:prstGeom>
          <a:noFill/>
          <a:ln>
            <a:noFill/>
          </a:ln>
        </p:spPr>
        <p:txBody>
          <a:bodyPr anchorCtr="0" anchor="t" bIns="91425" lIns="91425" spcFirstLastPara="1" rIns="91425" wrap="square" tIns="91425">
            <a:spAutoFit/>
          </a:bodyPr>
          <a:lstStyle/>
          <a:p>
            <a:pPr indent="-184150" lvl="0" marL="269999" rtl="0" algn="l">
              <a:spcBef>
                <a:spcPts val="0"/>
              </a:spcBef>
              <a:spcAft>
                <a:spcPts val="0"/>
              </a:spcAft>
              <a:buClr>
                <a:srgbClr val="4B5FA0"/>
              </a:buClr>
              <a:buSzPts val="1400"/>
              <a:buFont typeface="Roboto"/>
              <a:buAutoNum type="arabicPeriod"/>
            </a:pPr>
            <a:r>
              <a:rPr b="1" lang="pt-BR">
                <a:solidFill>
                  <a:srgbClr val="4B5FA0"/>
                </a:solidFill>
                <a:latin typeface="Roboto"/>
                <a:ea typeface="Roboto"/>
                <a:cs typeface="Roboto"/>
                <a:sym typeface="Roboto"/>
              </a:rPr>
              <a:t>Context</a:t>
            </a:r>
            <a:endParaRPr b="1">
              <a:solidFill>
                <a:srgbClr val="4B5FA0"/>
              </a:solidFill>
              <a:latin typeface="Roboto"/>
              <a:ea typeface="Roboto"/>
              <a:cs typeface="Roboto"/>
              <a:sym typeface="Roboto"/>
            </a:endParaRPr>
          </a:p>
        </p:txBody>
      </p:sp>
      <p:sp>
        <p:nvSpPr>
          <p:cNvPr id="63" name="Google Shape;63;p14"/>
          <p:cNvSpPr/>
          <p:nvPr/>
        </p:nvSpPr>
        <p:spPr>
          <a:xfrm>
            <a:off x="3870000" y="729975"/>
            <a:ext cx="4429200" cy="3693600"/>
          </a:xfrm>
          <a:prstGeom prst="rect">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14"/>
          <p:cNvSpPr txBox="1"/>
          <p:nvPr/>
        </p:nvSpPr>
        <p:spPr>
          <a:xfrm>
            <a:off x="4191325" y="1076771"/>
            <a:ext cx="3555300" cy="3160500"/>
          </a:xfrm>
          <a:prstGeom prst="rect">
            <a:avLst/>
          </a:prstGeom>
          <a:noFill/>
          <a:ln>
            <a:noFill/>
          </a:ln>
        </p:spPr>
        <p:txBody>
          <a:bodyPr anchorCtr="0" anchor="t" bIns="91425" lIns="91425" spcFirstLastPara="1" rIns="91425" wrap="square" tIns="91425">
            <a:spAutoFit/>
          </a:bodyPr>
          <a:lstStyle/>
          <a:p>
            <a:pPr indent="0" lvl="0" marL="90000" rtl="0" algn="l">
              <a:spcBef>
                <a:spcPts val="0"/>
              </a:spcBef>
              <a:spcAft>
                <a:spcPts val="0"/>
              </a:spcAft>
              <a:buNone/>
            </a:pPr>
            <a:r>
              <a:rPr b="1" lang="pt-BR" sz="1600">
                <a:solidFill>
                  <a:schemeClr val="dk2"/>
                </a:solidFill>
                <a:latin typeface="Roboto"/>
                <a:ea typeface="Roboto"/>
                <a:cs typeface="Roboto"/>
                <a:sym typeface="Roboto"/>
              </a:rPr>
              <a:t>Highlights</a:t>
            </a:r>
            <a:endParaRPr b="1" sz="1600">
              <a:solidFill>
                <a:schemeClr val="dk2"/>
              </a:solidFill>
              <a:latin typeface="Roboto"/>
              <a:ea typeface="Roboto"/>
              <a:cs typeface="Roboto"/>
              <a:sym typeface="Roboto"/>
            </a:endParaRPr>
          </a:p>
          <a:p>
            <a:pPr indent="-330200" lvl="0" marL="457200" rtl="0" algn="l">
              <a:spcBef>
                <a:spcPts val="1000"/>
              </a:spcBef>
              <a:spcAft>
                <a:spcPts val="0"/>
              </a:spcAft>
              <a:buClr>
                <a:schemeClr val="dk2"/>
              </a:buClr>
              <a:buSzPts val="1600"/>
              <a:buFont typeface="Roboto"/>
              <a:buChar char="●"/>
            </a:pPr>
            <a:r>
              <a:rPr lang="pt-BR" sz="1600">
                <a:solidFill>
                  <a:schemeClr val="dk2"/>
                </a:solidFill>
                <a:latin typeface="Roboto"/>
                <a:ea typeface="Roboto"/>
                <a:cs typeface="Roboto"/>
                <a:sym typeface="Roboto"/>
              </a:rPr>
              <a:t>Desktop and mobile applications using this design system</a:t>
            </a:r>
            <a:endParaRPr sz="1600">
              <a:solidFill>
                <a:schemeClr val="dk2"/>
              </a:solidFill>
              <a:latin typeface="Roboto"/>
              <a:ea typeface="Roboto"/>
              <a:cs typeface="Roboto"/>
              <a:sym typeface="Roboto"/>
            </a:endParaRPr>
          </a:p>
          <a:p>
            <a:pPr indent="-330200" lvl="0" marL="457200" rtl="0" algn="l">
              <a:spcBef>
                <a:spcPts val="1000"/>
              </a:spcBef>
              <a:spcAft>
                <a:spcPts val="0"/>
              </a:spcAft>
              <a:buClr>
                <a:schemeClr val="dk2"/>
              </a:buClr>
              <a:buSzPts val="1600"/>
              <a:buFont typeface="Roboto"/>
              <a:buChar char="●"/>
            </a:pPr>
            <a:r>
              <a:rPr lang="pt-BR" sz="1600">
                <a:solidFill>
                  <a:schemeClr val="dk2"/>
                </a:solidFill>
                <a:latin typeface="Roboto"/>
                <a:ea typeface="Roboto"/>
                <a:cs typeface="Roboto"/>
                <a:sym typeface="Roboto"/>
              </a:rPr>
              <a:t>Focused on internal teams and partners</a:t>
            </a:r>
            <a:endParaRPr sz="1600">
              <a:solidFill>
                <a:schemeClr val="dk2"/>
              </a:solidFill>
              <a:latin typeface="Roboto"/>
              <a:ea typeface="Roboto"/>
              <a:cs typeface="Roboto"/>
              <a:sym typeface="Roboto"/>
            </a:endParaRPr>
          </a:p>
          <a:p>
            <a:pPr indent="-330200" lvl="0" marL="457200" rtl="0" algn="l">
              <a:spcBef>
                <a:spcPts val="1000"/>
              </a:spcBef>
              <a:spcAft>
                <a:spcPts val="0"/>
              </a:spcAft>
              <a:buClr>
                <a:schemeClr val="dk2"/>
              </a:buClr>
              <a:buSzPts val="1600"/>
              <a:buFont typeface="Roboto"/>
              <a:buChar char="●"/>
            </a:pPr>
            <a:r>
              <a:rPr lang="pt-BR" sz="1600">
                <a:solidFill>
                  <a:schemeClr val="dk2"/>
                </a:solidFill>
                <a:latin typeface="Roboto"/>
                <a:ea typeface="Roboto"/>
                <a:cs typeface="Roboto"/>
                <a:sym typeface="Roboto"/>
              </a:rPr>
              <a:t>Support</a:t>
            </a:r>
            <a:r>
              <a:rPr lang="pt-BR" sz="1600">
                <a:solidFill>
                  <a:schemeClr val="dk2"/>
                </a:solidFill>
                <a:latin typeface="Roboto"/>
                <a:ea typeface="Roboto"/>
                <a:cs typeface="Roboto"/>
                <a:sym typeface="Roboto"/>
              </a:rPr>
              <a:t> the new branding strategy</a:t>
            </a:r>
            <a:endParaRPr sz="1600">
              <a:solidFill>
                <a:schemeClr val="dk2"/>
              </a:solidFill>
              <a:latin typeface="Roboto"/>
              <a:ea typeface="Roboto"/>
              <a:cs typeface="Roboto"/>
              <a:sym typeface="Roboto"/>
            </a:endParaRPr>
          </a:p>
          <a:p>
            <a:pPr indent="-330200" lvl="0" marL="457200" rtl="0" algn="l">
              <a:spcBef>
                <a:spcPts val="1000"/>
              </a:spcBef>
              <a:spcAft>
                <a:spcPts val="1000"/>
              </a:spcAft>
              <a:buClr>
                <a:schemeClr val="dk2"/>
              </a:buClr>
              <a:buSzPts val="1600"/>
              <a:buFont typeface="Roboto"/>
              <a:buChar char="●"/>
            </a:pPr>
            <a:r>
              <a:rPr lang="pt-BR" sz="1600">
                <a:solidFill>
                  <a:schemeClr val="dk2"/>
                </a:solidFill>
                <a:latin typeface="Roboto"/>
                <a:ea typeface="Roboto"/>
                <a:cs typeface="Roboto"/>
                <a:sym typeface="Roboto"/>
              </a:rPr>
              <a:t>Design team: 4 people, 1 of them focused in this initiative</a:t>
            </a:r>
            <a:endParaRPr sz="1600">
              <a:solidFill>
                <a:schemeClr val="dk2"/>
              </a:solidFill>
              <a:latin typeface="Roboto"/>
              <a:ea typeface="Roboto"/>
              <a:cs typeface="Roboto"/>
              <a:sym typeface="Roboto"/>
            </a:endParaRPr>
          </a:p>
        </p:txBody>
      </p:sp>
      <p:sp>
        <p:nvSpPr>
          <p:cNvPr id="65" name="Google Shape;65;p14"/>
          <p:cNvSpPr txBox="1"/>
          <p:nvPr/>
        </p:nvSpPr>
        <p:spPr>
          <a:xfrm>
            <a:off x="628750" y="988350"/>
            <a:ext cx="2364600" cy="3360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pt-BR" sz="1100">
                <a:solidFill>
                  <a:srgbClr val="595959"/>
                </a:solidFill>
                <a:latin typeface="Roboto"/>
                <a:ea typeface="Roboto"/>
                <a:cs typeface="Roboto"/>
                <a:sym typeface="Roboto"/>
              </a:rPr>
              <a:t>Today I am responsible for the product design system at Nuvemshop. This product called Nimbus is intended primarily for internal teams and also for external partners who want to integrate into our ecosystem. Several Nuvemshop applications are using or are planning to use this design system as a way to enhance delivery.</a:t>
            </a:r>
            <a:endParaRPr sz="1100">
              <a:solidFill>
                <a:srgbClr val="595959"/>
              </a:solidFill>
              <a:latin typeface="Roboto"/>
              <a:ea typeface="Roboto"/>
              <a:cs typeface="Roboto"/>
              <a:sym typeface="Roboto"/>
            </a:endParaRPr>
          </a:p>
          <a:p>
            <a:pPr indent="0" lvl="0" marL="0" rtl="0" algn="l">
              <a:spcBef>
                <a:spcPts val="1000"/>
              </a:spcBef>
              <a:spcAft>
                <a:spcPts val="1000"/>
              </a:spcAft>
              <a:buNone/>
            </a:pPr>
            <a:r>
              <a:rPr lang="pt-BR" sz="1100">
                <a:solidFill>
                  <a:srgbClr val="595959"/>
                </a:solidFill>
                <a:latin typeface="Roboto"/>
                <a:ea typeface="Roboto"/>
                <a:cs typeface="Roboto"/>
                <a:sym typeface="Roboto"/>
              </a:rPr>
              <a:t>Today we have a team dedicated to the design system: an engineering manager who leads the team along with myself, two senior product designers and a front-end developer specialized in design systems.</a:t>
            </a:r>
            <a:endParaRPr sz="1100">
              <a:solidFill>
                <a:srgbClr val="595959"/>
              </a:solidFill>
              <a:latin typeface="Roboto"/>
              <a:ea typeface="Roboto"/>
              <a:cs typeface="Roboto"/>
              <a:sym typeface="Roboto"/>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 name="Shape 69"/>
        <p:cNvGrpSpPr/>
        <p:nvPr/>
      </p:nvGrpSpPr>
      <p:grpSpPr>
        <a:xfrm>
          <a:off x="0" y="0"/>
          <a:ext cx="0" cy="0"/>
          <a:chOff x="0" y="0"/>
          <a:chExt cx="0" cy="0"/>
        </a:xfrm>
      </p:grpSpPr>
      <p:sp>
        <p:nvSpPr>
          <p:cNvPr id="70" name="Google Shape;70;p15"/>
          <p:cNvSpPr txBox="1"/>
          <p:nvPr/>
        </p:nvSpPr>
        <p:spPr>
          <a:xfrm>
            <a:off x="600602" y="447475"/>
            <a:ext cx="3723900" cy="400200"/>
          </a:xfrm>
          <a:prstGeom prst="rect">
            <a:avLst/>
          </a:prstGeom>
          <a:noFill/>
          <a:ln>
            <a:noFill/>
          </a:ln>
        </p:spPr>
        <p:txBody>
          <a:bodyPr anchorCtr="0" anchor="t" bIns="91425" lIns="91425" spcFirstLastPara="1" rIns="91425" wrap="square" tIns="91425">
            <a:spAutoFit/>
          </a:bodyPr>
          <a:lstStyle/>
          <a:p>
            <a:pPr indent="-184150" lvl="0" marL="269999" rtl="0" algn="l">
              <a:spcBef>
                <a:spcPts val="0"/>
              </a:spcBef>
              <a:spcAft>
                <a:spcPts val="0"/>
              </a:spcAft>
              <a:buClr>
                <a:srgbClr val="4B5FA0"/>
              </a:buClr>
              <a:buSzPts val="1400"/>
              <a:buFont typeface="Roboto"/>
              <a:buAutoNum type="arabicPeriod"/>
            </a:pPr>
            <a:r>
              <a:rPr b="1" lang="pt-BR">
                <a:solidFill>
                  <a:srgbClr val="4B5FA0"/>
                </a:solidFill>
                <a:latin typeface="Roboto"/>
                <a:ea typeface="Roboto"/>
                <a:cs typeface="Roboto"/>
                <a:sym typeface="Roboto"/>
              </a:rPr>
              <a:t>Context</a:t>
            </a:r>
            <a:endParaRPr b="1">
              <a:solidFill>
                <a:srgbClr val="4B5FA0"/>
              </a:solidFill>
              <a:latin typeface="Roboto"/>
              <a:ea typeface="Roboto"/>
              <a:cs typeface="Roboto"/>
              <a:sym typeface="Roboto"/>
            </a:endParaRPr>
          </a:p>
        </p:txBody>
      </p:sp>
      <p:sp>
        <p:nvSpPr>
          <p:cNvPr id="71" name="Google Shape;71;p15"/>
          <p:cNvSpPr txBox="1"/>
          <p:nvPr/>
        </p:nvSpPr>
        <p:spPr>
          <a:xfrm>
            <a:off x="707900" y="1510325"/>
            <a:ext cx="3571200" cy="23859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1600"/>
              </a:spcAft>
              <a:buClr>
                <a:schemeClr val="dk1"/>
              </a:buClr>
              <a:buSzPts val="1100"/>
              <a:buFont typeface="Arial"/>
              <a:buNone/>
            </a:pPr>
            <a:r>
              <a:rPr lang="pt-BR" sz="3200">
                <a:solidFill>
                  <a:srgbClr val="666666"/>
                </a:solidFill>
                <a:latin typeface="Roboto"/>
                <a:ea typeface="Roboto"/>
                <a:cs typeface="Roboto"/>
                <a:sym typeface="Roboto"/>
              </a:rPr>
              <a:t>A Design System </a:t>
            </a:r>
            <a:r>
              <a:rPr lang="pt-BR" sz="3200">
                <a:solidFill>
                  <a:srgbClr val="666666"/>
                </a:solidFill>
                <a:latin typeface="Roboto"/>
                <a:ea typeface="Roboto"/>
                <a:cs typeface="Roboto"/>
                <a:sym typeface="Roboto"/>
              </a:rPr>
              <a:t>I</a:t>
            </a:r>
            <a:r>
              <a:rPr lang="pt-BR" sz="3200">
                <a:solidFill>
                  <a:srgbClr val="666666"/>
                </a:solidFill>
                <a:latin typeface="Roboto"/>
                <a:ea typeface="Roboto"/>
                <a:cs typeface="Roboto"/>
                <a:sym typeface="Roboto"/>
              </a:rPr>
              <a:t>sn't a Project. It's a Product, Serving Products. </a:t>
            </a:r>
            <a:br>
              <a:rPr lang="pt-BR" sz="1500">
                <a:solidFill>
                  <a:srgbClr val="666666"/>
                </a:solidFill>
                <a:latin typeface="Roboto"/>
                <a:ea typeface="Roboto"/>
                <a:cs typeface="Roboto"/>
                <a:sym typeface="Roboto"/>
              </a:rPr>
            </a:br>
            <a:r>
              <a:rPr lang="pt-BR" sz="1500">
                <a:solidFill>
                  <a:srgbClr val="666666"/>
                </a:solidFill>
                <a:latin typeface="Roboto"/>
                <a:ea typeface="Roboto"/>
                <a:cs typeface="Roboto"/>
                <a:sym typeface="Roboto"/>
              </a:rPr>
              <a:t>(Nathan Curtis)</a:t>
            </a:r>
            <a:endParaRPr sz="1900"/>
          </a:p>
        </p:txBody>
      </p:sp>
      <p:sp>
        <p:nvSpPr>
          <p:cNvPr id="72" name="Google Shape;72;p15"/>
          <p:cNvSpPr txBox="1"/>
          <p:nvPr/>
        </p:nvSpPr>
        <p:spPr>
          <a:xfrm>
            <a:off x="5013375" y="1552475"/>
            <a:ext cx="2870400" cy="2344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pt-BR" sz="1100">
                <a:solidFill>
                  <a:srgbClr val="595959"/>
                </a:solidFill>
                <a:latin typeface="Roboto"/>
                <a:ea typeface="Roboto"/>
                <a:cs typeface="Roboto"/>
                <a:sym typeface="Roboto"/>
              </a:rPr>
              <a:t>We had several barriers to the creation of this design system. Personally, I came into this project when it had already started and was faced with challenges of product vision and design and dev directions.</a:t>
            </a:r>
            <a:endParaRPr sz="1100">
              <a:solidFill>
                <a:srgbClr val="595959"/>
              </a:solidFill>
              <a:latin typeface="Roboto"/>
              <a:ea typeface="Roboto"/>
              <a:cs typeface="Roboto"/>
              <a:sym typeface="Roboto"/>
            </a:endParaRPr>
          </a:p>
          <a:p>
            <a:pPr indent="0" lvl="0" marL="0" rtl="0" algn="l">
              <a:spcBef>
                <a:spcPts val="1000"/>
              </a:spcBef>
              <a:spcAft>
                <a:spcPts val="1000"/>
              </a:spcAft>
              <a:buNone/>
            </a:pPr>
            <a:r>
              <a:rPr lang="pt-BR" sz="1100">
                <a:solidFill>
                  <a:srgbClr val="595959"/>
                </a:solidFill>
                <a:latin typeface="Roboto"/>
                <a:ea typeface="Roboto"/>
                <a:cs typeface="Roboto"/>
                <a:sym typeface="Roboto"/>
              </a:rPr>
              <a:t>An important approach for the Nimbus team is to look at our DS as a product by itself. Looking in this way, we understand who our users are, what their needs are, what we need to prioritize for them and what metrics we should track to evaluate our impact and success.</a:t>
            </a:r>
            <a:endParaRPr sz="1100">
              <a:solidFill>
                <a:srgbClr val="595959"/>
              </a:solidFill>
              <a:latin typeface="Roboto"/>
              <a:ea typeface="Roboto"/>
              <a:cs typeface="Roboto"/>
              <a:sym typeface="Roboto"/>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4B5FA0"/>
        </a:solidFill>
      </p:bgPr>
    </p:bg>
    <p:spTree>
      <p:nvGrpSpPr>
        <p:cNvPr id="76" name="Shape 76"/>
        <p:cNvGrpSpPr/>
        <p:nvPr/>
      </p:nvGrpSpPr>
      <p:grpSpPr>
        <a:xfrm>
          <a:off x="0" y="0"/>
          <a:ext cx="0" cy="0"/>
          <a:chOff x="0" y="0"/>
          <a:chExt cx="0" cy="0"/>
        </a:xfrm>
      </p:grpSpPr>
      <p:sp>
        <p:nvSpPr>
          <p:cNvPr id="77" name="Google Shape;77;p16"/>
          <p:cNvSpPr txBox="1"/>
          <p:nvPr/>
        </p:nvSpPr>
        <p:spPr>
          <a:xfrm>
            <a:off x="612950" y="885650"/>
            <a:ext cx="3257100" cy="1293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2400">
                <a:solidFill>
                  <a:srgbClr val="FFFFFF"/>
                </a:solidFill>
                <a:latin typeface="Roboto"/>
                <a:ea typeface="Roboto"/>
                <a:cs typeface="Roboto"/>
                <a:sym typeface="Roboto"/>
              </a:rPr>
              <a:t>How to implement the new brand definitions in a scalable way?</a:t>
            </a:r>
            <a:endParaRPr sz="2400">
              <a:solidFill>
                <a:srgbClr val="FFFFFF"/>
              </a:solidFill>
              <a:latin typeface="Roboto"/>
              <a:ea typeface="Roboto"/>
              <a:cs typeface="Roboto"/>
              <a:sym typeface="Roboto"/>
            </a:endParaRPr>
          </a:p>
        </p:txBody>
      </p:sp>
      <p:sp>
        <p:nvSpPr>
          <p:cNvPr id="78" name="Google Shape;78;p16"/>
          <p:cNvSpPr txBox="1"/>
          <p:nvPr/>
        </p:nvSpPr>
        <p:spPr>
          <a:xfrm>
            <a:off x="628750" y="2345825"/>
            <a:ext cx="3241200" cy="2175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1100">
                <a:solidFill>
                  <a:srgbClr val="F3F3F3"/>
                </a:solidFill>
                <a:latin typeface="Roboto"/>
                <a:ea typeface="Roboto"/>
                <a:cs typeface="Roboto"/>
                <a:sym typeface="Roboto"/>
              </a:rPr>
              <a:t>To kick-start our design system, we chose to create it together with our mobile app redesign. To give context, it was a native app developed for Android and iOS that hadn't been updated in a few years. In addition, it had a gap in functionality compared to the desktop experience and had an old application of our brand.</a:t>
            </a:r>
            <a:endParaRPr sz="1100">
              <a:solidFill>
                <a:srgbClr val="F3F3F3"/>
              </a:solidFill>
              <a:latin typeface="Roboto"/>
              <a:ea typeface="Roboto"/>
              <a:cs typeface="Roboto"/>
              <a:sym typeface="Roboto"/>
            </a:endParaRPr>
          </a:p>
          <a:p>
            <a:pPr indent="0" lvl="0" marL="0" rtl="0" algn="l">
              <a:spcBef>
                <a:spcPts val="1000"/>
              </a:spcBef>
              <a:spcAft>
                <a:spcPts val="1000"/>
              </a:spcAft>
              <a:buNone/>
            </a:pPr>
            <a:r>
              <a:rPr lang="pt-BR" sz="1100">
                <a:solidFill>
                  <a:srgbClr val="F3F3F3"/>
                </a:solidFill>
                <a:latin typeface="Roboto"/>
                <a:ea typeface="Roboto"/>
                <a:cs typeface="Roboto"/>
                <a:sym typeface="Roboto"/>
              </a:rPr>
              <a:t>We chose this approach because we wanted to ensure that DS would have a real use case from the start and the components created would actually be useful for the redesign.</a:t>
            </a:r>
            <a:endParaRPr sz="1100">
              <a:solidFill>
                <a:srgbClr val="F3F3F3"/>
              </a:solidFill>
              <a:latin typeface="Roboto"/>
              <a:ea typeface="Roboto"/>
              <a:cs typeface="Roboto"/>
              <a:sym typeface="Roboto"/>
            </a:endParaRPr>
          </a:p>
        </p:txBody>
      </p:sp>
      <p:sp>
        <p:nvSpPr>
          <p:cNvPr id="79" name="Google Shape;79;p16"/>
          <p:cNvSpPr txBox="1"/>
          <p:nvPr/>
        </p:nvSpPr>
        <p:spPr>
          <a:xfrm>
            <a:off x="600602" y="447475"/>
            <a:ext cx="3723900" cy="400200"/>
          </a:xfrm>
          <a:prstGeom prst="rect">
            <a:avLst/>
          </a:prstGeom>
          <a:noFill/>
          <a:ln>
            <a:noFill/>
          </a:ln>
        </p:spPr>
        <p:txBody>
          <a:bodyPr anchorCtr="0" anchor="t" bIns="91425" lIns="91425" spcFirstLastPara="1" rIns="91425" wrap="square" tIns="91425">
            <a:spAutoFit/>
          </a:bodyPr>
          <a:lstStyle/>
          <a:p>
            <a:pPr indent="-184150" lvl="0" marL="269999" rtl="0" algn="l">
              <a:spcBef>
                <a:spcPts val="0"/>
              </a:spcBef>
              <a:spcAft>
                <a:spcPts val="0"/>
              </a:spcAft>
              <a:buClr>
                <a:srgbClr val="F3F3F3"/>
              </a:buClr>
              <a:buSzPts val="1400"/>
              <a:buFont typeface="Roboto"/>
              <a:buAutoNum type="arabicPeriod" startAt="2"/>
            </a:pPr>
            <a:r>
              <a:rPr b="1" lang="pt-BR">
                <a:solidFill>
                  <a:srgbClr val="F3F3F3"/>
                </a:solidFill>
                <a:latin typeface="Roboto"/>
                <a:ea typeface="Roboto"/>
                <a:cs typeface="Roboto"/>
                <a:sym typeface="Roboto"/>
              </a:rPr>
              <a:t>Challenge</a:t>
            </a:r>
            <a:endParaRPr b="1">
              <a:solidFill>
                <a:srgbClr val="F3F3F3"/>
              </a:solidFill>
              <a:latin typeface="Roboto"/>
              <a:ea typeface="Roboto"/>
              <a:cs typeface="Roboto"/>
              <a:sym typeface="Roboto"/>
            </a:endParaRPr>
          </a:p>
        </p:txBody>
      </p:sp>
      <p:pic>
        <p:nvPicPr>
          <p:cNvPr id="80" name="Google Shape;80;p16"/>
          <p:cNvPicPr preferRelativeResize="0"/>
          <p:nvPr/>
        </p:nvPicPr>
        <p:blipFill>
          <a:blip r:embed="rId3">
            <a:alphaModFix/>
          </a:blip>
          <a:stretch>
            <a:fillRect/>
          </a:stretch>
        </p:blipFill>
        <p:spPr>
          <a:xfrm>
            <a:off x="4572000" y="765575"/>
            <a:ext cx="1441832" cy="3204078"/>
          </a:xfrm>
          <a:prstGeom prst="rect">
            <a:avLst/>
          </a:prstGeom>
          <a:noFill/>
          <a:ln>
            <a:noFill/>
          </a:ln>
          <a:effectLst>
            <a:outerShdw blurRad="57150" rotWithShape="0" algn="bl" dir="5400000" dist="19050">
              <a:srgbClr val="000000">
                <a:alpha val="50000"/>
              </a:srgbClr>
            </a:outerShdw>
          </a:effectLst>
        </p:spPr>
      </p:pic>
      <p:pic>
        <p:nvPicPr>
          <p:cNvPr id="81" name="Google Shape;81;p16"/>
          <p:cNvPicPr preferRelativeResize="0"/>
          <p:nvPr/>
        </p:nvPicPr>
        <p:blipFill>
          <a:blip r:embed="rId4">
            <a:alphaModFix/>
          </a:blip>
          <a:stretch>
            <a:fillRect/>
          </a:stretch>
        </p:blipFill>
        <p:spPr>
          <a:xfrm>
            <a:off x="5737175" y="1004088"/>
            <a:ext cx="1479361" cy="3286093"/>
          </a:xfrm>
          <a:prstGeom prst="rect">
            <a:avLst/>
          </a:prstGeom>
          <a:noFill/>
          <a:ln>
            <a:noFill/>
          </a:ln>
          <a:effectLst>
            <a:outerShdw blurRad="57150" rotWithShape="0" algn="bl" dir="5400000" dist="19050">
              <a:srgbClr val="000000">
                <a:alpha val="50000"/>
              </a:srgbClr>
            </a:outerShdw>
          </a:effectLst>
        </p:spPr>
      </p:pic>
      <p:pic>
        <p:nvPicPr>
          <p:cNvPr id="82" name="Google Shape;82;p16"/>
          <p:cNvPicPr preferRelativeResize="0"/>
          <p:nvPr/>
        </p:nvPicPr>
        <p:blipFill>
          <a:blip r:embed="rId5">
            <a:alphaModFix/>
          </a:blip>
          <a:stretch>
            <a:fillRect/>
          </a:stretch>
        </p:blipFill>
        <p:spPr>
          <a:xfrm>
            <a:off x="7093766" y="1317027"/>
            <a:ext cx="1441832" cy="3204096"/>
          </a:xfrm>
          <a:prstGeom prst="rect">
            <a:avLst/>
          </a:prstGeom>
          <a:noFill/>
          <a:ln>
            <a:noFill/>
          </a:ln>
          <a:effectLst>
            <a:outerShdw blurRad="57150" rotWithShape="0" algn="bl" dir="5400000" dist="19050">
              <a:srgbClr val="000000">
                <a:alpha val="50000"/>
              </a:srgbClr>
            </a:outerShdw>
          </a:effectLst>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86" name="Shape 86"/>
        <p:cNvGrpSpPr/>
        <p:nvPr/>
      </p:nvGrpSpPr>
      <p:grpSpPr>
        <a:xfrm>
          <a:off x="0" y="0"/>
          <a:ext cx="0" cy="0"/>
          <a:chOff x="0" y="0"/>
          <a:chExt cx="0" cy="0"/>
        </a:xfrm>
      </p:grpSpPr>
      <p:sp>
        <p:nvSpPr>
          <p:cNvPr id="87" name="Google Shape;87;p17"/>
          <p:cNvSpPr txBox="1"/>
          <p:nvPr/>
        </p:nvSpPr>
        <p:spPr>
          <a:xfrm>
            <a:off x="6261174" y="1644125"/>
            <a:ext cx="2018700" cy="221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pt-BR" sz="2200">
                <a:solidFill>
                  <a:schemeClr val="dk2"/>
                </a:solidFill>
                <a:latin typeface="Roboto"/>
                <a:ea typeface="Roboto"/>
                <a:cs typeface="Roboto"/>
                <a:sym typeface="Roboto"/>
              </a:rPr>
              <a:t>3.</a:t>
            </a:r>
            <a:endParaRPr b="1" sz="2200">
              <a:solidFill>
                <a:schemeClr val="dk2"/>
              </a:solidFill>
              <a:latin typeface="Roboto"/>
              <a:ea typeface="Roboto"/>
              <a:cs typeface="Roboto"/>
              <a:sym typeface="Roboto"/>
            </a:endParaRPr>
          </a:p>
          <a:p>
            <a:pPr indent="0" lvl="0" marL="0" rtl="0" algn="l">
              <a:spcBef>
                <a:spcPts val="0"/>
              </a:spcBef>
              <a:spcAft>
                <a:spcPts val="0"/>
              </a:spcAft>
              <a:buNone/>
            </a:pPr>
            <a:r>
              <a:rPr b="1" lang="pt-BR" sz="2200">
                <a:solidFill>
                  <a:schemeClr val="dk2"/>
                </a:solidFill>
                <a:latin typeface="Roboto"/>
                <a:ea typeface="Roboto"/>
                <a:cs typeface="Roboto"/>
                <a:sym typeface="Roboto"/>
              </a:rPr>
              <a:t>Create design and dev basis for other applications and products</a:t>
            </a:r>
            <a:endParaRPr b="1" sz="2200">
              <a:solidFill>
                <a:schemeClr val="dk2"/>
              </a:solidFill>
              <a:latin typeface="Roboto"/>
              <a:ea typeface="Roboto"/>
              <a:cs typeface="Roboto"/>
              <a:sym typeface="Roboto"/>
            </a:endParaRPr>
          </a:p>
        </p:txBody>
      </p:sp>
      <p:sp>
        <p:nvSpPr>
          <p:cNvPr id="88" name="Google Shape;88;p17"/>
          <p:cNvSpPr txBox="1"/>
          <p:nvPr/>
        </p:nvSpPr>
        <p:spPr>
          <a:xfrm>
            <a:off x="3435250" y="1644125"/>
            <a:ext cx="2018700" cy="1877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pt-BR" sz="2200">
                <a:solidFill>
                  <a:schemeClr val="dk2"/>
                </a:solidFill>
                <a:latin typeface="Roboto"/>
                <a:ea typeface="Roboto"/>
                <a:cs typeface="Roboto"/>
                <a:sym typeface="Roboto"/>
              </a:rPr>
              <a:t>2.</a:t>
            </a:r>
            <a:endParaRPr b="1" sz="2200">
              <a:solidFill>
                <a:schemeClr val="dk2"/>
              </a:solidFill>
              <a:latin typeface="Roboto"/>
              <a:ea typeface="Roboto"/>
              <a:cs typeface="Roboto"/>
              <a:sym typeface="Roboto"/>
            </a:endParaRPr>
          </a:p>
          <a:p>
            <a:pPr indent="0" lvl="0" marL="0" rtl="0" algn="l">
              <a:spcBef>
                <a:spcPts val="0"/>
              </a:spcBef>
              <a:spcAft>
                <a:spcPts val="0"/>
              </a:spcAft>
              <a:buNone/>
            </a:pPr>
            <a:r>
              <a:rPr b="1" lang="pt-BR" sz="2200">
                <a:solidFill>
                  <a:schemeClr val="dk2"/>
                </a:solidFill>
                <a:latin typeface="Roboto"/>
                <a:ea typeface="Roboto"/>
                <a:cs typeface="Roboto"/>
                <a:sym typeface="Roboto"/>
              </a:rPr>
              <a:t>Boosting the scalability of the new mobile app</a:t>
            </a:r>
            <a:endParaRPr b="1" sz="2200">
              <a:solidFill>
                <a:schemeClr val="dk2"/>
              </a:solidFill>
              <a:latin typeface="Roboto"/>
              <a:ea typeface="Roboto"/>
              <a:cs typeface="Roboto"/>
              <a:sym typeface="Roboto"/>
            </a:endParaRPr>
          </a:p>
        </p:txBody>
      </p:sp>
      <p:sp>
        <p:nvSpPr>
          <p:cNvPr id="89" name="Google Shape;89;p17"/>
          <p:cNvSpPr txBox="1"/>
          <p:nvPr/>
        </p:nvSpPr>
        <p:spPr>
          <a:xfrm>
            <a:off x="609337" y="1644125"/>
            <a:ext cx="2193600" cy="221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pt-BR" sz="2200">
                <a:solidFill>
                  <a:schemeClr val="dk2"/>
                </a:solidFill>
                <a:latin typeface="Roboto"/>
                <a:ea typeface="Roboto"/>
                <a:cs typeface="Roboto"/>
                <a:sym typeface="Roboto"/>
              </a:rPr>
              <a:t>1.</a:t>
            </a:r>
            <a:endParaRPr b="1" sz="2200">
              <a:solidFill>
                <a:schemeClr val="dk2"/>
              </a:solidFill>
              <a:latin typeface="Roboto"/>
              <a:ea typeface="Roboto"/>
              <a:cs typeface="Roboto"/>
              <a:sym typeface="Roboto"/>
            </a:endParaRPr>
          </a:p>
          <a:p>
            <a:pPr indent="0" lvl="0" marL="0" rtl="0" algn="l">
              <a:spcBef>
                <a:spcPts val="0"/>
              </a:spcBef>
              <a:spcAft>
                <a:spcPts val="0"/>
              </a:spcAft>
              <a:buNone/>
            </a:pPr>
            <a:r>
              <a:rPr b="1" lang="pt-BR" sz="2200">
                <a:solidFill>
                  <a:schemeClr val="dk2"/>
                </a:solidFill>
                <a:latin typeface="Roboto"/>
                <a:ea typeface="Roboto"/>
                <a:cs typeface="Roboto"/>
                <a:sym typeface="Roboto"/>
              </a:rPr>
              <a:t>Update visual and usability in line with the new brand definitions</a:t>
            </a:r>
            <a:endParaRPr b="1" sz="2200">
              <a:solidFill>
                <a:schemeClr val="dk2"/>
              </a:solidFill>
              <a:latin typeface="Roboto"/>
              <a:ea typeface="Roboto"/>
              <a:cs typeface="Roboto"/>
              <a:sym typeface="Roboto"/>
            </a:endParaRPr>
          </a:p>
        </p:txBody>
      </p:sp>
      <p:sp>
        <p:nvSpPr>
          <p:cNvPr id="90" name="Google Shape;90;p17"/>
          <p:cNvSpPr txBox="1"/>
          <p:nvPr/>
        </p:nvSpPr>
        <p:spPr>
          <a:xfrm>
            <a:off x="600602" y="447475"/>
            <a:ext cx="3723900" cy="400200"/>
          </a:xfrm>
          <a:prstGeom prst="rect">
            <a:avLst/>
          </a:prstGeom>
          <a:noFill/>
          <a:ln>
            <a:noFill/>
          </a:ln>
        </p:spPr>
        <p:txBody>
          <a:bodyPr anchorCtr="0" anchor="t" bIns="91425" lIns="91425" spcFirstLastPara="1" rIns="91425" wrap="square" tIns="91425">
            <a:spAutoFit/>
          </a:bodyPr>
          <a:lstStyle/>
          <a:p>
            <a:pPr indent="-184150" lvl="0" marL="269999" rtl="0" algn="l">
              <a:spcBef>
                <a:spcPts val="0"/>
              </a:spcBef>
              <a:spcAft>
                <a:spcPts val="0"/>
              </a:spcAft>
              <a:buClr>
                <a:srgbClr val="4B5FA0"/>
              </a:buClr>
              <a:buSzPts val="1400"/>
              <a:buFont typeface="Roboto"/>
              <a:buAutoNum type="arabicPeriod" startAt="3"/>
            </a:pPr>
            <a:r>
              <a:rPr b="1" lang="pt-BR">
                <a:solidFill>
                  <a:srgbClr val="4B5FA0"/>
                </a:solidFill>
                <a:latin typeface="Roboto"/>
                <a:ea typeface="Roboto"/>
                <a:cs typeface="Roboto"/>
                <a:sym typeface="Roboto"/>
              </a:rPr>
              <a:t>Project goals</a:t>
            </a:r>
            <a:endParaRPr b="1">
              <a:solidFill>
                <a:srgbClr val="4B5FA0"/>
              </a:solidFill>
              <a:latin typeface="Roboto"/>
              <a:ea typeface="Roboto"/>
              <a:cs typeface="Roboto"/>
              <a:sym typeface="Roboto"/>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18"/>
          <p:cNvSpPr txBox="1"/>
          <p:nvPr/>
        </p:nvSpPr>
        <p:spPr>
          <a:xfrm>
            <a:off x="600602" y="447475"/>
            <a:ext cx="3723900" cy="400200"/>
          </a:xfrm>
          <a:prstGeom prst="rect">
            <a:avLst/>
          </a:prstGeom>
          <a:noFill/>
          <a:ln>
            <a:noFill/>
          </a:ln>
        </p:spPr>
        <p:txBody>
          <a:bodyPr anchorCtr="0" anchor="t" bIns="91425" lIns="91425" spcFirstLastPara="1" rIns="91425" wrap="square" tIns="91425">
            <a:spAutoFit/>
          </a:bodyPr>
          <a:lstStyle/>
          <a:p>
            <a:pPr indent="-184150" lvl="0" marL="269999" rtl="0" algn="l">
              <a:spcBef>
                <a:spcPts val="0"/>
              </a:spcBef>
              <a:spcAft>
                <a:spcPts val="0"/>
              </a:spcAft>
              <a:buClr>
                <a:srgbClr val="4B5FA0"/>
              </a:buClr>
              <a:buSzPts val="1400"/>
              <a:buFont typeface="Roboto"/>
              <a:buAutoNum type="arabicPeriod" startAt="4"/>
            </a:pPr>
            <a:r>
              <a:rPr b="1" lang="pt-BR">
                <a:solidFill>
                  <a:srgbClr val="4B5FA0"/>
                </a:solidFill>
                <a:latin typeface="Roboto"/>
                <a:ea typeface="Roboto"/>
                <a:cs typeface="Roboto"/>
                <a:sym typeface="Roboto"/>
              </a:rPr>
              <a:t>Process</a:t>
            </a:r>
            <a:endParaRPr b="1">
              <a:solidFill>
                <a:srgbClr val="4B5FA0"/>
              </a:solidFill>
              <a:latin typeface="Roboto"/>
              <a:ea typeface="Roboto"/>
              <a:cs typeface="Roboto"/>
              <a:sym typeface="Roboto"/>
            </a:endParaRPr>
          </a:p>
        </p:txBody>
      </p:sp>
      <p:cxnSp>
        <p:nvCxnSpPr>
          <p:cNvPr id="96" name="Google Shape;96;p18"/>
          <p:cNvCxnSpPr/>
          <p:nvPr/>
        </p:nvCxnSpPr>
        <p:spPr>
          <a:xfrm>
            <a:off x="3023576" y="2550745"/>
            <a:ext cx="5292580" cy="0"/>
          </a:xfrm>
          <a:prstGeom prst="straightConnector1">
            <a:avLst/>
          </a:prstGeom>
          <a:noFill/>
          <a:ln cap="flat" cmpd="sng" w="9525">
            <a:solidFill>
              <a:srgbClr val="D9D9D9"/>
            </a:solidFill>
            <a:prstDash val="solid"/>
            <a:round/>
            <a:headEnd len="med" w="med" type="none"/>
            <a:tailEnd len="med" w="med" type="none"/>
          </a:ln>
        </p:spPr>
      </p:cxnSp>
      <p:sp>
        <p:nvSpPr>
          <p:cNvPr id="97" name="Google Shape;97;p18"/>
          <p:cNvSpPr txBox="1"/>
          <p:nvPr/>
        </p:nvSpPr>
        <p:spPr>
          <a:xfrm>
            <a:off x="2956723" y="2305070"/>
            <a:ext cx="1239894" cy="307931"/>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800">
                <a:solidFill>
                  <a:srgbClr val="B7B7B7"/>
                </a:solidFill>
              </a:rPr>
              <a:t>APP REDESIGN</a:t>
            </a:r>
            <a:endParaRPr sz="800">
              <a:solidFill>
                <a:srgbClr val="B7B7B7"/>
              </a:solidFill>
            </a:endParaRPr>
          </a:p>
        </p:txBody>
      </p:sp>
      <p:sp>
        <p:nvSpPr>
          <p:cNvPr id="98" name="Google Shape;98;p18"/>
          <p:cNvSpPr txBox="1"/>
          <p:nvPr/>
        </p:nvSpPr>
        <p:spPr>
          <a:xfrm>
            <a:off x="2840912" y="1858938"/>
            <a:ext cx="958445" cy="338639"/>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pt-BR" sz="1000">
                <a:solidFill>
                  <a:schemeClr val="dk2"/>
                </a:solidFill>
                <a:latin typeface="Roboto"/>
                <a:ea typeface="Roboto"/>
                <a:cs typeface="Roboto"/>
                <a:sym typeface="Roboto"/>
              </a:rPr>
              <a:t>Problem</a:t>
            </a:r>
            <a:endParaRPr sz="1000">
              <a:solidFill>
                <a:schemeClr val="dk2"/>
              </a:solidFill>
              <a:latin typeface="Roboto"/>
              <a:ea typeface="Roboto"/>
              <a:cs typeface="Roboto"/>
              <a:sym typeface="Roboto"/>
            </a:endParaRPr>
          </a:p>
        </p:txBody>
      </p:sp>
      <p:sp>
        <p:nvSpPr>
          <p:cNvPr id="99" name="Google Shape;99;p18"/>
          <p:cNvSpPr txBox="1"/>
          <p:nvPr/>
        </p:nvSpPr>
        <p:spPr>
          <a:xfrm>
            <a:off x="4592446" y="1858938"/>
            <a:ext cx="958445" cy="492464"/>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pt-BR" sz="1000">
                <a:solidFill>
                  <a:schemeClr val="dk2"/>
                </a:solidFill>
                <a:latin typeface="Roboto"/>
                <a:ea typeface="Roboto"/>
                <a:cs typeface="Roboto"/>
                <a:sym typeface="Roboto"/>
              </a:rPr>
              <a:t>Creative sessions</a:t>
            </a:r>
            <a:endParaRPr sz="1000">
              <a:solidFill>
                <a:schemeClr val="dk2"/>
              </a:solidFill>
              <a:latin typeface="Roboto"/>
              <a:ea typeface="Roboto"/>
              <a:cs typeface="Roboto"/>
              <a:sym typeface="Roboto"/>
            </a:endParaRPr>
          </a:p>
        </p:txBody>
      </p:sp>
      <p:sp>
        <p:nvSpPr>
          <p:cNvPr id="100" name="Google Shape;100;p18"/>
          <p:cNvSpPr txBox="1"/>
          <p:nvPr/>
        </p:nvSpPr>
        <p:spPr>
          <a:xfrm>
            <a:off x="6451938" y="1858938"/>
            <a:ext cx="958445" cy="338639"/>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pt-BR" sz="1000">
                <a:solidFill>
                  <a:schemeClr val="dk2"/>
                </a:solidFill>
                <a:latin typeface="Roboto"/>
                <a:ea typeface="Roboto"/>
                <a:cs typeface="Roboto"/>
                <a:sym typeface="Roboto"/>
              </a:rPr>
              <a:t>Prototype</a:t>
            </a:r>
            <a:endParaRPr sz="1000">
              <a:solidFill>
                <a:schemeClr val="dk2"/>
              </a:solidFill>
              <a:latin typeface="Roboto"/>
              <a:ea typeface="Roboto"/>
              <a:cs typeface="Roboto"/>
              <a:sym typeface="Roboto"/>
            </a:endParaRPr>
          </a:p>
        </p:txBody>
      </p:sp>
      <p:sp>
        <p:nvSpPr>
          <p:cNvPr id="101" name="Google Shape;101;p18"/>
          <p:cNvSpPr txBox="1"/>
          <p:nvPr/>
        </p:nvSpPr>
        <p:spPr>
          <a:xfrm>
            <a:off x="3698546" y="1858938"/>
            <a:ext cx="958445" cy="338639"/>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pt-BR" sz="1000">
                <a:solidFill>
                  <a:schemeClr val="dk2"/>
                </a:solidFill>
                <a:latin typeface="Roboto"/>
                <a:ea typeface="Roboto"/>
                <a:cs typeface="Roboto"/>
                <a:sym typeface="Roboto"/>
              </a:rPr>
              <a:t>Discovery</a:t>
            </a:r>
            <a:endParaRPr sz="1000">
              <a:solidFill>
                <a:schemeClr val="dk2"/>
              </a:solidFill>
              <a:latin typeface="Roboto"/>
              <a:ea typeface="Roboto"/>
              <a:cs typeface="Roboto"/>
              <a:sym typeface="Roboto"/>
            </a:endParaRPr>
          </a:p>
        </p:txBody>
      </p:sp>
      <p:sp>
        <p:nvSpPr>
          <p:cNvPr id="102" name="Google Shape;102;p18"/>
          <p:cNvSpPr txBox="1"/>
          <p:nvPr/>
        </p:nvSpPr>
        <p:spPr>
          <a:xfrm>
            <a:off x="7520954" y="1858938"/>
            <a:ext cx="958445" cy="492464"/>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pt-BR" sz="1000">
                <a:solidFill>
                  <a:schemeClr val="dk2"/>
                </a:solidFill>
                <a:latin typeface="Roboto"/>
                <a:ea typeface="Roboto"/>
                <a:cs typeface="Roboto"/>
                <a:sym typeface="Roboto"/>
              </a:rPr>
              <a:t>Hand over </a:t>
            </a:r>
            <a:br>
              <a:rPr lang="pt-BR" sz="1000">
                <a:solidFill>
                  <a:schemeClr val="dk2"/>
                </a:solidFill>
                <a:latin typeface="Roboto"/>
                <a:ea typeface="Roboto"/>
                <a:cs typeface="Roboto"/>
                <a:sym typeface="Roboto"/>
              </a:rPr>
            </a:br>
            <a:r>
              <a:rPr lang="pt-BR" sz="1000">
                <a:solidFill>
                  <a:schemeClr val="dk2"/>
                </a:solidFill>
                <a:latin typeface="Roboto"/>
                <a:ea typeface="Roboto"/>
                <a:cs typeface="Roboto"/>
                <a:sym typeface="Roboto"/>
              </a:rPr>
              <a:t>to built</a:t>
            </a:r>
            <a:endParaRPr sz="1000">
              <a:solidFill>
                <a:schemeClr val="dk2"/>
              </a:solidFill>
              <a:latin typeface="Roboto"/>
              <a:ea typeface="Roboto"/>
              <a:cs typeface="Roboto"/>
              <a:sym typeface="Roboto"/>
            </a:endParaRPr>
          </a:p>
        </p:txBody>
      </p:sp>
      <p:sp>
        <p:nvSpPr>
          <p:cNvPr id="103" name="Google Shape;103;p18"/>
          <p:cNvSpPr/>
          <p:nvPr/>
        </p:nvSpPr>
        <p:spPr>
          <a:xfrm rot="-8100000">
            <a:off x="3652522" y="1959105"/>
            <a:ext cx="137059" cy="137059"/>
          </a:xfrm>
          <a:prstGeom prst="corner">
            <a:avLst>
              <a:gd fmla="val 17852" name="adj1"/>
              <a:gd fmla="val 16639" name="adj2"/>
            </a:avLst>
          </a:prstGeom>
          <a:solidFill>
            <a:srgbClr val="D2E7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18"/>
          <p:cNvSpPr/>
          <p:nvPr/>
        </p:nvSpPr>
        <p:spPr>
          <a:xfrm rot="-8100000">
            <a:off x="4515589" y="1959105"/>
            <a:ext cx="137059" cy="137059"/>
          </a:xfrm>
          <a:prstGeom prst="corner">
            <a:avLst>
              <a:gd fmla="val 17852" name="adj1"/>
              <a:gd fmla="val 16639" name="adj2"/>
            </a:avLst>
          </a:prstGeom>
          <a:solidFill>
            <a:srgbClr val="D2E7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18"/>
          <p:cNvSpPr/>
          <p:nvPr/>
        </p:nvSpPr>
        <p:spPr>
          <a:xfrm rot="-8100000">
            <a:off x="5399720" y="1959105"/>
            <a:ext cx="137059" cy="137059"/>
          </a:xfrm>
          <a:prstGeom prst="corner">
            <a:avLst>
              <a:gd fmla="val 17852" name="adj1"/>
              <a:gd fmla="val 16639" name="adj2"/>
            </a:avLst>
          </a:prstGeom>
          <a:solidFill>
            <a:srgbClr val="D2E7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18"/>
          <p:cNvSpPr/>
          <p:nvPr/>
        </p:nvSpPr>
        <p:spPr>
          <a:xfrm rot="-8100000">
            <a:off x="7372813" y="1959105"/>
            <a:ext cx="137059" cy="137059"/>
          </a:xfrm>
          <a:prstGeom prst="corner">
            <a:avLst>
              <a:gd fmla="val 17852" name="adj1"/>
              <a:gd fmla="val 16639" name="adj2"/>
            </a:avLst>
          </a:prstGeom>
          <a:solidFill>
            <a:srgbClr val="D2E7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07" name="Google Shape;107;p18"/>
          <p:cNvPicPr preferRelativeResize="0"/>
          <p:nvPr/>
        </p:nvPicPr>
        <p:blipFill>
          <a:blip r:embed="rId3">
            <a:alphaModFix/>
          </a:blip>
          <a:stretch>
            <a:fillRect/>
          </a:stretch>
        </p:blipFill>
        <p:spPr>
          <a:xfrm>
            <a:off x="3054231" y="1290703"/>
            <a:ext cx="527348" cy="527357"/>
          </a:xfrm>
          <a:prstGeom prst="rect">
            <a:avLst/>
          </a:prstGeom>
          <a:noFill/>
          <a:ln>
            <a:noFill/>
          </a:ln>
        </p:spPr>
      </p:pic>
      <p:pic>
        <p:nvPicPr>
          <p:cNvPr id="108" name="Google Shape;108;p18"/>
          <p:cNvPicPr preferRelativeResize="0"/>
          <p:nvPr/>
        </p:nvPicPr>
        <p:blipFill>
          <a:blip r:embed="rId4">
            <a:alphaModFix/>
          </a:blip>
          <a:stretch>
            <a:fillRect/>
          </a:stretch>
        </p:blipFill>
        <p:spPr>
          <a:xfrm>
            <a:off x="4833383" y="1290703"/>
            <a:ext cx="469339" cy="527357"/>
          </a:xfrm>
          <a:prstGeom prst="rect">
            <a:avLst/>
          </a:prstGeom>
          <a:noFill/>
          <a:ln>
            <a:noFill/>
          </a:ln>
        </p:spPr>
      </p:pic>
      <p:pic>
        <p:nvPicPr>
          <p:cNvPr id="109" name="Google Shape;109;p18"/>
          <p:cNvPicPr preferRelativeResize="0"/>
          <p:nvPr/>
        </p:nvPicPr>
        <p:blipFill>
          <a:blip r:embed="rId5">
            <a:alphaModFix/>
          </a:blip>
          <a:stretch>
            <a:fillRect/>
          </a:stretch>
        </p:blipFill>
        <p:spPr>
          <a:xfrm>
            <a:off x="6666322" y="1290703"/>
            <a:ext cx="532621" cy="527357"/>
          </a:xfrm>
          <a:prstGeom prst="rect">
            <a:avLst/>
          </a:prstGeom>
          <a:noFill/>
          <a:ln>
            <a:noFill/>
          </a:ln>
        </p:spPr>
      </p:pic>
      <p:pic>
        <p:nvPicPr>
          <p:cNvPr id="110" name="Google Shape;110;p18"/>
          <p:cNvPicPr preferRelativeResize="0"/>
          <p:nvPr/>
        </p:nvPicPr>
        <p:blipFill>
          <a:blip r:embed="rId6">
            <a:alphaModFix/>
          </a:blip>
          <a:stretch>
            <a:fillRect/>
          </a:stretch>
        </p:blipFill>
        <p:spPr>
          <a:xfrm>
            <a:off x="7733847" y="1290703"/>
            <a:ext cx="532621" cy="527357"/>
          </a:xfrm>
          <a:prstGeom prst="rect">
            <a:avLst/>
          </a:prstGeom>
          <a:noFill/>
          <a:ln>
            <a:noFill/>
          </a:ln>
        </p:spPr>
      </p:pic>
      <p:pic>
        <p:nvPicPr>
          <p:cNvPr id="111" name="Google Shape;111;p18"/>
          <p:cNvPicPr preferRelativeResize="0"/>
          <p:nvPr/>
        </p:nvPicPr>
        <p:blipFill>
          <a:blip r:embed="rId7">
            <a:alphaModFix/>
          </a:blip>
          <a:stretch>
            <a:fillRect/>
          </a:stretch>
        </p:blipFill>
        <p:spPr>
          <a:xfrm>
            <a:off x="5732345" y="1290704"/>
            <a:ext cx="469353" cy="527363"/>
          </a:xfrm>
          <a:prstGeom prst="rect">
            <a:avLst/>
          </a:prstGeom>
          <a:noFill/>
          <a:ln>
            <a:noFill/>
          </a:ln>
        </p:spPr>
      </p:pic>
      <p:sp>
        <p:nvSpPr>
          <p:cNvPr id="112" name="Google Shape;112;p18"/>
          <p:cNvSpPr txBox="1"/>
          <p:nvPr/>
        </p:nvSpPr>
        <p:spPr>
          <a:xfrm>
            <a:off x="5436249" y="1858938"/>
            <a:ext cx="958445" cy="338639"/>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pt-BR" sz="1000">
                <a:solidFill>
                  <a:schemeClr val="dk2"/>
                </a:solidFill>
                <a:latin typeface="Roboto"/>
                <a:ea typeface="Roboto"/>
                <a:cs typeface="Roboto"/>
                <a:sym typeface="Roboto"/>
              </a:rPr>
              <a:t>Design</a:t>
            </a:r>
            <a:endParaRPr sz="1000">
              <a:solidFill>
                <a:schemeClr val="dk2"/>
              </a:solidFill>
              <a:latin typeface="Roboto"/>
              <a:ea typeface="Roboto"/>
              <a:cs typeface="Roboto"/>
              <a:sym typeface="Roboto"/>
            </a:endParaRPr>
          </a:p>
        </p:txBody>
      </p:sp>
      <p:sp>
        <p:nvSpPr>
          <p:cNvPr id="113" name="Google Shape;113;p18"/>
          <p:cNvSpPr/>
          <p:nvPr/>
        </p:nvSpPr>
        <p:spPr>
          <a:xfrm rot="-8100000">
            <a:off x="6298982" y="1959105"/>
            <a:ext cx="137059" cy="137059"/>
          </a:xfrm>
          <a:prstGeom prst="corner">
            <a:avLst>
              <a:gd fmla="val 17852" name="adj1"/>
              <a:gd fmla="val 16639" name="adj2"/>
            </a:avLst>
          </a:prstGeom>
          <a:solidFill>
            <a:srgbClr val="D2E7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14" name="Google Shape;114;p18"/>
          <p:cNvPicPr preferRelativeResize="0"/>
          <p:nvPr/>
        </p:nvPicPr>
        <p:blipFill rotWithShape="1">
          <a:blip r:embed="rId8">
            <a:alphaModFix/>
          </a:blip>
          <a:srcRect b="26486" l="16364" r="16599" t="6427"/>
          <a:stretch/>
        </p:blipFill>
        <p:spPr>
          <a:xfrm>
            <a:off x="3908184" y="1287857"/>
            <a:ext cx="532634" cy="533056"/>
          </a:xfrm>
          <a:prstGeom prst="rect">
            <a:avLst/>
          </a:prstGeom>
          <a:noFill/>
          <a:ln>
            <a:noFill/>
          </a:ln>
        </p:spPr>
      </p:pic>
      <p:sp>
        <p:nvSpPr>
          <p:cNvPr id="115" name="Google Shape;115;p18"/>
          <p:cNvSpPr txBox="1"/>
          <p:nvPr/>
        </p:nvSpPr>
        <p:spPr>
          <a:xfrm>
            <a:off x="6451938" y="3496061"/>
            <a:ext cx="958445" cy="800395"/>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pt-BR" sz="1000">
                <a:solidFill>
                  <a:schemeClr val="dk2"/>
                </a:solidFill>
                <a:latin typeface="Roboto"/>
                <a:ea typeface="Roboto"/>
                <a:cs typeface="Roboto"/>
                <a:sym typeface="Roboto"/>
              </a:rPr>
              <a:t>Component craft </a:t>
            </a:r>
            <a:br>
              <a:rPr lang="pt-BR" sz="1000">
                <a:solidFill>
                  <a:schemeClr val="dk2"/>
                </a:solidFill>
                <a:latin typeface="Roboto"/>
                <a:ea typeface="Roboto"/>
                <a:cs typeface="Roboto"/>
                <a:sym typeface="Roboto"/>
              </a:rPr>
            </a:br>
            <a:r>
              <a:rPr lang="pt-BR" sz="1000">
                <a:solidFill>
                  <a:schemeClr val="dk2"/>
                </a:solidFill>
                <a:latin typeface="Roboto"/>
                <a:ea typeface="Roboto"/>
                <a:cs typeface="Roboto"/>
                <a:sym typeface="Roboto"/>
              </a:rPr>
              <a:t>(design + dev)</a:t>
            </a:r>
            <a:endParaRPr sz="1000">
              <a:solidFill>
                <a:schemeClr val="dk2"/>
              </a:solidFill>
              <a:latin typeface="Roboto"/>
              <a:ea typeface="Roboto"/>
              <a:cs typeface="Roboto"/>
              <a:sym typeface="Roboto"/>
            </a:endParaRPr>
          </a:p>
        </p:txBody>
      </p:sp>
      <p:sp>
        <p:nvSpPr>
          <p:cNvPr id="116" name="Google Shape;116;p18"/>
          <p:cNvSpPr txBox="1"/>
          <p:nvPr/>
        </p:nvSpPr>
        <p:spPr>
          <a:xfrm>
            <a:off x="3698546" y="3496061"/>
            <a:ext cx="958445" cy="338639"/>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pt-BR" sz="1000">
                <a:solidFill>
                  <a:schemeClr val="dk2"/>
                </a:solidFill>
                <a:latin typeface="Roboto"/>
                <a:ea typeface="Roboto"/>
                <a:cs typeface="Roboto"/>
                <a:sym typeface="Roboto"/>
              </a:rPr>
              <a:t>Discovery</a:t>
            </a:r>
            <a:endParaRPr sz="1000">
              <a:solidFill>
                <a:schemeClr val="dk2"/>
              </a:solidFill>
              <a:latin typeface="Roboto"/>
              <a:ea typeface="Roboto"/>
              <a:cs typeface="Roboto"/>
              <a:sym typeface="Roboto"/>
            </a:endParaRPr>
          </a:p>
        </p:txBody>
      </p:sp>
      <p:sp>
        <p:nvSpPr>
          <p:cNvPr id="117" name="Google Shape;117;p18"/>
          <p:cNvSpPr txBox="1"/>
          <p:nvPr/>
        </p:nvSpPr>
        <p:spPr>
          <a:xfrm>
            <a:off x="7520954" y="3496061"/>
            <a:ext cx="958445" cy="338639"/>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pt-BR" sz="1000">
                <a:solidFill>
                  <a:schemeClr val="dk2"/>
                </a:solidFill>
                <a:latin typeface="Roboto"/>
                <a:ea typeface="Roboto"/>
                <a:cs typeface="Roboto"/>
                <a:sym typeface="Roboto"/>
              </a:rPr>
              <a:t>Release</a:t>
            </a:r>
            <a:endParaRPr sz="1000">
              <a:solidFill>
                <a:schemeClr val="dk2"/>
              </a:solidFill>
              <a:latin typeface="Roboto"/>
              <a:ea typeface="Roboto"/>
              <a:cs typeface="Roboto"/>
              <a:sym typeface="Roboto"/>
            </a:endParaRPr>
          </a:p>
        </p:txBody>
      </p:sp>
      <p:sp>
        <p:nvSpPr>
          <p:cNvPr id="118" name="Google Shape;118;p18"/>
          <p:cNvSpPr/>
          <p:nvPr/>
        </p:nvSpPr>
        <p:spPr>
          <a:xfrm rot="-8100000">
            <a:off x="7372813" y="3596228"/>
            <a:ext cx="137059" cy="137059"/>
          </a:xfrm>
          <a:prstGeom prst="corner">
            <a:avLst>
              <a:gd fmla="val 17852" name="adj1"/>
              <a:gd fmla="val 16639" name="adj2"/>
            </a:avLst>
          </a:prstGeom>
          <a:solidFill>
            <a:srgbClr val="D2E7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19" name="Google Shape;119;p18"/>
          <p:cNvPicPr preferRelativeResize="0"/>
          <p:nvPr/>
        </p:nvPicPr>
        <p:blipFill>
          <a:blip r:embed="rId6">
            <a:alphaModFix/>
          </a:blip>
          <a:stretch>
            <a:fillRect/>
          </a:stretch>
        </p:blipFill>
        <p:spPr>
          <a:xfrm>
            <a:off x="7733847" y="2927826"/>
            <a:ext cx="532621" cy="527357"/>
          </a:xfrm>
          <a:prstGeom prst="rect">
            <a:avLst/>
          </a:prstGeom>
          <a:noFill/>
          <a:ln>
            <a:noFill/>
          </a:ln>
        </p:spPr>
      </p:pic>
      <p:sp>
        <p:nvSpPr>
          <p:cNvPr id="120" name="Google Shape;120;p18"/>
          <p:cNvSpPr txBox="1"/>
          <p:nvPr/>
        </p:nvSpPr>
        <p:spPr>
          <a:xfrm>
            <a:off x="5436249" y="3496061"/>
            <a:ext cx="958445" cy="492464"/>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pt-BR" sz="1000">
                <a:solidFill>
                  <a:schemeClr val="dk2"/>
                </a:solidFill>
                <a:latin typeface="Roboto"/>
                <a:ea typeface="Roboto"/>
                <a:cs typeface="Roboto"/>
                <a:sym typeface="Roboto"/>
              </a:rPr>
              <a:t>Design exploration</a:t>
            </a:r>
            <a:endParaRPr sz="1000">
              <a:solidFill>
                <a:schemeClr val="dk2"/>
              </a:solidFill>
              <a:latin typeface="Roboto"/>
              <a:ea typeface="Roboto"/>
              <a:cs typeface="Roboto"/>
              <a:sym typeface="Roboto"/>
            </a:endParaRPr>
          </a:p>
        </p:txBody>
      </p:sp>
      <p:sp>
        <p:nvSpPr>
          <p:cNvPr id="121" name="Google Shape;121;p18"/>
          <p:cNvSpPr/>
          <p:nvPr/>
        </p:nvSpPr>
        <p:spPr>
          <a:xfrm rot="-8100000">
            <a:off x="6298982" y="3596228"/>
            <a:ext cx="137059" cy="137059"/>
          </a:xfrm>
          <a:prstGeom prst="corner">
            <a:avLst>
              <a:gd fmla="val 17852" name="adj1"/>
              <a:gd fmla="val 16639" name="adj2"/>
            </a:avLst>
          </a:prstGeom>
          <a:solidFill>
            <a:srgbClr val="D2E7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22" name="Google Shape;122;p18"/>
          <p:cNvPicPr preferRelativeResize="0"/>
          <p:nvPr/>
        </p:nvPicPr>
        <p:blipFill rotWithShape="1">
          <a:blip r:embed="rId8">
            <a:alphaModFix/>
          </a:blip>
          <a:srcRect b="26486" l="16364" r="16599" t="6427"/>
          <a:stretch/>
        </p:blipFill>
        <p:spPr>
          <a:xfrm>
            <a:off x="3908184" y="2924980"/>
            <a:ext cx="532634" cy="533056"/>
          </a:xfrm>
          <a:prstGeom prst="rect">
            <a:avLst/>
          </a:prstGeom>
          <a:noFill/>
          <a:ln>
            <a:noFill/>
          </a:ln>
        </p:spPr>
      </p:pic>
      <p:pic>
        <p:nvPicPr>
          <p:cNvPr id="123" name="Google Shape;123;p18"/>
          <p:cNvPicPr preferRelativeResize="0"/>
          <p:nvPr/>
        </p:nvPicPr>
        <p:blipFill rotWithShape="1">
          <a:blip r:embed="rId9">
            <a:alphaModFix/>
          </a:blip>
          <a:srcRect b="27075" l="17110" r="17110" t="7144"/>
          <a:stretch/>
        </p:blipFill>
        <p:spPr>
          <a:xfrm>
            <a:off x="6667481" y="2930704"/>
            <a:ext cx="527342" cy="527331"/>
          </a:xfrm>
          <a:prstGeom prst="rect">
            <a:avLst/>
          </a:prstGeom>
          <a:noFill/>
          <a:ln>
            <a:noFill/>
          </a:ln>
        </p:spPr>
      </p:pic>
      <p:pic>
        <p:nvPicPr>
          <p:cNvPr id="124" name="Google Shape;124;p18"/>
          <p:cNvPicPr preferRelativeResize="0"/>
          <p:nvPr/>
        </p:nvPicPr>
        <p:blipFill rotWithShape="1">
          <a:blip r:embed="rId10">
            <a:alphaModFix/>
          </a:blip>
          <a:srcRect b="27105" l="16653" r="16733" t="6849"/>
          <a:stretch/>
        </p:blipFill>
        <p:spPr>
          <a:xfrm>
            <a:off x="5653597" y="2930693"/>
            <a:ext cx="532634" cy="528103"/>
          </a:xfrm>
          <a:prstGeom prst="rect">
            <a:avLst/>
          </a:prstGeom>
          <a:noFill/>
          <a:ln>
            <a:noFill/>
          </a:ln>
        </p:spPr>
      </p:pic>
      <p:sp>
        <p:nvSpPr>
          <p:cNvPr id="125" name="Google Shape;125;p18"/>
          <p:cNvSpPr/>
          <p:nvPr/>
        </p:nvSpPr>
        <p:spPr>
          <a:xfrm rot="8100000">
            <a:off x="4105925" y="2203230"/>
            <a:ext cx="137059" cy="137059"/>
          </a:xfrm>
          <a:prstGeom prst="corner">
            <a:avLst>
              <a:gd fmla="val 17852" name="adj1"/>
              <a:gd fmla="val 16639" name="adj2"/>
            </a:avLst>
          </a:prstGeom>
          <a:solidFill>
            <a:srgbClr val="D2E7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18"/>
          <p:cNvSpPr/>
          <p:nvPr/>
        </p:nvSpPr>
        <p:spPr>
          <a:xfrm rot="-2700000">
            <a:off x="4106006" y="2703264"/>
            <a:ext cx="137059" cy="137059"/>
          </a:xfrm>
          <a:prstGeom prst="corner">
            <a:avLst>
              <a:gd fmla="val 17852" name="adj1"/>
              <a:gd fmla="val 16639" name="adj2"/>
            </a:avLst>
          </a:prstGeom>
          <a:solidFill>
            <a:srgbClr val="D2E7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27" name="Google Shape;127;p18"/>
          <p:cNvCxnSpPr/>
          <p:nvPr/>
        </p:nvCxnSpPr>
        <p:spPr>
          <a:xfrm>
            <a:off x="4172929" y="2266068"/>
            <a:ext cx="0" cy="512467"/>
          </a:xfrm>
          <a:prstGeom prst="straightConnector1">
            <a:avLst/>
          </a:prstGeom>
          <a:noFill/>
          <a:ln cap="flat" cmpd="sng" w="28575">
            <a:solidFill>
              <a:srgbClr val="D2E7F9"/>
            </a:solidFill>
            <a:prstDash val="solid"/>
            <a:round/>
            <a:headEnd len="med" w="med" type="none"/>
            <a:tailEnd len="med" w="med" type="none"/>
          </a:ln>
        </p:spPr>
      </p:cxnSp>
      <p:sp>
        <p:nvSpPr>
          <p:cNvPr id="128" name="Google Shape;128;p18"/>
          <p:cNvSpPr/>
          <p:nvPr/>
        </p:nvSpPr>
        <p:spPr>
          <a:xfrm rot="8100000">
            <a:off x="7931611" y="2344989"/>
            <a:ext cx="137037" cy="137037"/>
          </a:xfrm>
          <a:prstGeom prst="corner">
            <a:avLst>
              <a:gd fmla="val 17852" name="adj1"/>
              <a:gd fmla="val 16639" name="adj2"/>
            </a:avLst>
          </a:prstGeom>
          <a:solidFill>
            <a:srgbClr val="D2E7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29" name="Google Shape;129;p18"/>
          <p:cNvCxnSpPr/>
          <p:nvPr/>
        </p:nvCxnSpPr>
        <p:spPr>
          <a:xfrm>
            <a:off x="7998600" y="2419350"/>
            <a:ext cx="0" cy="420000"/>
          </a:xfrm>
          <a:prstGeom prst="straightConnector1">
            <a:avLst/>
          </a:prstGeom>
          <a:noFill/>
          <a:ln cap="flat" cmpd="sng" w="28575">
            <a:solidFill>
              <a:srgbClr val="D2E7F9"/>
            </a:solidFill>
            <a:prstDash val="solid"/>
            <a:round/>
            <a:headEnd len="med" w="med" type="none"/>
            <a:tailEnd len="med" w="med" type="none"/>
          </a:ln>
        </p:spPr>
      </p:cxnSp>
      <p:sp>
        <p:nvSpPr>
          <p:cNvPr id="130" name="Google Shape;130;p18"/>
          <p:cNvSpPr/>
          <p:nvPr/>
        </p:nvSpPr>
        <p:spPr>
          <a:xfrm>
            <a:off x="5263324" y="2139924"/>
            <a:ext cx="125990" cy="137636"/>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18"/>
          <p:cNvSpPr/>
          <p:nvPr/>
        </p:nvSpPr>
        <p:spPr>
          <a:xfrm rot="-2700000">
            <a:off x="5003154" y="1025575"/>
            <a:ext cx="137037" cy="137037"/>
          </a:xfrm>
          <a:prstGeom prst="corner">
            <a:avLst>
              <a:gd fmla="val 17852" name="adj1"/>
              <a:gd fmla="val 16639" name="adj2"/>
            </a:avLst>
          </a:prstGeom>
          <a:solidFill>
            <a:srgbClr val="D2E7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32" name="Google Shape;132;p18"/>
          <p:cNvCxnSpPr/>
          <p:nvPr/>
        </p:nvCxnSpPr>
        <p:spPr>
          <a:xfrm>
            <a:off x="5922532" y="2228262"/>
            <a:ext cx="0" cy="550219"/>
          </a:xfrm>
          <a:prstGeom prst="straightConnector1">
            <a:avLst/>
          </a:prstGeom>
          <a:noFill/>
          <a:ln cap="flat" cmpd="sng" w="28575">
            <a:solidFill>
              <a:srgbClr val="D2E7F9"/>
            </a:solidFill>
            <a:prstDash val="solid"/>
            <a:round/>
            <a:headEnd len="med" w="med" type="none"/>
            <a:tailEnd len="med" w="med" type="none"/>
          </a:ln>
        </p:spPr>
      </p:cxnSp>
      <p:sp>
        <p:nvSpPr>
          <p:cNvPr id="133" name="Google Shape;133;p18"/>
          <p:cNvSpPr txBox="1"/>
          <p:nvPr/>
        </p:nvSpPr>
        <p:spPr>
          <a:xfrm>
            <a:off x="2956723" y="2527273"/>
            <a:ext cx="1239894" cy="307931"/>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800">
                <a:solidFill>
                  <a:srgbClr val="B7B7B7"/>
                </a:solidFill>
              </a:rPr>
              <a:t>DESIGN SYSTEM</a:t>
            </a:r>
            <a:endParaRPr sz="800">
              <a:solidFill>
                <a:srgbClr val="B7B7B7"/>
              </a:solidFill>
            </a:endParaRPr>
          </a:p>
        </p:txBody>
      </p:sp>
      <p:sp>
        <p:nvSpPr>
          <p:cNvPr id="134" name="Google Shape;134;p18"/>
          <p:cNvSpPr txBox="1"/>
          <p:nvPr/>
        </p:nvSpPr>
        <p:spPr>
          <a:xfrm>
            <a:off x="624950" y="1191000"/>
            <a:ext cx="1864500" cy="3232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1000"/>
              </a:spcAft>
              <a:buClr>
                <a:srgbClr val="000000"/>
              </a:buClr>
              <a:buSzPts val="1100"/>
              <a:buFont typeface="Arial"/>
              <a:buNone/>
            </a:pPr>
            <a:r>
              <a:rPr lang="pt-BR" sz="1100">
                <a:solidFill>
                  <a:srgbClr val="595959"/>
                </a:solidFill>
                <a:latin typeface="Roboto"/>
                <a:ea typeface="Roboto"/>
                <a:cs typeface="Roboto"/>
                <a:sym typeface="Roboto"/>
              </a:rPr>
              <a:t>We separated the process in </a:t>
            </a:r>
            <a:r>
              <a:rPr lang="pt-BR" sz="1100">
                <a:solidFill>
                  <a:srgbClr val="595959"/>
                </a:solidFill>
                <a:latin typeface="Roboto"/>
                <a:ea typeface="Roboto"/>
                <a:cs typeface="Roboto"/>
                <a:sym typeface="Roboto"/>
              </a:rPr>
              <a:t>two</a:t>
            </a:r>
            <a:r>
              <a:rPr lang="pt-BR" sz="1100">
                <a:solidFill>
                  <a:srgbClr val="595959"/>
                </a:solidFill>
                <a:latin typeface="Roboto"/>
                <a:ea typeface="Roboto"/>
                <a:cs typeface="Roboto"/>
                <a:sym typeface="Roboto"/>
              </a:rPr>
              <a:t> tracks. One track was related to the application redesign, and another track was related to the creation of the design system. At the beginning of the project, we didn't have a dedicated DS team, so the design and dev activities were performed by the same team. After the initial discovery of the redesign and the DS, the redesign project was separated in several smaller parts developed in a cycle.</a:t>
            </a:r>
            <a:endParaRPr sz="1100">
              <a:solidFill>
                <a:srgbClr val="595959"/>
              </a:solidFill>
              <a:latin typeface="Roboto"/>
              <a:ea typeface="Roboto"/>
              <a:cs typeface="Roboto"/>
              <a:sym typeface="Roboto"/>
            </a:endParaRPr>
          </a:p>
        </p:txBody>
      </p:sp>
      <p:sp>
        <p:nvSpPr>
          <p:cNvPr id="135" name="Google Shape;135;p18"/>
          <p:cNvSpPr/>
          <p:nvPr/>
        </p:nvSpPr>
        <p:spPr>
          <a:xfrm>
            <a:off x="4993013" y="1090563"/>
            <a:ext cx="159600" cy="193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18"/>
          <p:cNvSpPr/>
          <p:nvPr/>
        </p:nvSpPr>
        <p:spPr>
          <a:xfrm>
            <a:off x="7920375" y="1228675"/>
            <a:ext cx="159600" cy="193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37" name="Google Shape;137;p18"/>
          <p:cNvCxnSpPr>
            <a:stCxn id="136" idx="0"/>
            <a:endCxn id="135" idx="0"/>
          </p:cNvCxnSpPr>
          <p:nvPr/>
        </p:nvCxnSpPr>
        <p:spPr>
          <a:xfrm flipH="1" rot="5400000">
            <a:off x="6467475" y="-304025"/>
            <a:ext cx="138000" cy="2927400"/>
          </a:xfrm>
          <a:prstGeom prst="bentConnector3">
            <a:avLst>
              <a:gd fmla="val 272636" name="adj1"/>
            </a:avLst>
          </a:prstGeom>
          <a:noFill/>
          <a:ln cap="flat" cmpd="sng" w="28575">
            <a:solidFill>
              <a:srgbClr val="D2E7F9"/>
            </a:solidFill>
            <a:prstDash val="solid"/>
            <a:round/>
            <a:headEnd len="med" w="med" type="none"/>
            <a:tailEnd len="med" w="med" type="none"/>
          </a:ln>
        </p:spPr>
      </p:cxn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41" name="Shape 141"/>
        <p:cNvGrpSpPr/>
        <p:nvPr/>
      </p:nvGrpSpPr>
      <p:grpSpPr>
        <a:xfrm>
          <a:off x="0" y="0"/>
          <a:ext cx="0" cy="0"/>
          <a:chOff x="0" y="0"/>
          <a:chExt cx="0" cy="0"/>
        </a:xfrm>
      </p:grpSpPr>
      <p:sp>
        <p:nvSpPr>
          <p:cNvPr id="142" name="Google Shape;142;p19"/>
          <p:cNvSpPr txBox="1"/>
          <p:nvPr/>
        </p:nvSpPr>
        <p:spPr>
          <a:xfrm>
            <a:off x="600602" y="447475"/>
            <a:ext cx="3723900" cy="400200"/>
          </a:xfrm>
          <a:prstGeom prst="rect">
            <a:avLst/>
          </a:prstGeom>
          <a:noFill/>
          <a:ln>
            <a:noFill/>
          </a:ln>
        </p:spPr>
        <p:txBody>
          <a:bodyPr anchorCtr="0" anchor="t" bIns="91425" lIns="91425" spcFirstLastPara="1" rIns="91425" wrap="square" tIns="91425">
            <a:spAutoFit/>
          </a:bodyPr>
          <a:lstStyle/>
          <a:p>
            <a:pPr indent="-184150" lvl="0" marL="269999" rtl="0" algn="l">
              <a:spcBef>
                <a:spcPts val="0"/>
              </a:spcBef>
              <a:spcAft>
                <a:spcPts val="0"/>
              </a:spcAft>
              <a:buClr>
                <a:srgbClr val="4B5FA0"/>
              </a:buClr>
              <a:buSzPts val="1400"/>
              <a:buFont typeface="Roboto"/>
              <a:buAutoNum type="arabicPeriod" startAt="5"/>
            </a:pPr>
            <a:r>
              <a:rPr b="1" lang="pt-BR">
                <a:solidFill>
                  <a:srgbClr val="4B5FA0"/>
                </a:solidFill>
                <a:latin typeface="Roboto"/>
                <a:ea typeface="Roboto"/>
                <a:cs typeface="Roboto"/>
                <a:sym typeface="Roboto"/>
              </a:rPr>
              <a:t>Discovery</a:t>
            </a:r>
            <a:endParaRPr b="1">
              <a:solidFill>
                <a:srgbClr val="4B5FA0"/>
              </a:solidFill>
              <a:latin typeface="Roboto"/>
              <a:ea typeface="Roboto"/>
              <a:cs typeface="Roboto"/>
              <a:sym typeface="Roboto"/>
            </a:endParaRPr>
          </a:p>
        </p:txBody>
      </p:sp>
      <p:sp>
        <p:nvSpPr>
          <p:cNvPr id="143" name="Google Shape;143;p19"/>
          <p:cNvSpPr/>
          <p:nvPr/>
        </p:nvSpPr>
        <p:spPr>
          <a:xfrm>
            <a:off x="2851200" y="1286025"/>
            <a:ext cx="2827500" cy="30510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19"/>
          <p:cNvSpPr/>
          <p:nvPr/>
        </p:nvSpPr>
        <p:spPr>
          <a:xfrm>
            <a:off x="5923175" y="1286025"/>
            <a:ext cx="2545500" cy="30510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19"/>
          <p:cNvSpPr txBox="1"/>
          <p:nvPr/>
        </p:nvSpPr>
        <p:spPr>
          <a:xfrm>
            <a:off x="3055686" y="1388268"/>
            <a:ext cx="29619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2000">
                <a:solidFill>
                  <a:srgbClr val="666666"/>
                </a:solidFill>
                <a:latin typeface="Roboto"/>
                <a:ea typeface="Roboto"/>
                <a:cs typeface="Roboto"/>
                <a:sym typeface="Roboto"/>
              </a:rPr>
              <a:t>Benchmark</a:t>
            </a:r>
            <a:endParaRPr sz="2000">
              <a:solidFill>
                <a:srgbClr val="666666"/>
              </a:solidFill>
              <a:latin typeface="Roboto"/>
              <a:ea typeface="Roboto"/>
              <a:cs typeface="Roboto"/>
              <a:sym typeface="Roboto"/>
            </a:endParaRPr>
          </a:p>
        </p:txBody>
      </p:sp>
      <p:sp>
        <p:nvSpPr>
          <p:cNvPr id="146" name="Google Shape;146;p19"/>
          <p:cNvSpPr txBox="1"/>
          <p:nvPr/>
        </p:nvSpPr>
        <p:spPr>
          <a:xfrm>
            <a:off x="6117361" y="1388268"/>
            <a:ext cx="29619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2000">
                <a:solidFill>
                  <a:srgbClr val="666666"/>
                </a:solidFill>
                <a:latin typeface="Roboto"/>
                <a:ea typeface="Roboto"/>
                <a:cs typeface="Roboto"/>
                <a:sym typeface="Roboto"/>
              </a:rPr>
              <a:t>Foundations</a:t>
            </a:r>
            <a:endParaRPr sz="2000">
              <a:solidFill>
                <a:srgbClr val="666666"/>
              </a:solidFill>
              <a:latin typeface="Roboto"/>
              <a:ea typeface="Roboto"/>
              <a:cs typeface="Roboto"/>
              <a:sym typeface="Roboto"/>
            </a:endParaRPr>
          </a:p>
        </p:txBody>
      </p:sp>
      <p:pic>
        <p:nvPicPr>
          <p:cNvPr id="147" name="Google Shape;147;p19"/>
          <p:cNvPicPr preferRelativeResize="0"/>
          <p:nvPr/>
        </p:nvPicPr>
        <p:blipFill>
          <a:blip r:embed="rId3">
            <a:alphaModFix/>
          </a:blip>
          <a:stretch>
            <a:fillRect/>
          </a:stretch>
        </p:blipFill>
        <p:spPr>
          <a:xfrm>
            <a:off x="3283728" y="2161089"/>
            <a:ext cx="716882" cy="224019"/>
          </a:xfrm>
          <a:prstGeom prst="rect">
            <a:avLst/>
          </a:prstGeom>
          <a:noFill/>
          <a:ln>
            <a:noFill/>
          </a:ln>
        </p:spPr>
      </p:pic>
      <p:pic>
        <p:nvPicPr>
          <p:cNvPr id="148" name="Google Shape;148;p19"/>
          <p:cNvPicPr preferRelativeResize="0"/>
          <p:nvPr/>
        </p:nvPicPr>
        <p:blipFill rotWithShape="1">
          <a:blip r:embed="rId4">
            <a:alphaModFix/>
          </a:blip>
          <a:srcRect b="24542" l="0" r="0" t="25363"/>
          <a:stretch/>
        </p:blipFill>
        <p:spPr>
          <a:xfrm>
            <a:off x="4439375" y="2160650"/>
            <a:ext cx="795003" cy="224021"/>
          </a:xfrm>
          <a:prstGeom prst="rect">
            <a:avLst/>
          </a:prstGeom>
          <a:noFill/>
          <a:ln>
            <a:noFill/>
          </a:ln>
        </p:spPr>
      </p:pic>
      <p:pic>
        <p:nvPicPr>
          <p:cNvPr id="149" name="Google Shape;149;p19"/>
          <p:cNvPicPr preferRelativeResize="0"/>
          <p:nvPr/>
        </p:nvPicPr>
        <p:blipFill>
          <a:blip r:embed="rId5">
            <a:alphaModFix/>
          </a:blip>
          <a:stretch>
            <a:fillRect/>
          </a:stretch>
        </p:blipFill>
        <p:spPr>
          <a:xfrm>
            <a:off x="3225625" y="2586787"/>
            <a:ext cx="833085" cy="247317"/>
          </a:xfrm>
          <a:prstGeom prst="rect">
            <a:avLst/>
          </a:prstGeom>
          <a:noFill/>
          <a:ln>
            <a:noFill/>
          </a:ln>
        </p:spPr>
      </p:pic>
      <p:pic>
        <p:nvPicPr>
          <p:cNvPr id="150" name="Google Shape;150;p19"/>
          <p:cNvPicPr preferRelativeResize="0"/>
          <p:nvPr/>
        </p:nvPicPr>
        <p:blipFill>
          <a:blip r:embed="rId6">
            <a:alphaModFix/>
          </a:blip>
          <a:stretch>
            <a:fillRect/>
          </a:stretch>
        </p:blipFill>
        <p:spPr>
          <a:xfrm>
            <a:off x="4489305" y="2598435"/>
            <a:ext cx="695142" cy="224017"/>
          </a:xfrm>
          <a:prstGeom prst="rect">
            <a:avLst/>
          </a:prstGeom>
          <a:noFill/>
          <a:ln>
            <a:noFill/>
          </a:ln>
        </p:spPr>
      </p:pic>
      <p:pic>
        <p:nvPicPr>
          <p:cNvPr id="151" name="Google Shape;151;p19"/>
          <p:cNvPicPr preferRelativeResize="0"/>
          <p:nvPr/>
        </p:nvPicPr>
        <p:blipFill rotWithShape="1">
          <a:blip r:embed="rId7">
            <a:alphaModFix/>
          </a:blip>
          <a:srcRect b="25113" l="0" r="0" t="24641"/>
          <a:stretch/>
        </p:blipFill>
        <p:spPr>
          <a:xfrm>
            <a:off x="3164850" y="3032248"/>
            <a:ext cx="954638" cy="269816"/>
          </a:xfrm>
          <a:prstGeom prst="rect">
            <a:avLst/>
          </a:prstGeom>
          <a:noFill/>
          <a:ln>
            <a:noFill/>
          </a:ln>
        </p:spPr>
      </p:pic>
      <p:pic>
        <p:nvPicPr>
          <p:cNvPr id="152" name="Google Shape;152;p19"/>
          <p:cNvPicPr preferRelativeResize="0"/>
          <p:nvPr/>
        </p:nvPicPr>
        <p:blipFill>
          <a:blip r:embed="rId8">
            <a:alphaModFix/>
          </a:blip>
          <a:stretch>
            <a:fillRect/>
          </a:stretch>
        </p:blipFill>
        <p:spPr>
          <a:xfrm>
            <a:off x="4597467" y="3085377"/>
            <a:ext cx="478817" cy="192177"/>
          </a:xfrm>
          <a:prstGeom prst="rect">
            <a:avLst/>
          </a:prstGeom>
          <a:noFill/>
          <a:ln>
            <a:noFill/>
          </a:ln>
        </p:spPr>
      </p:pic>
      <p:pic>
        <p:nvPicPr>
          <p:cNvPr id="153" name="Google Shape;153;p19"/>
          <p:cNvPicPr preferRelativeResize="0"/>
          <p:nvPr/>
        </p:nvPicPr>
        <p:blipFill>
          <a:blip r:embed="rId9">
            <a:alphaModFix/>
          </a:blip>
          <a:stretch>
            <a:fillRect/>
          </a:stretch>
        </p:blipFill>
        <p:spPr>
          <a:xfrm>
            <a:off x="3250436" y="3539584"/>
            <a:ext cx="783462" cy="174822"/>
          </a:xfrm>
          <a:prstGeom prst="rect">
            <a:avLst/>
          </a:prstGeom>
          <a:noFill/>
          <a:ln>
            <a:noFill/>
          </a:ln>
        </p:spPr>
      </p:pic>
      <p:pic>
        <p:nvPicPr>
          <p:cNvPr id="154" name="Google Shape;154;p19"/>
          <p:cNvPicPr preferRelativeResize="0"/>
          <p:nvPr/>
        </p:nvPicPr>
        <p:blipFill rotWithShape="1">
          <a:blip r:embed="rId10">
            <a:alphaModFix/>
          </a:blip>
          <a:srcRect b="34484" l="0" r="0" t="34328"/>
          <a:stretch/>
        </p:blipFill>
        <p:spPr>
          <a:xfrm>
            <a:off x="4333956" y="3444971"/>
            <a:ext cx="1005844" cy="313677"/>
          </a:xfrm>
          <a:prstGeom prst="rect">
            <a:avLst/>
          </a:prstGeom>
          <a:noFill/>
          <a:ln>
            <a:noFill/>
          </a:ln>
        </p:spPr>
      </p:pic>
      <p:sp>
        <p:nvSpPr>
          <p:cNvPr id="155" name="Google Shape;155;p19"/>
          <p:cNvSpPr txBox="1"/>
          <p:nvPr/>
        </p:nvSpPr>
        <p:spPr>
          <a:xfrm>
            <a:off x="6026525" y="1985325"/>
            <a:ext cx="2296800" cy="2077800"/>
          </a:xfrm>
          <a:prstGeom prst="rect">
            <a:avLst/>
          </a:prstGeom>
          <a:noFill/>
          <a:ln>
            <a:noFill/>
          </a:ln>
        </p:spPr>
        <p:txBody>
          <a:bodyPr anchorCtr="0" anchor="t" bIns="91425" lIns="91425" spcFirstLastPara="1" rIns="91425" wrap="square" tIns="91425">
            <a:spAutoFit/>
          </a:bodyPr>
          <a:lstStyle/>
          <a:p>
            <a:pPr indent="-317500" lvl="0" marL="457200" rtl="0" algn="l">
              <a:spcBef>
                <a:spcPts val="0"/>
              </a:spcBef>
              <a:spcAft>
                <a:spcPts val="0"/>
              </a:spcAft>
              <a:buClr>
                <a:schemeClr val="dk2"/>
              </a:buClr>
              <a:buSzPts val="1400"/>
              <a:buFont typeface="Roboto"/>
              <a:buChar char="●"/>
            </a:pPr>
            <a:r>
              <a:rPr lang="pt-BR">
                <a:solidFill>
                  <a:schemeClr val="dk2"/>
                </a:solidFill>
                <a:latin typeface="Roboto"/>
                <a:ea typeface="Roboto"/>
                <a:cs typeface="Roboto"/>
                <a:sym typeface="Roboto"/>
              </a:rPr>
              <a:t>Principles</a:t>
            </a:r>
            <a:endParaRPr>
              <a:solidFill>
                <a:schemeClr val="dk2"/>
              </a:solidFill>
              <a:latin typeface="Roboto"/>
              <a:ea typeface="Roboto"/>
              <a:cs typeface="Roboto"/>
              <a:sym typeface="Roboto"/>
            </a:endParaRPr>
          </a:p>
          <a:p>
            <a:pPr indent="-317500" lvl="0" marL="457200" rtl="0" algn="l">
              <a:spcBef>
                <a:spcPts val="1000"/>
              </a:spcBef>
              <a:spcAft>
                <a:spcPts val="0"/>
              </a:spcAft>
              <a:buClr>
                <a:schemeClr val="dk2"/>
              </a:buClr>
              <a:buSzPts val="1400"/>
              <a:buFont typeface="Roboto"/>
              <a:buChar char="●"/>
            </a:pPr>
            <a:r>
              <a:rPr lang="pt-BR">
                <a:solidFill>
                  <a:schemeClr val="dk2"/>
                </a:solidFill>
                <a:latin typeface="Roboto"/>
                <a:ea typeface="Roboto"/>
                <a:cs typeface="Roboto"/>
                <a:sym typeface="Roboto"/>
              </a:rPr>
              <a:t>Tech and design needs</a:t>
            </a:r>
            <a:endParaRPr>
              <a:solidFill>
                <a:schemeClr val="dk2"/>
              </a:solidFill>
              <a:latin typeface="Roboto"/>
              <a:ea typeface="Roboto"/>
              <a:cs typeface="Roboto"/>
              <a:sym typeface="Roboto"/>
            </a:endParaRPr>
          </a:p>
          <a:p>
            <a:pPr indent="-317500" lvl="0" marL="457200" rtl="0" algn="l">
              <a:spcBef>
                <a:spcPts val="1000"/>
              </a:spcBef>
              <a:spcAft>
                <a:spcPts val="0"/>
              </a:spcAft>
              <a:buClr>
                <a:schemeClr val="dk2"/>
              </a:buClr>
              <a:buSzPts val="1400"/>
              <a:buFont typeface="Roboto"/>
              <a:buChar char="●"/>
            </a:pPr>
            <a:r>
              <a:rPr lang="pt-BR">
                <a:solidFill>
                  <a:schemeClr val="dk2"/>
                </a:solidFill>
                <a:latin typeface="Roboto"/>
                <a:ea typeface="Roboto"/>
                <a:cs typeface="Roboto"/>
                <a:sym typeface="Roboto"/>
              </a:rPr>
              <a:t>Tokens definitions: colors, typography, spacing…</a:t>
            </a:r>
            <a:endParaRPr>
              <a:solidFill>
                <a:schemeClr val="dk2"/>
              </a:solidFill>
              <a:latin typeface="Roboto"/>
              <a:ea typeface="Roboto"/>
              <a:cs typeface="Roboto"/>
              <a:sym typeface="Roboto"/>
            </a:endParaRPr>
          </a:p>
          <a:p>
            <a:pPr indent="-317500" lvl="0" marL="457200" rtl="0" algn="l">
              <a:spcBef>
                <a:spcPts val="1000"/>
              </a:spcBef>
              <a:spcAft>
                <a:spcPts val="1000"/>
              </a:spcAft>
              <a:buClr>
                <a:schemeClr val="dk2"/>
              </a:buClr>
              <a:buSzPts val="1400"/>
              <a:buFont typeface="Roboto"/>
              <a:buChar char="●"/>
            </a:pPr>
            <a:r>
              <a:rPr lang="pt-BR">
                <a:solidFill>
                  <a:schemeClr val="dk2"/>
                </a:solidFill>
                <a:latin typeface="Roboto"/>
                <a:ea typeface="Roboto"/>
                <a:cs typeface="Roboto"/>
                <a:sym typeface="Roboto"/>
              </a:rPr>
              <a:t>Structure</a:t>
            </a:r>
            <a:endParaRPr>
              <a:solidFill>
                <a:schemeClr val="dk2"/>
              </a:solidFill>
              <a:latin typeface="Roboto"/>
              <a:ea typeface="Roboto"/>
              <a:cs typeface="Roboto"/>
              <a:sym typeface="Roboto"/>
            </a:endParaRPr>
          </a:p>
        </p:txBody>
      </p:sp>
      <p:sp>
        <p:nvSpPr>
          <p:cNvPr id="156" name="Google Shape;156;p19"/>
          <p:cNvSpPr txBox="1"/>
          <p:nvPr/>
        </p:nvSpPr>
        <p:spPr>
          <a:xfrm>
            <a:off x="624950" y="1200686"/>
            <a:ext cx="1864500" cy="2852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rgbClr val="000000"/>
              </a:buClr>
              <a:buSzPts val="1100"/>
              <a:buFont typeface="Arial"/>
              <a:buNone/>
            </a:pPr>
            <a:r>
              <a:rPr lang="pt-BR" sz="1100">
                <a:solidFill>
                  <a:srgbClr val="595959"/>
                </a:solidFill>
                <a:latin typeface="Roboto"/>
                <a:ea typeface="Roboto"/>
                <a:cs typeface="Roboto"/>
                <a:sym typeface="Roboto"/>
              </a:rPr>
              <a:t>As it was the first time we were investing in building a design system, so we did extensive and thorough research on what were the best market practices, most common structures and most common used technologies. </a:t>
            </a:r>
            <a:endParaRPr sz="1100">
              <a:solidFill>
                <a:srgbClr val="595959"/>
              </a:solidFill>
              <a:latin typeface="Roboto"/>
              <a:ea typeface="Roboto"/>
              <a:cs typeface="Roboto"/>
              <a:sym typeface="Roboto"/>
            </a:endParaRPr>
          </a:p>
          <a:p>
            <a:pPr indent="0" lvl="0" marL="0" rtl="0" algn="l">
              <a:spcBef>
                <a:spcPts val="1000"/>
              </a:spcBef>
              <a:spcAft>
                <a:spcPts val="1000"/>
              </a:spcAft>
              <a:buClr>
                <a:srgbClr val="000000"/>
              </a:buClr>
              <a:buSzPts val="1100"/>
              <a:buFont typeface="Arial"/>
              <a:buNone/>
            </a:pPr>
            <a:r>
              <a:rPr lang="pt-BR" sz="1100">
                <a:solidFill>
                  <a:srgbClr val="595959"/>
                </a:solidFill>
                <a:latin typeface="Roboto"/>
                <a:ea typeface="Roboto"/>
                <a:cs typeface="Roboto"/>
                <a:sym typeface="Roboto"/>
              </a:rPr>
              <a:t>We drew on other recognised design systems to give us a benchmark of what we needed to do to have a world-class DS.</a:t>
            </a:r>
            <a:endParaRPr sz="1100">
              <a:solidFill>
                <a:srgbClr val="595959"/>
              </a:solidFill>
              <a:latin typeface="Roboto"/>
              <a:ea typeface="Roboto"/>
              <a:cs typeface="Roboto"/>
              <a:sym typeface="Roboto"/>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60" name="Shape 160"/>
        <p:cNvGrpSpPr/>
        <p:nvPr/>
      </p:nvGrpSpPr>
      <p:grpSpPr>
        <a:xfrm>
          <a:off x="0" y="0"/>
          <a:ext cx="0" cy="0"/>
          <a:chOff x="0" y="0"/>
          <a:chExt cx="0" cy="0"/>
        </a:xfrm>
      </p:grpSpPr>
      <p:pic>
        <p:nvPicPr>
          <p:cNvPr id="161" name="Google Shape;161;p20"/>
          <p:cNvPicPr preferRelativeResize="0"/>
          <p:nvPr/>
        </p:nvPicPr>
        <p:blipFill>
          <a:blip r:embed="rId3">
            <a:alphaModFix/>
          </a:blip>
          <a:stretch>
            <a:fillRect/>
          </a:stretch>
        </p:blipFill>
        <p:spPr>
          <a:xfrm>
            <a:off x="270386" y="1549675"/>
            <a:ext cx="8539199" cy="3102425"/>
          </a:xfrm>
          <a:prstGeom prst="rect">
            <a:avLst/>
          </a:prstGeom>
          <a:noFill/>
          <a:ln>
            <a:noFill/>
          </a:ln>
        </p:spPr>
      </p:pic>
      <p:sp>
        <p:nvSpPr>
          <p:cNvPr id="162" name="Google Shape;162;p20"/>
          <p:cNvSpPr txBox="1"/>
          <p:nvPr/>
        </p:nvSpPr>
        <p:spPr>
          <a:xfrm>
            <a:off x="607586" y="1083468"/>
            <a:ext cx="29619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2400">
                <a:solidFill>
                  <a:srgbClr val="666666"/>
                </a:solidFill>
                <a:latin typeface="Roboto"/>
                <a:ea typeface="Roboto"/>
                <a:cs typeface="Roboto"/>
                <a:sym typeface="Roboto"/>
              </a:rPr>
              <a:t>Structure</a:t>
            </a:r>
            <a:endParaRPr sz="2400">
              <a:solidFill>
                <a:srgbClr val="666666"/>
              </a:solidFill>
              <a:latin typeface="Roboto"/>
              <a:ea typeface="Roboto"/>
              <a:cs typeface="Roboto"/>
              <a:sym typeface="Roboto"/>
            </a:endParaRPr>
          </a:p>
        </p:txBody>
      </p:sp>
      <p:sp>
        <p:nvSpPr>
          <p:cNvPr id="163" name="Google Shape;163;p20"/>
          <p:cNvSpPr txBox="1"/>
          <p:nvPr/>
        </p:nvSpPr>
        <p:spPr>
          <a:xfrm>
            <a:off x="600602" y="447475"/>
            <a:ext cx="3723900" cy="400200"/>
          </a:xfrm>
          <a:prstGeom prst="rect">
            <a:avLst/>
          </a:prstGeom>
          <a:noFill/>
          <a:ln>
            <a:noFill/>
          </a:ln>
        </p:spPr>
        <p:txBody>
          <a:bodyPr anchorCtr="0" anchor="t" bIns="91425" lIns="91425" spcFirstLastPara="1" rIns="91425" wrap="square" tIns="91425">
            <a:spAutoFit/>
          </a:bodyPr>
          <a:lstStyle/>
          <a:p>
            <a:pPr indent="-184150" lvl="0" marL="269999" rtl="0" algn="l">
              <a:spcBef>
                <a:spcPts val="0"/>
              </a:spcBef>
              <a:spcAft>
                <a:spcPts val="0"/>
              </a:spcAft>
              <a:buClr>
                <a:srgbClr val="4B5FA0"/>
              </a:buClr>
              <a:buSzPts val="1400"/>
              <a:buFont typeface="Roboto"/>
              <a:buAutoNum type="arabicPeriod" startAt="5"/>
            </a:pPr>
            <a:r>
              <a:rPr b="1" lang="pt-BR">
                <a:solidFill>
                  <a:srgbClr val="4B5FA0"/>
                </a:solidFill>
                <a:latin typeface="Roboto"/>
                <a:ea typeface="Roboto"/>
                <a:cs typeface="Roboto"/>
                <a:sym typeface="Roboto"/>
              </a:rPr>
              <a:t>Discovery</a:t>
            </a:r>
            <a:endParaRPr b="1">
              <a:solidFill>
                <a:srgbClr val="4B5FA0"/>
              </a:solidFill>
              <a:latin typeface="Roboto"/>
              <a:ea typeface="Roboto"/>
              <a:cs typeface="Roboto"/>
              <a:sym typeface="Roboto"/>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67" name="Shape 167"/>
        <p:cNvGrpSpPr/>
        <p:nvPr/>
      </p:nvGrpSpPr>
      <p:grpSpPr>
        <a:xfrm>
          <a:off x="0" y="0"/>
          <a:ext cx="0" cy="0"/>
          <a:chOff x="0" y="0"/>
          <a:chExt cx="0" cy="0"/>
        </a:xfrm>
      </p:grpSpPr>
      <p:sp>
        <p:nvSpPr>
          <p:cNvPr id="168" name="Google Shape;168;p21"/>
          <p:cNvSpPr txBox="1"/>
          <p:nvPr/>
        </p:nvSpPr>
        <p:spPr>
          <a:xfrm>
            <a:off x="600602" y="447475"/>
            <a:ext cx="3723900" cy="400200"/>
          </a:xfrm>
          <a:prstGeom prst="rect">
            <a:avLst/>
          </a:prstGeom>
          <a:noFill/>
          <a:ln>
            <a:noFill/>
          </a:ln>
        </p:spPr>
        <p:txBody>
          <a:bodyPr anchorCtr="0" anchor="t" bIns="91425" lIns="91425" spcFirstLastPara="1" rIns="91425" wrap="square" tIns="91425">
            <a:spAutoFit/>
          </a:bodyPr>
          <a:lstStyle/>
          <a:p>
            <a:pPr indent="-184150" lvl="0" marL="269999" rtl="0" algn="l">
              <a:spcBef>
                <a:spcPts val="0"/>
              </a:spcBef>
              <a:spcAft>
                <a:spcPts val="0"/>
              </a:spcAft>
              <a:buClr>
                <a:srgbClr val="4B5FA0"/>
              </a:buClr>
              <a:buSzPts val="1400"/>
              <a:buFont typeface="Roboto"/>
              <a:buAutoNum type="arabicPeriod" startAt="6"/>
            </a:pPr>
            <a:r>
              <a:rPr b="1" lang="pt-BR">
                <a:solidFill>
                  <a:srgbClr val="4B5FA0"/>
                </a:solidFill>
                <a:latin typeface="Roboto"/>
                <a:ea typeface="Roboto"/>
                <a:cs typeface="Roboto"/>
                <a:sym typeface="Roboto"/>
              </a:rPr>
              <a:t>Execution</a:t>
            </a:r>
            <a:endParaRPr b="1">
              <a:solidFill>
                <a:srgbClr val="4B5FA0"/>
              </a:solidFill>
              <a:latin typeface="Roboto"/>
              <a:ea typeface="Roboto"/>
              <a:cs typeface="Roboto"/>
              <a:sym typeface="Roboto"/>
            </a:endParaRPr>
          </a:p>
        </p:txBody>
      </p:sp>
      <p:pic>
        <p:nvPicPr>
          <p:cNvPr id="169" name="Google Shape;169;p21"/>
          <p:cNvPicPr preferRelativeResize="0"/>
          <p:nvPr/>
        </p:nvPicPr>
        <p:blipFill>
          <a:blip r:embed="rId3">
            <a:alphaModFix/>
          </a:blip>
          <a:stretch>
            <a:fillRect/>
          </a:stretch>
        </p:blipFill>
        <p:spPr>
          <a:xfrm>
            <a:off x="707900" y="1214100"/>
            <a:ext cx="7713526" cy="2971976"/>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73" name="Shape 173"/>
        <p:cNvGrpSpPr/>
        <p:nvPr/>
      </p:nvGrpSpPr>
      <p:grpSpPr>
        <a:xfrm>
          <a:off x="0" y="0"/>
          <a:ext cx="0" cy="0"/>
          <a:chOff x="0" y="0"/>
          <a:chExt cx="0" cy="0"/>
        </a:xfrm>
      </p:grpSpPr>
      <p:pic>
        <p:nvPicPr>
          <p:cNvPr id="174" name="Google Shape;174;p22"/>
          <p:cNvPicPr preferRelativeResize="0"/>
          <p:nvPr/>
        </p:nvPicPr>
        <p:blipFill rotWithShape="1">
          <a:blip r:embed="rId3">
            <a:alphaModFix/>
          </a:blip>
          <a:srcRect b="45801" l="0" r="0" t="2170"/>
          <a:stretch/>
        </p:blipFill>
        <p:spPr>
          <a:xfrm>
            <a:off x="707900" y="1173800"/>
            <a:ext cx="1957400" cy="3544849"/>
          </a:xfrm>
          <a:prstGeom prst="rect">
            <a:avLst/>
          </a:prstGeom>
          <a:noFill/>
          <a:ln>
            <a:noFill/>
          </a:ln>
          <a:effectLst>
            <a:outerShdw blurRad="385763" rotWithShape="0" algn="bl" dir="5400000" dist="142875">
              <a:srgbClr val="000000">
                <a:alpha val="20000"/>
              </a:srgbClr>
            </a:outerShdw>
          </a:effectLst>
        </p:spPr>
      </p:pic>
      <p:sp>
        <p:nvSpPr>
          <p:cNvPr id="175" name="Google Shape;175;p22"/>
          <p:cNvSpPr/>
          <p:nvPr/>
        </p:nvSpPr>
        <p:spPr>
          <a:xfrm>
            <a:off x="3548887" y="1173800"/>
            <a:ext cx="1957500" cy="3544800"/>
          </a:xfrm>
          <a:prstGeom prst="rect">
            <a:avLst/>
          </a:prstGeom>
          <a:solidFill>
            <a:schemeClr val="lt1"/>
          </a:solidFill>
          <a:ln>
            <a:noFill/>
          </a:ln>
          <a:effectLst>
            <a:outerShdw blurRad="385763" rotWithShape="0" algn="bl" dir="5400000" dist="142875">
              <a:srgbClr val="00000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a:p>
        </p:txBody>
      </p:sp>
      <p:grpSp>
        <p:nvGrpSpPr>
          <p:cNvPr id="176" name="Google Shape;176;p22"/>
          <p:cNvGrpSpPr/>
          <p:nvPr/>
        </p:nvGrpSpPr>
        <p:grpSpPr>
          <a:xfrm>
            <a:off x="3548887" y="1173800"/>
            <a:ext cx="1957400" cy="3544849"/>
            <a:chOff x="4500575" y="931501"/>
            <a:chExt cx="1957400" cy="3544849"/>
          </a:xfrm>
        </p:grpSpPr>
        <p:pic>
          <p:nvPicPr>
            <p:cNvPr id="177" name="Google Shape;177;p22"/>
            <p:cNvPicPr preferRelativeResize="0"/>
            <p:nvPr/>
          </p:nvPicPr>
          <p:blipFill rotWithShape="1">
            <a:blip r:embed="rId4">
              <a:alphaModFix/>
            </a:blip>
            <a:srcRect b="0" l="1017" r="1164" t="0"/>
            <a:stretch/>
          </p:blipFill>
          <p:spPr>
            <a:xfrm>
              <a:off x="4500575" y="931501"/>
              <a:ext cx="1957400" cy="3269524"/>
            </a:xfrm>
            <a:prstGeom prst="rect">
              <a:avLst/>
            </a:prstGeom>
            <a:noFill/>
            <a:ln>
              <a:noFill/>
            </a:ln>
          </p:spPr>
        </p:pic>
        <p:pic>
          <p:nvPicPr>
            <p:cNvPr id="178" name="Google Shape;178;p22"/>
            <p:cNvPicPr preferRelativeResize="0"/>
            <p:nvPr/>
          </p:nvPicPr>
          <p:blipFill rotWithShape="1">
            <a:blip r:embed="rId5">
              <a:alphaModFix/>
            </a:blip>
            <a:srcRect b="0" l="1278" r="1180" t="91547"/>
            <a:stretch/>
          </p:blipFill>
          <p:spPr>
            <a:xfrm>
              <a:off x="4500575" y="4176725"/>
              <a:ext cx="1957400" cy="299625"/>
            </a:xfrm>
            <a:prstGeom prst="rect">
              <a:avLst/>
            </a:prstGeom>
            <a:noFill/>
            <a:ln>
              <a:noFill/>
            </a:ln>
          </p:spPr>
        </p:pic>
        <p:sp>
          <p:nvSpPr>
            <p:cNvPr id="179" name="Google Shape;179;p22"/>
            <p:cNvSpPr/>
            <p:nvPr/>
          </p:nvSpPr>
          <p:spPr>
            <a:xfrm>
              <a:off x="4524375" y="4110038"/>
              <a:ext cx="1485900" cy="76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180" name="Google Shape;180;p22"/>
          <p:cNvPicPr preferRelativeResize="0"/>
          <p:nvPr/>
        </p:nvPicPr>
        <p:blipFill>
          <a:blip r:embed="rId6">
            <a:alphaModFix/>
          </a:blip>
          <a:stretch>
            <a:fillRect/>
          </a:stretch>
        </p:blipFill>
        <p:spPr>
          <a:xfrm>
            <a:off x="6389875" y="1173800"/>
            <a:ext cx="1957400" cy="3563470"/>
          </a:xfrm>
          <a:prstGeom prst="rect">
            <a:avLst/>
          </a:prstGeom>
          <a:noFill/>
          <a:ln>
            <a:noFill/>
          </a:ln>
          <a:effectLst>
            <a:outerShdw blurRad="385763" rotWithShape="0" algn="bl" dir="5400000" dist="142875">
              <a:srgbClr val="000000">
                <a:alpha val="20000"/>
              </a:srgbClr>
            </a:outerShdw>
          </a:effectLst>
        </p:spPr>
      </p:pic>
      <p:sp>
        <p:nvSpPr>
          <p:cNvPr id="181" name="Google Shape;181;p22"/>
          <p:cNvSpPr txBox="1"/>
          <p:nvPr/>
        </p:nvSpPr>
        <p:spPr>
          <a:xfrm>
            <a:off x="605324" y="898175"/>
            <a:ext cx="20601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800">
                <a:solidFill>
                  <a:srgbClr val="999999"/>
                </a:solidFill>
              </a:rPr>
              <a:t>ORDER: OLD MOBILE</a:t>
            </a:r>
            <a:endParaRPr sz="800">
              <a:solidFill>
                <a:srgbClr val="999999"/>
              </a:solidFill>
            </a:endParaRPr>
          </a:p>
        </p:txBody>
      </p:sp>
      <p:sp>
        <p:nvSpPr>
          <p:cNvPr id="182" name="Google Shape;182;p22"/>
          <p:cNvSpPr txBox="1"/>
          <p:nvPr/>
        </p:nvSpPr>
        <p:spPr>
          <a:xfrm>
            <a:off x="3451117" y="898175"/>
            <a:ext cx="20601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800">
                <a:solidFill>
                  <a:srgbClr val="999999"/>
                </a:solidFill>
              </a:rPr>
              <a:t>ORDER: DESKTOP RESPONSIVE</a:t>
            </a:r>
            <a:endParaRPr sz="800">
              <a:solidFill>
                <a:srgbClr val="999999"/>
              </a:solidFill>
            </a:endParaRPr>
          </a:p>
        </p:txBody>
      </p:sp>
      <p:sp>
        <p:nvSpPr>
          <p:cNvPr id="183" name="Google Shape;183;p22"/>
          <p:cNvSpPr txBox="1"/>
          <p:nvPr/>
        </p:nvSpPr>
        <p:spPr>
          <a:xfrm>
            <a:off x="6286378" y="898175"/>
            <a:ext cx="20601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800">
                <a:solidFill>
                  <a:srgbClr val="999999"/>
                </a:solidFill>
              </a:rPr>
              <a:t>ORDER: NEW MOBILE</a:t>
            </a:r>
            <a:endParaRPr sz="800">
              <a:solidFill>
                <a:srgbClr val="999999"/>
              </a:solidFill>
            </a:endParaRPr>
          </a:p>
        </p:txBody>
      </p:sp>
      <p:sp>
        <p:nvSpPr>
          <p:cNvPr id="184" name="Google Shape;184;p22"/>
          <p:cNvSpPr txBox="1"/>
          <p:nvPr/>
        </p:nvSpPr>
        <p:spPr>
          <a:xfrm>
            <a:off x="600602" y="447475"/>
            <a:ext cx="3723900" cy="400200"/>
          </a:xfrm>
          <a:prstGeom prst="rect">
            <a:avLst/>
          </a:prstGeom>
          <a:noFill/>
          <a:ln>
            <a:noFill/>
          </a:ln>
        </p:spPr>
        <p:txBody>
          <a:bodyPr anchorCtr="0" anchor="t" bIns="91425" lIns="91425" spcFirstLastPara="1" rIns="91425" wrap="square" tIns="91425">
            <a:spAutoFit/>
          </a:bodyPr>
          <a:lstStyle/>
          <a:p>
            <a:pPr indent="-184150" lvl="0" marL="269999" rtl="0" algn="l">
              <a:spcBef>
                <a:spcPts val="0"/>
              </a:spcBef>
              <a:spcAft>
                <a:spcPts val="0"/>
              </a:spcAft>
              <a:buClr>
                <a:srgbClr val="4B5FA0"/>
              </a:buClr>
              <a:buSzPts val="1400"/>
              <a:buFont typeface="Roboto"/>
              <a:buAutoNum type="arabicPeriod" startAt="6"/>
            </a:pPr>
            <a:r>
              <a:rPr b="1" lang="pt-BR">
                <a:solidFill>
                  <a:srgbClr val="4B5FA0"/>
                </a:solidFill>
                <a:latin typeface="Roboto"/>
                <a:ea typeface="Roboto"/>
                <a:cs typeface="Roboto"/>
                <a:sym typeface="Roboto"/>
              </a:rPr>
              <a:t>Execution</a:t>
            </a:r>
            <a:endParaRPr b="1">
              <a:solidFill>
                <a:srgbClr val="4B5FA0"/>
              </a:solidFill>
              <a:latin typeface="Roboto"/>
              <a:ea typeface="Roboto"/>
              <a:cs typeface="Roboto"/>
              <a:sym typeface="Roboto"/>
            </a:endParaRPr>
          </a:p>
        </p:txBody>
      </p:sp>
      <p:sp>
        <p:nvSpPr>
          <p:cNvPr id="185" name="Google Shape;185;p22"/>
          <p:cNvSpPr/>
          <p:nvPr/>
        </p:nvSpPr>
        <p:spPr>
          <a:xfrm rot="-8100000">
            <a:off x="2838057" y="2768649"/>
            <a:ext cx="373777" cy="373777"/>
          </a:xfrm>
          <a:prstGeom prst="corner">
            <a:avLst>
              <a:gd fmla="val 17852" name="adj1"/>
              <a:gd fmla="val 16639" name="adj2"/>
            </a:avLst>
          </a:prstGeom>
          <a:solidFill>
            <a:srgbClr val="D9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22"/>
          <p:cNvSpPr/>
          <p:nvPr/>
        </p:nvSpPr>
        <p:spPr>
          <a:xfrm rot="-8100000">
            <a:off x="5673282" y="2768649"/>
            <a:ext cx="373777" cy="373777"/>
          </a:xfrm>
          <a:prstGeom prst="corner">
            <a:avLst>
              <a:gd fmla="val 17852" name="adj1"/>
              <a:gd fmla="val 16639" name="adj2"/>
            </a:avLst>
          </a:prstGeom>
          <a:solidFill>
            <a:srgbClr val="D9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90" name="Shape 190"/>
        <p:cNvGrpSpPr/>
        <p:nvPr/>
      </p:nvGrpSpPr>
      <p:grpSpPr>
        <a:xfrm>
          <a:off x="0" y="0"/>
          <a:ext cx="0" cy="0"/>
          <a:chOff x="0" y="0"/>
          <a:chExt cx="0" cy="0"/>
        </a:xfrm>
      </p:grpSpPr>
      <p:pic>
        <p:nvPicPr>
          <p:cNvPr id="191" name="Google Shape;191;p23"/>
          <p:cNvPicPr preferRelativeResize="0"/>
          <p:nvPr/>
        </p:nvPicPr>
        <p:blipFill>
          <a:blip r:embed="rId3">
            <a:alphaModFix/>
          </a:blip>
          <a:stretch>
            <a:fillRect/>
          </a:stretch>
        </p:blipFill>
        <p:spPr>
          <a:xfrm>
            <a:off x="704100" y="1173800"/>
            <a:ext cx="1572400" cy="2862576"/>
          </a:xfrm>
          <a:prstGeom prst="rect">
            <a:avLst/>
          </a:prstGeom>
          <a:noFill/>
          <a:ln>
            <a:noFill/>
          </a:ln>
          <a:effectLst>
            <a:outerShdw blurRad="385763" rotWithShape="0" algn="bl" dir="5400000" dist="142875">
              <a:srgbClr val="000000">
                <a:alpha val="20000"/>
              </a:srgbClr>
            </a:outerShdw>
          </a:effectLst>
        </p:spPr>
      </p:pic>
      <p:sp>
        <p:nvSpPr>
          <p:cNvPr id="192" name="Google Shape;192;p23"/>
          <p:cNvSpPr txBox="1"/>
          <p:nvPr/>
        </p:nvSpPr>
        <p:spPr>
          <a:xfrm>
            <a:off x="600603" y="898175"/>
            <a:ext cx="20601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800">
                <a:solidFill>
                  <a:srgbClr val="999999"/>
                </a:solidFill>
              </a:rPr>
              <a:t>ORDER: MOBILE</a:t>
            </a:r>
            <a:endParaRPr sz="800">
              <a:solidFill>
                <a:srgbClr val="999999"/>
              </a:solidFill>
            </a:endParaRPr>
          </a:p>
        </p:txBody>
      </p:sp>
      <p:sp>
        <p:nvSpPr>
          <p:cNvPr id="193" name="Google Shape;193;p23"/>
          <p:cNvSpPr txBox="1"/>
          <p:nvPr/>
        </p:nvSpPr>
        <p:spPr>
          <a:xfrm>
            <a:off x="2618436" y="898172"/>
            <a:ext cx="14052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800">
                <a:solidFill>
                  <a:srgbClr val="999999"/>
                </a:solidFill>
              </a:rPr>
              <a:t>ORDER</a:t>
            </a:r>
            <a:r>
              <a:rPr lang="pt-BR" sz="800">
                <a:solidFill>
                  <a:srgbClr val="999999"/>
                </a:solidFill>
              </a:rPr>
              <a:t>: DESKTOP</a:t>
            </a:r>
            <a:endParaRPr sz="800">
              <a:solidFill>
                <a:srgbClr val="999999"/>
              </a:solidFill>
            </a:endParaRPr>
          </a:p>
        </p:txBody>
      </p:sp>
      <p:pic>
        <p:nvPicPr>
          <p:cNvPr id="194" name="Google Shape;194;p23"/>
          <p:cNvPicPr preferRelativeResize="0"/>
          <p:nvPr/>
        </p:nvPicPr>
        <p:blipFill>
          <a:blip r:embed="rId4">
            <a:alphaModFix/>
          </a:blip>
          <a:stretch>
            <a:fillRect/>
          </a:stretch>
        </p:blipFill>
        <p:spPr>
          <a:xfrm>
            <a:off x="2717449" y="1173800"/>
            <a:ext cx="5777240" cy="3249700"/>
          </a:xfrm>
          <a:prstGeom prst="rect">
            <a:avLst/>
          </a:prstGeom>
          <a:noFill/>
          <a:ln>
            <a:noFill/>
          </a:ln>
          <a:effectLst>
            <a:outerShdw blurRad="385763" rotWithShape="0" algn="bl" dir="5400000" dist="142875">
              <a:srgbClr val="000000">
                <a:alpha val="20000"/>
              </a:srgbClr>
            </a:outerShdw>
          </a:effectLst>
        </p:spPr>
      </p:pic>
      <p:sp>
        <p:nvSpPr>
          <p:cNvPr id="195" name="Google Shape;195;p23"/>
          <p:cNvSpPr txBox="1"/>
          <p:nvPr/>
        </p:nvSpPr>
        <p:spPr>
          <a:xfrm>
            <a:off x="600602" y="447475"/>
            <a:ext cx="3723900" cy="400200"/>
          </a:xfrm>
          <a:prstGeom prst="rect">
            <a:avLst/>
          </a:prstGeom>
          <a:noFill/>
          <a:ln>
            <a:noFill/>
          </a:ln>
        </p:spPr>
        <p:txBody>
          <a:bodyPr anchorCtr="0" anchor="t" bIns="91425" lIns="91425" spcFirstLastPara="1" rIns="91425" wrap="square" tIns="91425">
            <a:spAutoFit/>
          </a:bodyPr>
          <a:lstStyle/>
          <a:p>
            <a:pPr indent="-184150" lvl="0" marL="269999" rtl="0" algn="l">
              <a:spcBef>
                <a:spcPts val="0"/>
              </a:spcBef>
              <a:spcAft>
                <a:spcPts val="0"/>
              </a:spcAft>
              <a:buClr>
                <a:srgbClr val="4B5FA0"/>
              </a:buClr>
              <a:buSzPts val="1400"/>
              <a:buFont typeface="Roboto"/>
              <a:buAutoNum type="arabicPeriod" startAt="6"/>
            </a:pPr>
            <a:r>
              <a:rPr b="1" lang="pt-BR">
                <a:solidFill>
                  <a:srgbClr val="4B5FA0"/>
                </a:solidFill>
                <a:latin typeface="Roboto"/>
                <a:ea typeface="Roboto"/>
                <a:cs typeface="Roboto"/>
                <a:sym typeface="Roboto"/>
              </a:rPr>
              <a:t>Execution</a:t>
            </a:r>
            <a:endParaRPr b="1">
              <a:solidFill>
                <a:srgbClr val="4B5FA0"/>
              </a:solidFill>
              <a:latin typeface="Roboto"/>
              <a:ea typeface="Roboto"/>
              <a:cs typeface="Roboto"/>
              <a:sym typeface="Roboto"/>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99" name="Shape 199"/>
        <p:cNvGrpSpPr/>
        <p:nvPr/>
      </p:nvGrpSpPr>
      <p:grpSpPr>
        <a:xfrm>
          <a:off x="0" y="0"/>
          <a:ext cx="0" cy="0"/>
          <a:chOff x="0" y="0"/>
          <a:chExt cx="0" cy="0"/>
        </a:xfrm>
      </p:grpSpPr>
      <p:pic>
        <p:nvPicPr>
          <p:cNvPr id="200" name="Google Shape;200;p24"/>
          <p:cNvPicPr preferRelativeResize="0"/>
          <p:nvPr/>
        </p:nvPicPr>
        <p:blipFill rotWithShape="1">
          <a:blip r:embed="rId3">
            <a:alphaModFix/>
          </a:blip>
          <a:srcRect b="13039" l="0" r="0" t="3697"/>
          <a:stretch/>
        </p:blipFill>
        <p:spPr>
          <a:xfrm>
            <a:off x="707900" y="1173800"/>
            <a:ext cx="1957400" cy="3544850"/>
          </a:xfrm>
          <a:prstGeom prst="rect">
            <a:avLst/>
          </a:prstGeom>
          <a:noFill/>
          <a:ln>
            <a:noFill/>
          </a:ln>
          <a:effectLst>
            <a:outerShdw blurRad="385763" rotWithShape="0" algn="bl" dir="5400000" dist="142875">
              <a:srgbClr val="000000">
                <a:alpha val="20000"/>
              </a:srgbClr>
            </a:outerShdw>
          </a:effectLst>
        </p:spPr>
      </p:pic>
      <p:pic>
        <p:nvPicPr>
          <p:cNvPr id="201" name="Google Shape;201;p24"/>
          <p:cNvPicPr preferRelativeResize="0"/>
          <p:nvPr/>
        </p:nvPicPr>
        <p:blipFill rotWithShape="1">
          <a:blip r:embed="rId4">
            <a:alphaModFix/>
          </a:blip>
          <a:srcRect b="0" l="1278" r="1180" t="0"/>
          <a:stretch/>
        </p:blipFill>
        <p:spPr>
          <a:xfrm>
            <a:off x="3548887" y="1173800"/>
            <a:ext cx="1957400" cy="3544850"/>
          </a:xfrm>
          <a:prstGeom prst="rect">
            <a:avLst/>
          </a:prstGeom>
          <a:noFill/>
          <a:ln>
            <a:noFill/>
          </a:ln>
          <a:effectLst>
            <a:outerShdw blurRad="385763" rotWithShape="0" algn="bl" dir="5400000" dist="142875">
              <a:srgbClr val="000000">
                <a:alpha val="20000"/>
              </a:srgbClr>
            </a:outerShdw>
          </a:effectLst>
        </p:spPr>
      </p:pic>
      <p:pic>
        <p:nvPicPr>
          <p:cNvPr id="202" name="Google Shape;202;p24"/>
          <p:cNvPicPr preferRelativeResize="0"/>
          <p:nvPr/>
        </p:nvPicPr>
        <p:blipFill>
          <a:blip r:embed="rId5">
            <a:alphaModFix/>
          </a:blip>
          <a:stretch>
            <a:fillRect/>
          </a:stretch>
        </p:blipFill>
        <p:spPr>
          <a:xfrm>
            <a:off x="6389875" y="1173800"/>
            <a:ext cx="1957400" cy="3565089"/>
          </a:xfrm>
          <a:prstGeom prst="rect">
            <a:avLst/>
          </a:prstGeom>
          <a:noFill/>
          <a:ln>
            <a:noFill/>
          </a:ln>
          <a:effectLst>
            <a:outerShdw blurRad="385763" rotWithShape="0" algn="bl" dir="5400000" dist="142875">
              <a:srgbClr val="000000">
                <a:alpha val="20000"/>
              </a:srgbClr>
            </a:outerShdw>
          </a:effectLst>
        </p:spPr>
      </p:pic>
      <p:sp>
        <p:nvSpPr>
          <p:cNvPr id="203" name="Google Shape;203;p24"/>
          <p:cNvSpPr txBox="1"/>
          <p:nvPr/>
        </p:nvSpPr>
        <p:spPr>
          <a:xfrm>
            <a:off x="605324" y="898175"/>
            <a:ext cx="20601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800">
                <a:solidFill>
                  <a:srgbClr val="999999"/>
                </a:solidFill>
              </a:rPr>
              <a:t>DASHBOARD: OLD MOBILE</a:t>
            </a:r>
            <a:endParaRPr sz="800">
              <a:solidFill>
                <a:srgbClr val="999999"/>
              </a:solidFill>
            </a:endParaRPr>
          </a:p>
        </p:txBody>
      </p:sp>
      <p:sp>
        <p:nvSpPr>
          <p:cNvPr id="204" name="Google Shape;204;p24"/>
          <p:cNvSpPr txBox="1"/>
          <p:nvPr/>
        </p:nvSpPr>
        <p:spPr>
          <a:xfrm>
            <a:off x="3451117" y="898175"/>
            <a:ext cx="20601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800">
                <a:solidFill>
                  <a:srgbClr val="999999"/>
                </a:solidFill>
              </a:rPr>
              <a:t>DASHBOARD: DESKTOP RESPONSIVE</a:t>
            </a:r>
            <a:endParaRPr sz="800">
              <a:solidFill>
                <a:srgbClr val="999999"/>
              </a:solidFill>
            </a:endParaRPr>
          </a:p>
        </p:txBody>
      </p:sp>
      <p:sp>
        <p:nvSpPr>
          <p:cNvPr id="205" name="Google Shape;205;p24"/>
          <p:cNvSpPr txBox="1"/>
          <p:nvPr/>
        </p:nvSpPr>
        <p:spPr>
          <a:xfrm>
            <a:off x="6286378" y="898175"/>
            <a:ext cx="20601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800">
                <a:solidFill>
                  <a:srgbClr val="999999"/>
                </a:solidFill>
              </a:rPr>
              <a:t>DASHBOARD: NEW MOBILE</a:t>
            </a:r>
            <a:endParaRPr sz="800">
              <a:solidFill>
                <a:srgbClr val="999999"/>
              </a:solidFill>
            </a:endParaRPr>
          </a:p>
        </p:txBody>
      </p:sp>
      <p:sp>
        <p:nvSpPr>
          <p:cNvPr id="206" name="Google Shape;206;p24"/>
          <p:cNvSpPr txBox="1"/>
          <p:nvPr/>
        </p:nvSpPr>
        <p:spPr>
          <a:xfrm>
            <a:off x="600602" y="447475"/>
            <a:ext cx="3723900" cy="400200"/>
          </a:xfrm>
          <a:prstGeom prst="rect">
            <a:avLst/>
          </a:prstGeom>
          <a:noFill/>
          <a:ln>
            <a:noFill/>
          </a:ln>
        </p:spPr>
        <p:txBody>
          <a:bodyPr anchorCtr="0" anchor="t" bIns="91425" lIns="91425" spcFirstLastPara="1" rIns="91425" wrap="square" tIns="91425">
            <a:spAutoFit/>
          </a:bodyPr>
          <a:lstStyle/>
          <a:p>
            <a:pPr indent="-184150" lvl="0" marL="269999" rtl="0" algn="l">
              <a:spcBef>
                <a:spcPts val="0"/>
              </a:spcBef>
              <a:spcAft>
                <a:spcPts val="0"/>
              </a:spcAft>
              <a:buClr>
                <a:srgbClr val="4B5FA0"/>
              </a:buClr>
              <a:buSzPts val="1400"/>
              <a:buFont typeface="Roboto"/>
              <a:buAutoNum type="arabicPeriod" startAt="6"/>
            </a:pPr>
            <a:r>
              <a:rPr b="1" lang="pt-BR">
                <a:solidFill>
                  <a:srgbClr val="4B5FA0"/>
                </a:solidFill>
                <a:latin typeface="Roboto"/>
                <a:ea typeface="Roboto"/>
                <a:cs typeface="Roboto"/>
                <a:sym typeface="Roboto"/>
              </a:rPr>
              <a:t>Execution</a:t>
            </a:r>
            <a:endParaRPr b="1">
              <a:solidFill>
                <a:srgbClr val="4B5FA0"/>
              </a:solidFill>
              <a:latin typeface="Roboto"/>
              <a:ea typeface="Roboto"/>
              <a:cs typeface="Roboto"/>
              <a:sym typeface="Roboto"/>
            </a:endParaRPr>
          </a:p>
        </p:txBody>
      </p:sp>
      <p:sp>
        <p:nvSpPr>
          <p:cNvPr id="207" name="Google Shape;207;p24"/>
          <p:cNvSpPr/>
          <p:nvPr/>
        </p:nvSpPr>
        <p:spPr>
          <a:xfrm rot="-8100000">
            <a:off x="2838057" y="2768649"/>
            <a:ext cx="373777" cy="373777"/>
          </a:xfrm>
          <a:prstGeom prst="corner">
            <a:avLst>
              <a:gd fmla="val 17852" name="adj1"/>
              <a:gd fmla="val 16639" name="adj2"/>
            </a:avLst>
          </a:prstGeom>
          <a:solidFill>
            <a:srgbClr val="D9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24"/>
          <p:cNvSpPr/>
          <p:nvPr/>
        </p:nvSpPr>
        <p:spPr>
          <a:xfrm rot="-8100000">
            <a:off x="5673282" y="2768649"/>
            <a:ext cx="373777" cy="373777"/>
          </a:xfrm>
          <a:prstGeom prst="corner">
            <a:avLst>
              <a:gd fmla="val 17852" name="adj1"/>
              <a:gd fmla="val 16639" name="adj2"/>
            </a:avLst>
          </a:prstGeom>
          <a:solidFill>
            <a:srgbClr val="D9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212" name="Shape 212"/>
        <p:cNvGrpSpPr/>
        <p:nvPr/>
      </p:nvGrpSpPr>
      <p:grpSpPr>
        <a:xfrm>
          <a:off x="0" y="0"/>
          <a:ext cx="0" cy="0"/>
          <a:chOff x="0" y="0"/>
          <a:chExt cx="0" cy="0"/>
        </a:xfrm>
      </p:grpSpPr>
      <p:pic>
        <p:nvPicPr>
          <p:cNvPr id="213" name="Google Shape;213;p25"/>
          <p:cNvPicPr preferRelativeResize="0"/>
          <p:nvPr/>
        </p:nvPicPr>
        <p:blipFill>
          <a:blip r:embed="rId3">
            <a:alphaModFix/>
          </a:blip>
          <a:stretch>
            <a:fillRect/>
          </a:stretch>
        </p:blipFill>
        <p:spPr>
          <a:xfrm>
            <a:off x="707900" y="1173800"/>
            <a:ext cx="1572404" cy="2863862"/>
          </a:xfrm>
          <a:prstGeom prst="rect">
            <a:avLst/>
          </a:prstGeom>
          <a:noFill/>
          <a:ln>
            <a:noFill/>
          </a:ln>
          <a:effectLst>
            <a:outerShdw blurRad="385763" rotWithShape="0" algn="bl" dir="5400000" dist="142875">
              <a:srgbClr val="000000">
                <a:alpha val="20000"/>
              </a:srgbClr>
            </a:outerShdw>
          </a:effectLst>
        </p:spPr>
      </p:pic>
      <p:pic>
        <p:nvPicPr>
          <p:cNvPr id="214" name="Google Shape;214;p25"/>
          <p:cNvPicPr preferRelativeResize="0"/>
          <p:nvPr/>
        </p:nvPicPr>
        <p:blipFill>
          <a:blip r:embed="rId4">
            <a:alphaModFix/>
          </a:blip>
          <a:stretch>
            <a:fillRect/>
          </a:stretch>
        </p:blipFill>
        <p:spPr>
          <a:xfrm>
            <a:off x="2715424" y="1173800"/>
            <a:ext cx="5674374" cy="3190276"/>
          </a:xfrm>
          <a:prstGeom prst="rect">
            <a:avLst/>
          </a:prstGeom>
          <a:noFill/>
          <a:ln>
            <a:noFill/>
          </a:ln>
          <a:effectLst>
            <a:outerShdw blurRad="385763" rotWithShape="0" algn="bl" dir="5400000" dist="142875">
              <a:srgbClr val="000000">
                <a:alpha val="20000"/>
              </a:srgbClr>
            </a:outerShdw>
          </a:effectLst>
        </p:spPr>
      </p:pic>
      <p:sp>
        <p:nvSpPr>
          <p:cNvPr id="215" name="Google Shape;215;p25"/>
          <p:cNvSpPr txBox="1"/>
          <p:nvPr/>
        </p:nvSpPr>
        <p:spPr>
          <a:xfrm>
            <a:off x="605326" y="898172"/>
            <a:ext cx="14052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800">
                <a:solidFill>
                  <a:srgbClr val="999999"/>
                </a:solidFill>
              </a:rPr>
              <a:t>DASHBOARD: MOBILE</a:t>
            </a:r>
            <a:endParaRPr sz="800">
              <a:solidFill>
                <a:srgbClr val="999999"/>
              </a:solidFill>
            </a:endParaRPr>
          </a:p>
        </p:txBody>
      </p:sp>
      <p:sp>
        <p:nvSpPr>
          <p:cNvPr id="216" name="Google Shape;216;p25"/>
          <p:cNvSpPr txBox="1"/>
          <p:nvPr/>
        </p:nvSpPr>
        <p:spPr>
          <a:xfrm>
            <a:off x="2618436" y="898172"/>
            <a:ext cx="14052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800">
                <a:solidFill>
                  <a:srgbClr val="999999"/>
                </a:solidFill>
              </a:rPr>
              <a:t>DASHBOARD: DESKTOP</a:t>
            </a:r>
            <a:endParaRPr sz="800">
              <a:solidFill>
                <a:srgbClr val="999999"/>
              </a:solidFill>
            </a:endParaRPr>
          </a:p>
        </p:txBody>
      </p:sp>
      <p:sp>
        <p:nvSpPr>
          <p:cNvPr id="217" name="Google Shape;217;p25"/>
          <p:cNvSpPr txBox="1"/>
          <p:nvPr/>
        </p:nvSpPr>
        <p:spPr>
          <a:xfrm>
            <a:off x="600602" y="447475"/>
            <a:ext cx="3723900" cy="400200"/>
          </a:xfrm>
          <a:prstGeom prst="rect">
            <a:avLst/>
          </a:prstGeom>
          <a:noFill/>
          <a:ln>
            <a:noFill/>
          </a:ln>
        </p:spPr>
        <p:txBody>
          <a:bodyPr anchorCtr="0" anchor="t" bIns="91425" lIns="91425" spcFirstLastPara="1" rIns="91425" wrap="square" tIns="91425">
            <a:spAutoFit/>
          </a:bodyPr>
          <a:lstStyle/>
          <a:p>
            <a:pPr indent="-184150" lvl="0" marL="269999" rtl="0" algn="l">
              <a:spcBef>
                <a:spcPts val="0"/>
              </a:spcBef>
              <a:spcAft>
                <a:spcPts val="0"/>
              </a:spcAft>
              <a:buClr>
                <a:srgbClr val="4B5FA0"/>
              </a:buClr>
              <a:buSzPts val="1400"/>
              <a:buFont typeface="Roboto"/>
              <a:buAutoNum type="arabicPeriod" startAt="6"/>
            </a:pPr>
            <a:r>
              <a:rPr b="1" lang="pt-BR">
                <a:solidFill>
                  <a:srgbClr val="4B5FA0"/>
                </a:solidFill>
                <a:latin typeface="Roboto"/>
                <a:ea typeface="Roboto"/>
                <a:cs typeface="Roboto"/>
                <a:sym typeface="Roboto"/>
              </a:rPr>
              <a:t>Execution</a:t>
            </a:r>
            <a:endParaRPr b="1">
              <a:solidFill>
                <a:srgbClr val="4B5FA0"/>
              </a:solidFill>
              <a:latin typeface="Roboto"/>
              <a:ea typeface="Roboto"/>
              <a:cs typeface="Roboto"/>
              <a:sym typeface="Roboto"/>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1" name="Shape 221"/>
        <p:cNvGrpSpPr/>
        <p:nvPr/>
      </p:nvGrpSpPr>
      <p:grpSpPr>
        <a:xfrm>
          <a:off x="0" y="0"/>
          <a:ext cx="0" cy="0"/>
          <a:chOff x="0" y="0"/>
          <a:chExt cx="0" cy="0"/>
        </a:xfrm>
      </p:grpSpPr>
      <p:sp>
        <p:nvSpPr>
          <p:cNvPr id="222" name="Google Shape;222;p26"/>
          <p:cNvSpPr txBox="1"/>
          <p:nvPr/>
        </p:nvSpPr>
        <p:spPr>
          <a:xfrm>
            <a:off x="600602" y="447475"/>
            <a:ext cx="3723900" cy="400200"/>
          </a:xfrm>
          <a:prstGeom prst="rect">
            <a:avLst/>
          </a:prstGeom>
          <a:noFill/>
          <a:ln>
            <a:noFill/>
          </a:ln>
        </p:spPr>
        <p:txBody>
          <a:bodyPr anchorCtr="0" anchor="t" bIns="91425" lIns="91425" spcFirstLastPara="1" rIns="91425" wrap="square" tIns="91425">
            <a:spAutoFit/>
          </a:bodyPr>
          <a:lstStyle/>
          <a:p>
            <a:pPr indent="-184150" lvl="0" marL="269999" rtl="0" algn="l">
              <a:spcBef>
                <a:spcPts val="0"/>
              </a:spcBef>
              <a:spcAft>
                <a:spcPts val="0"/>
              </a:spcAft>
              <a:buClr>
                <a:srgbClr val="4B5FA0"/>
              </a:buClr>
              <a:buSzPts val="1400"/>
              <a:buFont typeface="Roboto"/>
              <a:buAutoNum type="arabicPeriod" startAt="7"/>
            </a:pPr>
            <a:r>
              <a:rPr b="1" lang="pt-BR">
                <a:solidFill>
                  <a:srgbClr val="4B5FA0"/>
                </a:solidFill>
                <a:latin typeface="Roboto"/>
                <a:ea typeface="Roboto"/>
                <a:cs typeface="Roboto"/>
                <a:sym typeface="Roboto"/>
              </a:rPr>
              <a:t>Results</a:t>
            </a:r>
            <a:endParaRPr b="1">
              <a:solidFill>
                <a:srgbClr val="4B5FA0"/>
              </a:solidFill>
              <a:latin typeface="Roboto"/>
              <a:ea typeface="Roboto"/>
              <a:cs typeface="Roboto"/>
              <a:sym typeface="Roboto"/>
            </a:endParaRPr>
          </a:p>
        </p:txBody>
      </p:sp>
      <p:sp>
        <p:nvSpPr>
          <p:cNvPr id="223" name="Google Shape;223;p26"/>
          <p:cNvSpPr txBox="1"/>
          <p:nvPr/>
        </p:nvSpPr>
        <p:spPr>
          <a:xfrm>
            <a:off x="6261175" y="1092000"/>
            <a:ext cx="2193600" cy="1877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2200">
                <a:solidFill>
                  <a:schemeClr val="dk2"/>
                </a:solidFill>
                <a:latin typeface="Roboto"/>
                <a:ea typeface="Roboto"/>
                <a:cs typeface="Roboto"/>
                <a:sym typeface="Roboto"/>
              </a:rPr>
              <a:t>Dedicated</a:t>
            </a:r>
            <a:r>
              <a:rPr lang="pt-BR" sz="2200">
                <a:solidFill>
                  <a:schemeClr val="dk2"/>
                </a:solidFill>
                <a:latin typeface="Roboto"/>
                <a:ea typeface="Roboto"/>
                <a:cs typeface="Roboto"/>
                <a:sym typeface="Roboto"/>
              </a:rPr>
              <a:t> team of 2 designers and 1 dev to improve and evolve the DS</a:t>
            </a:r>
            <a:endParaRPr sz="2200">
              <a:solidFill>
                <a:schemeClr val="dk2"/>
              </a:solidFill>
              <a:latin typeface="Roboto"/>
              <a:ea typeface="Roboto"/>
              <a:cs typeface="Roboto"/>
              <a:sym typeface="Roboto"/>
            </a:endParaRPr>
          </a:p>
        </p:txBody>
      </p:sp>
      <p:sp>
        <p:nvSpPr>
          <p:cNvPr id="224" name="Google Shape;224;p26"/>
          <p:cNvSpPr txBox="1"/>
          <p:nvPr/>
        </p:nvSpPr>
        <p:spPr>
          <a:xfrm>
            <a:off x="3435250" y="1092000"/>
            <a:ext cx="2193600" cy="1877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2200">
                <a:solidFill>
                  <a:schemeClr val="dk2"/>
                </a:solidFill>
                <a:latin typeface="Roboto"/>
                <a:ea typeface="Roboto"/>
                <a:cs typeface="Roboto"/>
                <a:sym typeface="Roboto"/>
              </a:rPr>
              <a:t>13 applications, mobile and desktop, using the design system</a:t>
            </a:r>
            <a:endParaRPr sz="2200">
              <a:solidFill>
                <a:schemeClr val="dk2"/>
              </a:solidFill>
              <a:latin typeface="Roboto"/>
              <a:ea typeface="Roboto"/>
              <a:cs typeface="Roboto"/>
              <a:sym typeface="Roboto"/>
            </a:endParaRPr>
          </a:p>
        </p:txBody>
      </p:sp>
      <p:sp>
        <p:nvSpPr>
          <p:cNvPr id="225" name="Google Shape;225;p26"/>
          <p:cNvSpPr txBox="1"/>
          <p:nvPr/>
        </p:nvSpPr>
        <p:spPr>
          <a:xfrm>
            <a:off x="609337" y="1092000"/>
            <a:ext cx="2193600" cy="1877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2200">
                <a:solidFill>
                  <a:schemeClr val="dk2"/>
                </a:solidFill>
                <a:latin typeface="Roboto"/>
                <a:ea typeface="Roboto"/>
                <a:cs typeface="Roboto"/>
                <a:sym typeface="Roboto"/>
              </a:rPr>
              <a:t>+40 atomic components, compounds </a:t>
            </a:r>
            <a:r>
              <a:rPr lang="pt-BR" sz="2200">
                <a:solidFill>
                  <a:schemeClr val="dk2"/>
                </a:solidFill>
                <a:latin typeface="Roboto"/>
                <a:ea typeface="Roboto"/>
                <a:cs typeface="Roboto"/>
                <a:sym typeface="Roboto"/>
              </a:rPr>
              <a:t>components </a:t>
            </a:r>
            <a:r>
              <a:rPr lang="pt-BR" sz="2200">
                <a:solidFill>
                  <a:schemeClr val="dk2"/>
                </a:solidFill>
                <a:latin typeface="Roboto"/>
                <a:ea typeface="Roboto"/>
                <a:cs typeface="Roboto"/>
                <a:sym typeface="Roboto"/>
              </a:rPr>
              <a:t>and patterns</a:t>
            </a:r>
            <a:endParaRPr sz="2200">
              <a:solidFill>
                <a:schemeClr val="dk2"/>
              </a:solidFill>
              <a:latin typeface="Roboto"/>
              <a:ea typeface="Roboto"/>
              <a:cs typeface="Roboto"/>
              <a:sym typeface="Roboto"/>
            </a:endParaRPr>
          </a:p>
        </p:txBody>
      </p:sp>
      <p:sp>
        <p:nvSpPr>
          <p:cNvPr id="226" name="Google Shape;226;p26"/>
          <p:cNvSpPr txBox="1"/>
          <p:nvPr/>
        </p:nvSpPr>
        <p:spPr>
          <a:xfrm>
            <a:off x="628750" y="3061625"/>
            <a:ext cx="1964100" cy="1369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1000"/>
              </a:spcAft>
              <a:buNone/>
            </a:pPr>
            <a:r>
              <a:rPr lang="pt-BR" sz="1100">
                <a:solidFill>
                  <a:srgbClr val="666666"/>
                </a:solidFill>
                <a:latin typeface="Roboto"/>
                <a:ea typeface="Roboto"/>
                <a:cs typeface="Roboto"/>
                <a:sym typeface="Roboto"/>
              </a:rPr>
              <a:t>The redesign project isn't over yet, but so far we have a big number of components created, among atomic, composites and patterns, within the app redesign cycles.</a:t>
            </a:r>
            <a:endParaRPr sz="1100">
              <a:solidFill>
                <a:srgbClr val="666666"/>
              </a:solidFill>
              <a:latin typeface="Roboto"/>
              <a:ea typeface="Roboto"/>
              <a:cs typeface="Roboto"/>
              <a:sym typeface="Roboto"/>
            </a:endParaRPr>
          </a:p>
        </p:txBody>
      </p:sp>
      <p:sp>
        <p:nvSpPr>
          <p:cNvPr id="227" name="Google Shape;227;p26"/>
          <p:cNvSpPr txBox="1"/>
          <p:nvPr/>
        </p:nvSpPr>
        <p:spPr>
          <a:xfrm>
            <a:off x="3453316" y="3061625"/>
            <a:ext cx="1964100" cy="1369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1000"/>
              </a:spcAft>
              <a:buNone/>
            </a:pPr>
            <a:r>
              <a:rPr lang="pt-BR" sz="1100">
                <a:solidFill>
                  <a:srgbClr val="666666"/>
                </a:solidFill>
                <a:latin typeface="Roboto"/>
                <a:ea typeface="Roboto"/>
                <a:cs typeface="Roboto"/>
                <a:sym typeface="Roboto"/>
              </a:rPr>
              <a:t>At the moment, we have 4 different teams using our design system, without adoption issues. This is generating a lot of learning and opportunities for improvement.</a:t>
            </a:r>
            <a:endParaRPr sz="1100">
              <a:solidFill>
                <a:srgbClr val="666666"/>
              </a:solidFill>
              <a:latin typeface="Roboto"/>
              <a:ea typeface="Roboto"/>
              <a:cs typeface="Roboto"/>
              <a:sym typeface="Roboto"/>
            </a:endParaRPr>
          </a:p>
        </p:txBody>
      </p:sp>
      <p:sp>
        <p:nvSpPr>
          <p:cNvPr id="228" name="Google Shape;228;p26"/>
          <p:cNvSpPr txBox="1"/>
          <p:nvPr/>
        </p:nvSpPr>
        <p:spPr>
          <a:xfrm>
            <a:off x="6288875" y="3061625"/>
            <a:ext cx="2051100" cy="1369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1000"/>
              </a:spcAft>
              <a:buNone/>
            </a:pPr>
            <a:r>
              <a:rPr lang="pt-BR" sz="1100">
                <a:solidFill>
                  <a:srgbClr val="666666"/>
                </a:solidFill>
                <a:latin typeface="Roboto"/>
                <a:ea typeface="Roboto"/>
                <a:cs typeface="Roboto"/>
                <a:sym typeface="Roboto"/>
              </a:rPr>
              <a:t>As DS usage escalated, we were able to justify the need to have a dedicated team with designers and front-end devs. This was very important for us to have focus and also pace of delivery.</a:t>
            </a:r>
            <a:endParaRPr sz="1100">
              <a:solidFill>
                <a:srgbClr val="666666"/>
              </a:solidFill>
              <a:latin typeface="Roboto"/>
              <a:ea typeface="Roboto"/>
              <a:cs typeface="Roboto"/>
              <a:sym typeface="Roboto"/>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2" name="Shape 232"/>
        <p:cNvGrpSpPr/>
        <p:nvPr/>
      </p:nvGrpSpPr>
      <p:grpSpPr>
        <a:xfrm>
          <a:off x="0" y="0"/>
          <a:ext cx="0" cy="0"/>
          <a:chOff x="0" y="0"/>
          <a:chExt cx="0" cy="0"/>
        </a:xfrm>
      </p:grpSpPr>
      <p:sp>
        <p:nvSpPr>
          <p:cNvPr id="233" name="Google Shape;233;p27"/>
          <p:cNvSpPr txBox="1"/>
          <p:nvPr/>
        </p:nvSpPr>
        <p:spPr>
          <a:xfrm>
            <a:off x="600602" y="447475"/>
            <a:ext cx="3723900" cy="400200"/>
          </a:xfrm>
          <a:prstGeom prst="rect">
            <a:avLst/>
          </a:prstGeom>
          <a:noFill/>
          <a:ln>
            <a:noFill/>
          </a:ln>
        </p:spPr>
        <p:txBody>
          <a:bodyPr anchorCtr="0" anchor="t" bIns="91425" lIns="91425" spcFirstLastPara="1" rIns="91425" wrap="square" tIns="91425">
            <a:spAutoFit/>
          </a:bodyPr>
          <a:lstStyle/>
          <a:p>
            <a:pPr indent="-184150" lvl="0" marL="269999" rtl="0" algn="l">
              <a:spcBef>
                <a:spcPts val="0"/>
              </a:spcBef>
              <a:spcAft>
                <a:spcPts val="0"/>
              </a:spcAft>
              <a:buClr>
                <a:srgbClr val="4B5FA0"/>
              </a:buClr>
              <a:buSzPts val="1400"/>
              <a:buFont typeface="Roboto"/>
              <a:buAutoNum type="arabicPeriod" startAt="7"/>
            </a:pPr>
            <a:r>
              <a:rPr b="1" lang="pt-BR">
                <a:solidFill>
                  <a:srgbClr val="4B5FA0"/>
                </a:solidFill>
                <a:latin typeface="Roboto"/>
                <a:ea typeface="Roboto"/>
                <a:cs typeface="Roboto"/>
                <a:sym typeface="Roboto"/>
              </a:rPr>
              <a:t>Results</a:t>
            </a:r>
            <a:endParaRPr b="1">
              <a:solidFill>
                <a:srgbClr val="4B5FA0"/>
              </a:solidFill>
              <a:latin typeface="Roboto"/>
              <a:ea typeface="Roboto"/>
              <a:cs typeface="Roboto"/>
              <a:sym typeface="Roboto"/>
            </a:endParaRPr>
          </a:p>
        </p:txBody>
      </p:sp>
      <p:sp>
        <p:nvSpPr>
          <p:cNvPr id="234" name="Google Shape;234;p27"/>
          <p:cNvSpPr txBox="1"/>
          <p:nvPr/>
        </p:nvSpPr>
        <p:spPr>
          <a:xfrm>
            <a:off x="612950" y="885650"/>
            <a:ext cx="2053800" cy="1723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2000">
                <a:solidFill>
                  <a:srgbClr val="666666"/>
                </a:solidFill>
                <a:latin typeface="Roboto"/>
                <a:ea typeface="Roboto"/>
                <a:cs typeface="Roboto"/>
                <a:sym typeface="Roboto"/>
              </a:rPr>
              <a:t>Coverage: </a:t>
            </a:r>
            <a:endParaRPr sz="2000">
              <a:solidFill>
                <a:srgbClr val="666666"/>
              </a:solidFill>
              <a:latin typeface="Roboto"/>
              <a:ea typeface="Roboto"/>
              <a:cs typeface="Roboto"/>
              <a:sym typeface="Roboto"/>
            </a:endParaRPr>
          </a:p>
          <a:p>
            <a:pPr indent="0" lvl="0" marL="0" rtl="0" algn="l">
              <a:spcBef>
                <a:spcPts val="0"/>
              </a:spcBef>
              <a:spcAft>
                <a:spcPts val="0"/>
              </a:spcAft>
              <a:buNone/>
            </a:pPr>
            <a:r>
              <a:rPr lang="pt-BR" sz="2000">
                <a:solidFill>
                  <a:srgbClr val="666666"/>
                </a:solidFill>
                <a:latin typeface="Roboto"/>
                <a:ea typeface="Roboto"/>
                <a:cs typeface="Roboto"/>
                <a:sym typeface="Roboto"/>
              </a:rPr>
              <a:t>how many % of the front-end of the application is Nimbus?</a:t>
            </a:r>
            <a:endParaRPr sz="2000">
              <a:solidFill>
                <a:srgbClr val="666666"/>
              </a:solidFill>
              <a:latin typeface="Roboto"/>
              <a:ea typeface="Roboto"/>
              <a:cs typeface="Roboto"/>
              <a:sym typeface="Roboto"/>
            </a:endParaRPr>
          </a:p>
        </p:txBody>
      </p:sp>
      <p:sp>
        <p:nvSpPr>
          <p:cNvPr id="235" name="Google Shape;235;p27"/>
          <p:cNvSpPr txBox="1"/>
          <p:nvPr/>
        </p:nvSpPr>
        <p:spPr>
          <a:xfrm>
            <a:off x="628750" y="2676975"/>
            <a:ext cx="2093100" cy="1877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1000"/>
              </a:spcAft>
              <a:buNone/>
            </a:pPr>
            <a:r>
              <a:rPr lang="pt-BR" sz="1100">
                <a:solidFill>
                  <a:srgbClr val="666666"/>
                </a:solidFill>
                <a:latin typeface="Roboto"/>
                <a:ea typeface="Roboto"/>
                <a:cs typeface="Roboto"/>
                <a:sym typeface="Roboto"/>
              </a:rPr>
              <a:t>To find out if our DS was meeting the needs of the teams, we created a metric that semi-automatically measures how many % of the front-end of the applications are Nimbus and how many % are other custom components. The goal is to be above 90% on average.</a:t>
            </a:r>
            <a:endParaRPr sz="1100">
              <a:solidFill>
                <a:srgbClr val="666666"/>
              </a:solidFill>
              <a:latin typeface="Roboto"/>
              <a:ea typeface="Roboto"/>
              <a:cs typeface="Roboto"/>
              <a:sym typeface="Roboto"/>
            </a:endParaRPr>
          </a:p>
        </p:txBody>
      </p:sp>
      <p:pic>
        <p:nvPicPr>
          <p:cNvPr id="236" name="Google Shape;236;p27" title="Chart"/>
          <p:cNvPicPr preferRelativeResize="0"/>
          <p:nvPr/>
        </p:nvPicPr>
        <p:blipFill>
          <a:blip r:embed="rId3">
            <a:alphaModFix/>
          </a:blip>
          <a:stretch>
            <a:fillRect/>
          </a:stretch>
        </p:blipFill>
        <p:spPr>
          <a:xfrm>
            <a:off x="2985750" y="776450"/>
            <a:ext cx="5576625" cy="4567901"/>
          </a:xfrm>
          <a:prstGeom prst="rect">
            <a:avLst/>
          </a:prstGeom>
          <a:noFill/>
          <a:ln>
            <a:noFill/>
          </a:ln>
        </p:spPr>
      </p:pic>
      <p:sp>
        <p:nvSpPr>
          <p:cNvPr id="237" name="Google Shape;237;p27"/>
          <p:cNvSpPr/>
          <p:nvPr/>
        </p:nvSpPr>
        <p:spPr>
          <a:xfrm>
            <a:off x="2954275" y="4637400"/>
            <a:ext cx="5908500" cy="6591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1" name="Shape 241"/>
        <p:cNvGrpSpPr/>
        <p:nvPr/>
      </p:nvGrpSpPr>
      <p:grpSpPr>
        <a:xfrm>
          <a:off x="0" y="0"/>
          <a:ext cx="0" cy="0"/>
          <a:chOff x="0" y="0"/>
          <a:chExt cx="0" cy="0"/>
        </a:xfrm>
      </p:grpSpPr>
      <p:sp>
        <p:nvSpPr>
          <p:cNvPr id="242" name="Google Shape;242;p28"/>
          <p:cNvSpPr txBox="1"/>
          <p:nvPr/>
        </p:nvSpPr>
        <p:spPr>
          <a:xfrm>
            <a:off x="612950" y="885650"/>
            <a:ext cx="2393400" cy="1416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2000">
                <a:solidFill>
                  <a:srgbClr val="666666"/>
                </a:solidFill>
                <a:latin typeface="Roboto"/>
                <a:ea typeface="Roboto"/>
                <a:cs typeface="Roboto"/>
                <a:sym typeface="Roboto"/>
              </a:rPr>
              <a:t>Overrides</a:t>
            </a:r>
            <a:r>
              <a:rPr lang="pt-BR" sz="2000">
                <a:solidFill>
                  <a:srgbClr val="666666"/>
                </a:solidFill>
                <a:latin typeface="Roboto"/>
                <a:ea typeface="Roboto"/>
                <a:cs typeface="Roboto"/>
                <a:sym typeface="Roboto"/>
              </a:rPr>
              <a:t>: </a:t>
            </a:r>
            <a:endParaRPr sz="2000">
              <a:solidFill>
                <a:srgbClr val="666666"/>
              </a:solidFill>
              <a:latin typeface="Roboto"/>
              <a:ea typeface="Roboto"/>
              <a:cs typeface="Roboto"/>
              <a:sym typeface="Roboto"/>
            </a:endParaRPr>
          </a:p>
          <a:p>
            <a:pPr indent="0" lvl="0" marL="0" rtl="0" algn="l">
              <a:spcBef>
                <a:spcPts val="0"/>
              </a:spcBef>
              <a:spcAft>
                <a:spcPts val="0"/>
              </a:spcAft>
              <a:buNone/>
            </a:pPr>
            <a:r>
              <a:rPr lang="pt-BR" sz="2000">
                <a:solidFill>
                  <a:srgbClr val="666666"/>
                </a:solidFill>
                <a:latin typeface="Roboto"/>
                <a:ea typeface="Roboto"/>
                <a:cs typeface="Roboto"/>
                <a:sym typeface="Roboto"/>
              </a:rPr>
              <a:t>how many % of the components used were customised?</a:t>
            </a:r>
            <a:endParaRPr sz="2000">
              <a:solidFill>
                <a:srgbClr val="666666"/>
              </a:solidFill>
              <a:latin typeface="Roboto"/>
              <a:ea typeface="Roboto"/>
              <a:cs typeface="Roboto"/>
              <a:sym typeface="Roboto"/>
            </a:endParaRPr>
          </a:p>
        </p:txBody>
      </p:sp>
      <p:sp>
        <p:nvSpPr>
          <p:cNvPr id="243" name="Google Shape;243;p28"/>
          <p:cNvSpPr txBox="1"/>
          <p:nvPr/>
        </p:nvSpPr>
        <p:spPr>
          <a:xfrm>
            <a:off x="600602" y="447475"/>
            <a:ext cx="3723900" cy="400200"/>
          </a:xfrm>
          <a:prstGeom prst="rect">
            <a:avLst/>
          </a:prstGeom>
          <a:noFill/>
          <a:ln>
            <a:noFill/>
          </a:ln>
        </p:spPr>
        <p:txBody>
          <a:bodyPr anchorCtr="0" anchor="t" bIns="91425" lIns="91425" spcFirstLastPara="1" rIns="91425" wrap="square" tIns="91425">
            <a:spAutoFit/>
          </a:bodyPr>
          <a:lstStyle/>
          <a:p>
            <a:pPr indent="-184150" lvl="0" marL="269999" rtl="0" algn="l">
              <a:spcBef>
                <a:spcPts val="0"/>
              </a:spcBef>
              <a:spcAft>
                <a:spcPts val="0"/>
              </a:spcAft>
              <a:buClr>
                <a:srgbClr val="4B5FA0"/>
              </a:buClr>
              <a:buSzPts val="1400"/>
              <a:buFont typeface="Roboto"/>
              <a:buAutoNum type="arabicPeriod" startAt="7"/>
            </a:pPr>
            <a:r>
              <a:rPr b="1" lang="pt-BR">
                <a:solidFill>
                  <a:srgbClr val="4B5FA0"/>
                </a:solidFill>
                <a:latin typeface="Roboto"/>
                <a:ea typeface="Roboto"/>
                <a:cs typeface="Roboto"/>
                <a:sym typeface="Roboto"/>
              </a:rPr>
              <a:t>Results</a:t>
            </a:r>
            <a:endParaRPr b="1">
              <a:solidFill>
                <a:srgbClr val="4B5FA0"/>
              </a:solidFill>
              <a:latin typeface="Roboto"/>
              <a:ea typeface="Roboto"/>
              <a:cs typeface="Roboto"/>
              <a:sym typeface="Roboto"/>
            </a:endParaRPr>
          </a:p>
        </p:txBody>
      </p:sp>
      <p:sp>
        <p:nvSpPr>
          <p:cNvPr id="244" name="Google Shape;244;p28"/>
          <p:cNvSpPr txBox="1"/>
          <p:nvPr/>
        </p:nvSpPr>
        <p:spPr>
          <a:xfrm>
            <a:off x="628750" y="2372175"/>
            <a:ext cx="2377500" cy="2344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1100">
                <a:solidFill>
                  <a:srgbClr val="666666"/>
                </a:solidFill>
                <a:latin typeface="Roboto"/>
                <a:ea typeface="Roboto"/>
                <a:cs typeface="Roboto"/>
                <a:sym typeface="Roboto"/>
              </a:rPr>
              <a:t>Along with the Coverage metric, we created the Overrides metric, which measures how many % of the used components of our design system have been customized or modified inside de applications. The goal is to be below 10%.</a:t>
            </a:r>
            <a:endParaRPr sz="1100">
              <a:solidFill>
                <a:srgbClr val="666666"/>
              </a:solidFill>
              <a:latin typeface="Roboto"/>
              <a:ea typeface="Roboto"/>
              <a:cs typeface="Roboto"/>
              <a:sym typeface="Roboto"/>
            </a:endParaRPr>
          </a:p>
          <a:p>
            <a:pPr indent="0" lvl="0" marL="0" rtl="0" algn="l">
              <a:spcBef>
                <a:spcPts val="1000"/>
              </a:spcBef>
              <a:spcAft>
                <a:spcPts val="1000"/>
              </a:spcAft>
              <a:buNone/>
            </a:pPr>
            <a:r>
              <a:rPr lang="pt-BR" sz="1100">
                <a:solidFill>
                  <a:srgbClr val="666666"/>
                </a:solidFill>
                <a:latin typeface="Roboto"/>
                <a:ea typeface="Roboto"/>
                <a:cs typeface="Roboto"/>
                <a:sym typeface="Roboto"/>
              </a:rPr>
              <a:t>With these two metrics, we were able to identify opportunities to meet the needs of the teams and keep a more accurate track of Nimbus adoption.</a:t>
            </a:r>
            <a:endParaRPr sz="1100">
              <a:solidFill>
                <a:srgbClr val="666666"/>
              </a:solidFill>
              <a:latin typeface="Roboto"/>
              <a:ea typeface="Roboto"/>
              <a:cs typeface="Roboto"/>
              <a:sym typeface="Roboto"/>
            </a:endParaRPr>
          </a:p>
        </p:txBody>
      </p:sp>
      <p:pic>
        <p:nvPicPr>
          <p:cNvPr id="245" name="Google Shape;245;p28" title="Chart"/>
          <p:cNvPicPr preferRelativeResize="0"/>
          <p:nvPr/>
        </p:nvPicPr>
        <p:blipFill>
          <a:blip r:embed="rId3">
            <a:alphaModFix/>
          </a:blip>
          <a:stretch>
            <a:fillRect/>
          </a:stretch>
        </p:blipFill>
        <p:spPr>
          <a:xfrm>
            <a:off x="3042175" y="85675"/>
            <a:ext cx="5552092" cy="5362624"/>
          </a:xfrm>
          <a:prstGeom prst="rect">
            <a:avLst/>
          </a:prstGeom>
          <a:noFill/>
          <a:ln>
            <a:noFill/>
          </a:ln>
        </p:spPr>
      </p:pic>
      <p:sp>
        <p:nvSpPr>
          <p:cNvPr id="246" name="Google Shape;246;p28"/>
          <p:cNvSpPr/>
          <p:nvPr/>
        </p:nvSpPr>
        <p:spPr>
          <a:xfrm>
            <a:off x="2954275" y="4637400"/>
            <a:ext cx="5908500" cy="6591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4B5FA0"/>
        </a:solidFill>
      </p:bgPr>
    </p:bg>
    <p:spTree>
      <p:nvGrpSpPr>
        <p:cNvPr id="250" name="Shape 250"/>
        <p:cNvGrpSpPr/>
        <p:nvPr/>
      </p:nvGrpSpPr>
      <p:grpSpPr>
        <a:xfrm>
          <a:off x="0" y="0"/>
          <a:ext cx="0" cy="0"/>
          <a:chOff x="0" y="0"/>
          <a:chExt cx="0" cy="0"/>
        </a:xfrm>
      </p:grpSpPr>
      <p:sp>
        <p:nvSpPr>
          <p:cNvPr id="251" name="Google Shape;251;p29"/>
          <p:cNvSpPr txBox="1"/>
          <p:nvPr/>
        </p:nvSpPr>
        <p:spPr>
          <a:xfrm>
            <a:off x="611832" y="447475"/>
            <a:ext cx="3723900" cy="400200"/>
          </a:xfrm>
          <a:prstGeom prst="rect">
            <a:avLst/>
          </a:prstGeom>
          <a:noFill/>
          <a:ln>
            <a:noFill/>
          </a:ln>
        </p:spPr>
        <p:txBody>
          <a:bodyPr anchorCtr="0" anchor="t" bIns="91425" lIns="91425" spcFirstLastPara="1" rIns="91425" wrap="square" tIns="91425">
            <a:spAutoFit/>
          </a:bodyPr>
          <a:lstStyle/>
          <a:p>
            <a:pPr indent="-184150" lvl="0" marL="269999" rtl="0" algn="l">
              <a:spcBef>
                <a:spcPts val="0"/>
              </a:spcBef>
              <a:spcAft>
                <a:spcPts val="0"/>
              </a:spcAft>
              <a:buClr>
                <a:srgbClr val="F3F3F3"/>
              </a:buClr>
              <a:buSzPts val="1400"/>
              <a:buFont typeface="Roboto"/>
              <a:buAutoNum type="arabicPeriod" startAt="8"/>
            </a:pPr>
            <a:r>
              <a:rPr b="1" lang="pt-BR">
                <a:solidFill>
                  <a:srgbClr val="F3F3F3"/>
                </a:solidFill>
                <a:latin typeface="Roboto"/>
                <a:ea typeface="Roboto"/>
                <a:cs typeface="Roboto"/>
                <a:sym typeface="Roboto"/>
              </a:rPr>
              <a:t>Learnings</a:t>
            </a:r>
            <a:endParaRPr b="1">
              <a:solidFill>
                <a:srgbClr val="F3F3F3"/>
              </a:solidFill>
              <a:latin typeface="Roboto"/>
              <a:ea typeface="Roboto"/>
              <a:cs typeface="Roboto"/>
              <a:sym typeface="Roboto"/>
            </a:endParaRPr>
          </a:p>
        </p:txBody>
      </p:sp>
      <p:sp>
        <p:nvSpPr>
          <p:cNvPr id="252" name="Google Shape;252;p29"/>
          <p:cNvSpPr txBox="1"/>
          <p:nvPr/>
        </p:nvSpPr>
        <p:spPr>
          <a:xfrm>
            <a:off x="6034650" y="1263125"/>
            <a:ext cx="2411100" cy="1354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rgbClr val="000000"/>
              </a:buClr>
              <a:buSzPts val="1100"/>
              <a:buFont typeface="Arial"/>
              <a:buNone/>
            </a:pPr>
            <a:r>
              <a:rPr b="1" lang="pt-BR" sz="1900">
                <a:solidFill>
                  <a:srgbClr val="FFFFFF"/>
                </a:solidFill>
                <a:latin typeface="Roboto"/>
                <a:ea typeface="Roboto"/>
                <a:cs typeface="Roboto"/>
                <a:sym typeface="Roboto"/>
              </a:rPr>
              <a:t>Digging deeper into the information generated by the metrics</a:t>
            </a:r>
            <a:endParaRPr b="1" sz="1900">
              <a:solidFill>
                <a:srgbClr val="FFFFFF"/>
              </a:solidFill>
              <a:latin typeface="Roboto"/>
              <a:ea typeface="Roboto"/>
              <a:cs typeface="Roboto"/>
              <a:sym typeface="Roboto"/>
            </a:endParaRPr>
          </a:p>
        </p:txBody>
      </p:sp>
      <p:sp>
        <p:nvSpPr>
          <p:cNvPr id="253" name="Google Shape;253;p29"/>
          <p:cNvSpPr txBox="1"/>
          <p:nvPr/>
        </p:nvSpPr>
        <p:spPr>
          <a:xfrm>
            <a:off x="631700" y="1263125"/>
            <a:ext cx="2411100" cy="1647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pt-BR" sz="1900">
                <a:solidFill>
                  <a:srgbClr val="FFFFFF"/>
                </a:solidFill>
                <a:latin typeface="Roboto"/>
                <a:ea typeface="Roboto"/>
                <a:cs typeface="Roboto"/>
                <a:sym typeface="Roboto"/>
              </a:rPr>
              <a:t>Understanding better what impact Nimbus has on our end users' experience</a:t>
            </a:r>
            <a:endParaRPr b="1" sz="1900">
              <a:solidFill>
                <a:srgbClr val="FFFFFF"/>
              </a:solidFill>
              <a:latin typeface="Roboto"/>
              <a:ea typeface="Roboto"/>
              <a:cs typeface="Roboto"/>
              <a:sym typeface="Roboto"/>
            </a:endParaRPr>
          </a:p>
        </p:txBody>
      </p:sp>
      <p:sp>
        <p:nvSpPr>
          <p:cNvPr id="254" name="Google Shape;254;p29"/>
          <p:cNvSpPr txBox="1"/>
          <p:nvPr/>
        </p:nvSpPr>
        <p:spPr>
          <a:xfrm>
            <a:off x="3488998" y="1263125"/>
            <a:ext cx="2193600" cy="1354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pt-BR" sz="1900">
                <a:solidFill>
                  <a:srgbClr val="FFFFFF"/>
                </a:solidFill>
                <a:latin typeface="Roboto"/>
                <a:ea typeface="Roboto"/>
                <a:cs typeface="Roboto"/>
                <a:sym typeface="Roboto"/>
              </a:rPr>
              <a:t>Raising the bar on design and code quality from the start</a:t>
            </a:r>
            <a:endParaRPr b="1" sz="1900">
              <a:solidFill>
                <a:srgbClr val="FFFFFF"/>
              </a:solidFill>
              <a:latin typeface="Roboto"/>
              <a:ea typeface="Roboto"/>
              <a:cs typeface="Roboto"/>
              <a:sym typeface="Roboto"/>
            </a:endParaRPr>
          </a:p>
        </p:txBody>
      </p:sp>
      <p:sp>
        <p:nvSpPr>
          <p:cNvPr id="255" name="Google Shape;255;p29"/>
          <p:cNvSpPr txBox="1"/>
          <p:nvPr/>
        </p:nvSpPr>
        <p:spPr>
          <a:xfrm>
            <a:off x="628750" y="2890275"/>
            <a:ext cx="2296500" cy="1200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1000"/>
              </a:spcAft>
              <a:buClr>
                <a:srgbClr val="000000"/>
              </a:buClr>
              <a:buSzPts val="1100"/>
              <a:buFont typeface="Arial"/>
              <a:buNone/>
            </a:pPr>
            <a:r>
              <a:rPr lang="pt-BR" sz="1100">
                <a:solidFill>
                  <a:srgbClr val="FFFFFF"/>
                </a:solidFill>
                <a:latin typeface="Roboto"/>
                <a:ea typeface="Roboto"/>
                <a:cs typeface="Roboto"/>
                <a:sym typeface="Roboto"/>
              </a:rPr>
              <a:t>We are collecting feedback together with the teams on how our end users are receiving the new interfaces. This will be very important in helping us prioritise improvements.</a:t>
            </a:r>
            <a:endParaRPr sz="1100">
              <a:solidFill>
                <a:srgbClr val="FFFFFF"/>
              </a:solidFill>
              <a:latin typeface="Roboto"/>
              <a:ea typeface="Roboto"/>
              <a:cs typeface="Roboto"/>
              <a:sym typeface="Roboto"/>
            </a:endParaRPr>
          </a:p>
        </p:txBody>
      </p:sp>
      <p:sp>
        <p:nvSpPr>
          <p:cNvPr id="256" name="Google Shape;256;p29"/>
          <p:cNvSpPr txBox="1"/>
          <p:nvPr/>
        </p:nvSpPr>
        <p:spPr>
          <a:xfrm>
            <a:off x="3484851" y="2661675"/>
            <a:ext cx="2193600" cy="1369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1000"/>
              </a:spcAft>
              <a:buClr>
                <a:srgbClr val="000000"/>
              </a:buClr>
              <a:buSzPts val="1100"/>
              <a:buFont typeface="Arial"/>
              <a:buNone/>
            </a:pPr>
            <a:r>
              <a:rPr lang="pt-BR" sz="1100">
                <a:solidFill>
                  <a:srgbClr val="FFFFFF"/>
                </a:solidFill>
                <a:latin typeface="Roboto"/>
                <a:ea typeface="Roboto"/>
                <a:cs typeface="Roboto"/>
                <a:sym typeface="Roboto"/>
              </a:rPr>
              <a:t>We are revisiting components that were created at the beginning of the project as we learn from the process, and have new ways of building components that are more flexible and easier to use.</a:t>
            </a:r>
            <a:endParaRPr sz="1100">
              <a:solidFill>
                <a:srgbClr val="FFFFFF"/>
              </a:solidFill>
              <a:latin typeface="Roboto"/>
              <a:ea typeface="Roboto"/>
              <a:cs typeface="Roboto"/>
              <a:sym typeface="Roboto"/>
            </a:endParaRPr>
          </a:p>
        </p:txBody>
      </p:sp>
      <p:sp>
        <p:nvSpPr>
          <p:cNvPr id="257" name="Google Shape;257;p29"/>
          <p:cNvSpPr txBox="1"/>
          <p:nvPr/>
        </p:nvSpPr>
        <p:spPr>
          <a:xfrm>
            <a:off x="6036601" y="2661675"/>
            <a:ext cx="2193600" cy="1200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1000"/>
              </a:spcAft>
              <a:buClr>
                <a:srgbClr val="000000"/>
              </a:buClr>
              <a:buSzPts val="1100"/>
              <a:buFont typeface="Arial"/>
              <a:buNone/>
            </a:pPr>
            <a:r>
              <a:rPr lang="pt-BR" sz="1100">
                <a:solidFill>
                  <a:srgbClr val="FFFFFF"/>
                </a:solidFill>
                <a:latin typeface="Roboto"/>
                <a:ea typeface="Roboto"/>
                <a:cs typeface="Roboto"/>
                <a:sym typeface="Roboto"/>
              </a:rPr>
              <a:t>The information generated from the metrics is very rich as it gives visibility into which use cases our DS is not meeting and where we need to improve to increase Nimbus adoption.</a:t>
            </a:r>
            <a:endParaRPr sz="1100">
              <a:solidFill>
                <a:srgbClr val="FFFFFF"/>
              </a:solidFill>
              <a:latin typeface="Roboto"/>
              <a:ea typeface="Roboto"/>
              <a:cs typeface="Roboto"/>
              <a:sym typeface="Roboto"/>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C3357"/>
        </a:solidFill>
      </p:bgPr>
    </p:bg>
    <p:spTree>
      <p:nvGrpSpPr>
        <p:cNvPr id="261" name="Shape 261"/>
        <p:cNvGrpSpPr/>
        <p:nvPr/>
      </p:nvGrpSpPr>
      <p:grpSpPr>
        <a:xfrm>
          <a:off x="0" y="0"/>
          <a:ext cx="0" cy="0"/>
          <a:chOff x="0" y="0"/>
          <a:chExt cx="0" cy="0"/>
        </a:xfrm>
      </p:grpSpPr>
      <p:sp>
        <p:nvSpPr>
          <p:cNvPr id="262" name="Google Shape;262;p30"/>
          <p:cNvSpPr txBox="1"/>
          <p:nvPr/>
        </p:nvSpPr>
        <p:spPr>
          <a:xfrm>
            <a:off x="2710050" y="2310144"/>
            <a:ext cx="3723900" cy="523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pt-BR" sz="2200">
                <a:solidFill>
                  <a:srgbClr val="D2E7F9"/>
                </a:solidFill>
                <a:latin typeface="Roboto"/>
                <a:ea typeface="Roboto"/>
                <a:cs typeface="Roboto"/>
                <a:sym typeface="Roboto"/>
              </a:rPr>
              <a:t>Thanks!</a:t>
            </a:r>
            <a:endParaRPr b="1" sz="2200">
              <a:solidFill>
                <a:srgbClr val="D2E7F9"/>
              </a:solidFill>
              <a:latin typeface="Roboto"/>
              <a:ea typeface="Roboto"/>
              <a:cs typeface="Roboto"/>
              <a:sym typeface="Roboto"/>
            </a:endParaRPr>
          </a:p>
        </p:txBody>
      </p:sp>
      <p:sp>
        <p:nvSpPr>
          <p:cNvPr id="263" name="Google Shape;263;p30">
            <a:hlinkClick r:id="rId3"/>
          </p:cNvPr>
          <p:cNvSpPr txBox="1"/>
          <p:nvPr/>
        </p:nvSpPr>
        <p:spPr>
          <a:xfrm>
            <a:off x="2710050" y="2852569"/>
            <a:ext cx="3723900" cy="431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pt-BR" sz="1600" u="sng">
                <a:solidFill>
                  <a:srgbClr val="D2E7F9"/>
                </a:solidFill>
                <a:latin typeface="Roboto"/>
                <a:ea typeface="Roboto"/>
                <a:cs typeface="Roboto"/>
                <a:sym typeface="Roboto"/>
                <a:hlinkClick r:id="rId4">
                  <a:extLst>
                    <a:ext uri="{A12FA001-AC4F-418D-AE19-62706E023703}">
                      <ahyp:hlinkClr val="tx"/>
                    </a:ext>
                  </a:extLst>
                </a:hlinkClick>
              </a:rPr>
              <a:t>https://nimbus.nuvemshop.com.br/</a:t>
            </a:r>
            <a:endParaRPr sz="1600">
              <a:solidFill>
                <a:srgbClr val="D2E7F9"/>
              </a:solidFill>
              <a:latin typeface="Roboto"/>
              <a:ea typeface="Roboto"/>
              <a:cs typeface="Roboto"/>
              <a:sym typeface="Roboto"/>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