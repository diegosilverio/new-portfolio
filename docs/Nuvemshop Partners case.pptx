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54">
          <p15:clr>
            <a:srgbClr val="A4A3A4"/>
          </p15:clr>
        </p15:guide>
        <p15:guide id="2" pos="5216">
          <p15:clr>
            <a:srgbClr val="A4A3A4"/>
          </p15:clr>
        </p15:guide>
        <p15:guide id="3" pos="446">
          <p15:clr>
            <a:srgbClr val="9AA0A6"/>
          </p15:clr>
        </p15:guide>
        <p15:guide id="4" orient="horz" pos="2786">
          <p15:clr>
            <a:srgbClr val="9AA0A6"/>
          </p15:clr>
        </p15:guide>
        <p15:guide id="5" pos="2438">
          <p15:clr>
            <a:srgbClr val="9AA0A6"/>
          </p15:clr>
        </p15:guide>
        <p15:guide id="6" pos="907">
          <p15:clr>
            <a:srgbClr val="9AA0A6"/>
          </p15:clr>
        </p15:guide>
        <p15:guide id="7" pos="281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orient="horz"/>
        <p:guide pos="5216"/>
        <p:guide pos="446"/>
        <p:guide pos="2786" orient="horz"/>
        <p:guide pos="2438"/>
        <p:guide pos="907"/>
        <p:guide pos="28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70b5ab7a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70b5ab7a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1007f24587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1007f24587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1bc7b6aa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1bc7b6aa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00961311c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00961311c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00961311c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00961311c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00ab31226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00ab31226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007f24587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007f24587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6c8248269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6c8248269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0961311c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0961311c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2a0ba5678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2a0ba5678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0ab31226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0ab31226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00ab31226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00ab31226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6b8d1a1cd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6b8d1a1cd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6b8d1a1cd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6b8d1a1cd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6b8d1a1cd9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6b8d1a1cd9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6b8d1a1cd9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6b8d1a1cd9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4bf30f6b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4bf30f6b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8dd68011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8dd68011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6c82482697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6c82482697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00961311c8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00961311c8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00961311c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00961311c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3" name="Shape 53"/>
        <p:cNvGrpSpPr/>
        <p:nvPr/>
      </p:nvGrpSpPr>
      <p:grpSpPr>
        <a:xfrm>
          <a:off x="0" y="0"/>
          <a:ext cx="0" cy="0"/>
          <a:chOff x="0" y="0"/>
          <a:chExt cx="0" cy="0"/>
        </a:xfrm>
      </p:grpSpPr>
      <p:sp>
        <p:nvSpPr>
          <p:cNvPr id="54" name="Google Shape;54;p13"/>
          <p:cNvSpPr txBox="1"/>
          <p:nvPr/>
        </p:nvSpPr>
        <p:spPr>
          <a:xfrm>
            <a:off x="601750" y="2729500"/>
            <a:ext cx="31491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rgbClr val="2C3357"/>
                </a:solidFill>
                <a:latin typeface="Roboto"/>
                <a:ea typeface="Roboto"/>
                <a:cs typeface="Roboto"/>
                <a:sym typeface="Roboto"/>
              </a:rPr>
              <a:t>Redesign of </a:t>
            </a:r>
            <a:br>
              <a:rPr b="1" lang="pt-BR" sz="2200">
                <a:solidFill>
                  <a:srgbClr val="2C3357"/>
                </a:solidFill>
                <a:latin typeface="Roboto"/>
                <a:ea typeface="Roboto"/>
                <a:cs typeface="Roboto"/>
                <a:sym typeface="Roboto"/>
              </a:rPr>
            </a:br>
            <a:r>
              <a:rPr b="1" lang="pt-BR" sz="2200">
                <a:solidFill>
                  <a:srgbClr val="2C3357"/>
                </a:solidFill>
                <a:latin typeface="Roboto"/>
                <a:ea typeface="Roboto"/>
                <a:cs typeface="Roboto"/>
                <a:sym typeface="Roboto"/>
              </a:rPr>
              <a:t>Admin for Partners</a:t>
            </a:r>
            <a:endParaRPr b="1" sz="2200">
              <a:solidFill>
                <a:srgbClr val="2C3357"/>
              </a:solidFill>
              <a:latin typeface="Roboto"/>
              <a:ea typeface="Roboto"/>
              <a:cs typeface="Roboto"/>
              <a:sym typeface="Roboto"/>
            </a:endParaRPr>
          </a:p>
        </p:txBody>
      </p:sp>
      <p:pic>
        <p:nvPicPr>
          <p:cNvPr id="55" name="Google Shape;55;p13"/>
          <p:cNvPicPr preferRelativeResize="0"/>
          <p:nvPr/>
        </p:nvPicPr>
        <p:blipFill>
          <a:blip r:embed="rId3">
            <a:alphaModFix/>
          </a:blip>
          <a:stretch>
            <a:fillRect/>
          </a:stretch>
        </p:blipFill>
        <p:spPr>
          <a:xfrm>
            <a:off x="6469687" y="1207738"/>
            <a:ext cx="1812188" cy="3221683"/>
          </a:xfrm>
          <a:prstGeom prst="rect">
            <a:avLst/>
          </a:prstGeom>
          <a:noFill/>
          <a:ln>
            <a:noFill/>
          </a:ln>
          <a:effectLst>
            <a:outerShdw blurRad="385763" rotWithShape="0" algn="bl" dir="5400000" dist="142875">
              <a:srgbClr val="000000">
                <a:alpha val="20000"/>
              </a:srgbClr>
            </a:outerShdw>
          </a:effectLst>
        </p:spPr>
      </p:pic>
      <p:pic>
        <p:nvPicPr>
          <p:cNvPr id="56" name="Google Shape;56;p13"/>
          <p:cNvPicPr preferRelativeResize="0"/>
          <p:nvPr/>
        </p:nvPicPr>
        <p:blipFill>
          <a:blip r:embed="rId4">
            <a:alphaModFix/>
          </a:blip>
          <a:stretch>
            <a:fillRect/>
          </a:stretch>
        </p:blipFill>
        <p:spPr>
          <a:xfrm>
            <a:off x="4471075" y="720000"/>
            <a:ext cx="1812188" cy="3221664"/>
          </a:xfrm>
          <a:prstGeom prst="rect">
            <a:avLst/>
          </a:prstGeom>
          <a:noFill/>
          <a:ln>
            <a:noFill/>
          </a:ln>
          <a:effectLst>
            <a:outerShdw blurRad="385763" rotWithShape="0" algn="bl" dir="5400000" dist="142875">
              <a:srgbClr val="000000">
                <a:alpha val="20000"/>
              </a:srgbClr>
            </a:outerShdw>
          </a:effectLst>
        </p:spPr>
      </p:pic>
      <p:sp>
        <p:nvSpPr>
          <p:cNvPr id="57" name="Google Shape;57;p13"/>
          <p:cNvSpPr txBox="1"/>
          <p:nvPr/>
        </p:nvSpPr>
        <p:spPr>
          <a:xfrm>
            <a:off x="623973" y="4149582"/>
            <a:ext cx="3723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500">
                <a:solidFill>
                  <a:schemeClr val="dk2"/>
                </a:solidFill>
                <a:latin typeface="Roboto"/>
                <a:ea typeface="Roboto"/>
                <a:cs typeface="Roboto"/>
                <a:sym typeface="Roboto"/>
              </a:rPr>
              <a:t>2021</a:t>
            </a:r>
            <a:endParaRPr sz="1500">
              <a:solidFill>
                <a:schemeClr val="dk2"/>
              </a:solidFill>
              <a:latin typeface="Roboto"/>
              <a:ea typeface="Roboto"/>
              <a:cs typeface="Roboto"/>
              <a:sym typeface="Roboto"/>
            </a:endParaRPr>
          </a:p>
        </p:txBody>
      </p:sp>
      <p:pic>
        <p:nvPicPr>
          <p:cNvPr id="58" name="Google Shape;58;p13"/>
          <p:cNvPicPr preferRelativeResize="0"/>
          <p:nvPr/>
        </p:nvPicPr>
        <p:blipFill>
          <a:blip r:embed="rId5">
            <a:alphaModFix/>
          </a:blip>
          <a:stretch>
            <a:fillRect/>
          </a:stretch>
        </p:blipFill>
        <p:spPr>
          <a:xfrm>
            <a:off x="707900" y="1404066"/>
            <a:ext cx="2649225" cy="36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nvSpPr>
        <p:spPr>
          <a:xfrm>
            <a:off x="628750" y="988350"/>
            <a:ext cx="2549400" cy="395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pt-BR" sz="1100">
                <a:solidFill>
                  <a:srgbClr val="595959"/>
                </a:solidFill>
                <a:latin typeface="Roboto"/>
                <a:ea typeface="Roboto"/>
                <a:cs typeface="Roboto"/>
                <a:sym typeface="Roboto"/>
              </a:rPr>
              <a:t>Today I work together with the product and engineering teams in the Ecosystem business unit. This BU is responsible for digital products focused on partners who connect to our platform and offer products or services to our customers. There is a wide diversity of partners, ranging from software houses to affiliates.</a:t>
            </a:r>
            <a:endParaRPr sz="1100">
              <a:solidFill>
                <a:srgbClr val="595959"/>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pt-BR" sz="1100">
                <a:solidFill>
                  <a:srgbClr val="595959"/>
                </a:solidFill>
                <a:latin typeface="Roboto"/>
                <a:ea typeface="Roboto"/>
                <a:cs typeface="Roboto"/>
                <a:sym typeface="Roboto"/>
              </a:rPr>
              <a:t>One of the partners' main tools is the administrator, which is where they manage the partnership with us. It is through this tool that partners can, among other activities, withdraw their commissions, publish a new application in our appstore and follow the list of e-commerce sites created with their indication.</a:t>
            </a:r>
            <a:endParaRPr sz="1100">
              <a:solidFill>
                <a:srgbClr val="595959"/>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t/>
            </a:r>
            <a:endParaRPr sz="1100">
              <a:solidFill>
                <a:srgbClr val="595959"/>
              </a:solidFill>
              <a:latin typeface="Roboto"/>
              <a:ea typeface="Roboto"/>
              <a:cs typeface="Roboto"/>
              <a:sym typeface="Roboto"/>
            </a:endParaRPr>
          </a:p>
          <a:p>
            <a:pPr indent="0" lvl="0" marL="0" rtl="0" algn="l">
              <a:spcBef>
                <a:spcPts val="1000"/>
              </a:spcBef>
              <a:spcAft>
                <a:spcPts val="1000"/>
              </a:spcAft>
              <a:buNone/>
            </a:pPr>
            <a:r>
              <a:t/>
            </a:r>
            <a:endParaRPr sz="1100">
              <a:solidFill>
                <a:srgbClr val="595959"/>
              </a:solidFill>
              <a:latin typeface="Roboto"/>
              <a:ea typeface="Roboto"/>
              <a:cs typeface="Roboto"/>
              <a:sym typeface="Roboto"/>
            </a:endParaRPr>
          </a:p>
        </p:txBody>
      </p:sp>
      <p:sp>
        <p:nvSpPr>
          <p:cNvPr id="64" name="Google Shape;64;p14"/>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a:pPr>
            <a:r>
              <a:rPr b="1" lang="pt-BR">
                <a:solidFill>
                  <a:srgbClr val="00539A"/>
                </a:solidFill>
                <a:latin typeface="Roboto"/>
                <a:ea typeface="Roboto"/>
                <a:cs typeface="Roboto"/>
                <a:sym typeface="Roboto"/>
              </a:rPr>
              <a:t>Context</a:t>
            </a:r>
            <a:endParaRPr b="1">
              <a:solidFill>
                <a:srgbClr val="00539A"/>
              </a:solidFill>
              <a:latin typeface="Roboto"/>
              <a:ea typeface="Roboto"/>
              <a:cs typeface="Roboto"/>
              <a:sym typeface="Roboto"/>
            </a:endParaRPr>
          </a:p>
        </p:txBody>
      </p:sp>
      <p:sp>
        <p:nvSpPr>
          <p:cNvPr id="65" name="Google Shape;65;p14"/>
          <p:cNvSpPr/>
          <p:nvPr/>
        </p:nvSpPr>
        <p:spPr>
          <a:xfrm>
            <a:off x="3870000" y="729975"/>
            <a:ext cx="4429200" cy="36936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txBox="1"/>
          <p:nvPr/>
        </p:nvSpPr>
        <p:spPr>
          <a:xfrm>
            <a:off x="4230651" y="1090950"/>
            <a:ext cx="3549600" cy="298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pt-BR">
                <a:solidFill>
                  <a:srgbClr val="434343"/>
                </a:solidFill>
                <a:latin typeface="Roboto"/>
                <a:ea typeface="Roboto"/>
                <a:cs typeface="Roboto"/>
                <a:sym typeface="Roboto"/>
              </a:rPr>
              <a:t>Highlights</a:t>
            </a:r>
            <a:endParaRPr b="1">
              <a:solidFill>
                <a:srgbClr val="434343"/>
              </a:solidFill>
              <a:latin typeface="Roboto"/>
              <a:ea typeface="Roboto"/>
              <a:cs typeface="Roboto"/>
              <a:sym typeface="Roboto"/>
            </a:endParaRPr>
          </a:p>
          <a:p>
            <a:pPr indent="-317500" lvl="0" marL="457200" rtl="0" algn="l">
              <a:lnSpc>
                <a:spcPct val="150000"/>
              </a:lnSpc>
              <a:spcBef>
                <a:spcPts val="0"/>
              </a:spcBef>
              <a:spcAft>
                <a:spcPts val="0"/>
              </a:spcAft>
              <a:buClr>
                <a:srgbClr val="434343"/>
              </a:buClr>
              <a:buSzPts val="1400"/>
              <a:buFont typeface="Roboto"/>
              <a:buChar char="●"/>
            </a:pPr>
            <a:r>
              <a:rPr lang="pt-BR">
                <a:solidFill>
                  <a:srgbClr val="434343"/>
                </a:solidFill>
                <a:latin typeface="Roboto"/>
                <a:ea typeface="Roboto"/>
                <a:cs typeface="Roboto"/>
                <a:sym typeface="Roboto"/>
              </a:rPr>
              <a:t>Ecosystem: business unit of the company</a:t>
            </a:r>
            <a:endParaRPr>
              <a:solidFill>
                <a:srgbClr val="434343"/>
              </a:solidFill>
              <a:latin typeface="Roboto"/>
              <a:ea typeface="Roboto"/>
              <a:cs typeface="Roboto"/>
              <a:sym typeface="Roboto"/>
            </a:endParaRPr>
          </a:p>
          <a:p>
            <a:pPr indent="-317500" lvl="0" marL="457200" rtl="0" algn="l">
              <a:lnSpc>
                <a:spcPct val="150000"/>
              </a:lnSpc>
              <a:spcBef>
                <a:spcPts val="0"/>
              </a:spcBef>
              <a:spcAft>
                <a:spcPts val="0"/>
              </a:spcAft>
              <a:buClr>
                <a:srgbClr val="434343"/>
              </a:buClr>
              <a:buSzPts val="1400"/>
              <a:buFont typeface="Roboto"/>
              <a:buChar char="●"/>
            </a:pPr>
            <a:r>
              <a:rPr lang="pt-BR">
                <a:solidFill>
                  <a:srgbClr val="434343"/>
                </a:solidFill>
                <a:latin typeface="Roboto"/>
                <a:ea typeface="Roboto"/>
                <a:cs typeface="Roboto"/>
                <a:sym typeface="Roboto"/>
              </a:rPr>
              <a:t>Admin for Partners</a:t>
            </a:r>
            <a:r>
              <a:rPr lang="pt-BR">
                <a:solidFill>
                  <a:srgbClr val="434343"/>
                </a:solidFill>
                <a:latin typeface="Roboto"/>
                <a:ea typeface="Roboto"/>
                <a:cs typeface="Roboto"/>
                <a:sym typeface="Roboto"/>
              </a:rPr>
              <a:t> is the main system</a:t>
            </a:r>
            <a:endParaRPr>
              <a:solidFill>
                <a:srgbClr val="434343"/>
              </a:solidFill>
              <a:latin typeface="Roboto"/>
              <a:ea typeface="Roboto"/>
              <a:cs typeface="Roboto"/>
              <a:sym typeface="Roboto"/>
            </a:endParaRPr>
          </a:p>
          <a:p>
            <a:pPr indent="-317500" lvl="0" marL="457200" rtl="0" algn="l">
              <a:lnSpc>
                <a:spcPct val="150000"/>
              </a:lnSpc>
              <a:spcBef>
                <a:spcPts val="0"/>
              </a:spcBef>
              <a:spcAft>
                <a:spcPts val="0"/>
              </a:spcAft>
              <a:buClr>
                <a:srgbClr val="434343"/>
              </a:buClr>
              <a:buSzPts val="1400"/>
              <a:buFont typeface="Roboto"/>
              <a:buChar char="●"/>
            </a:pPr>
            <a:r>
              <a:rPr lang="pt-BR">
                <a:solidFill>
                  <a:srgbClr val="434343"/>
                </a:solidFill>
                <a:latin typeface="Roboto"/>
                <a:ea typeface="Roboto"/>
                <a:cs typeface="Roboto"/>
                <a:sym typeface="Roboto"/>
              </a:rPr>
              <a:t>~6k of active users / month</a:t>
            </a:r>
            <a:endParaRPr>
              <a:solidFill>
                <a:srgbClr val="434343"/>
              </a:solidFill>
              <a:latin typeface="Roboto"/>
              <a:ea typeface="Roboto"/>
              <a:cs typeface="Roboto"/>
              <a:sym typeface="Roboto"/>
            </a:endParaRPr>
          </a:p>
          <a:p>
            <a:pPr indent="-317500" lvl="0" marL="457200" rtl="0" algn="l">
              <a:lnSpc>
                <a:spcPct val="150000"/>
              </a:lnSpc>
              <a:spcBef>
                <a:spcPts val="0"/>
              </a:spcBef>
              <a:spcAft>
                <a:spcPts val="0"/>
              </a:spcAft>
              <a:buClr>
                <a:srgbClr val="434343"/>
              </a:buClr>
              <a:buSzPts val="1400"/>
              <a:buFont typeface="Roboto"/>
              <a:buChar char="●"/>
            </a:pPr>
            <a:r>
              <a:rPr lang="pt-BR">
                <a:solidFill>
                  <a:srgbClr val="434343"/>
                </a:solidFill>
                <a:latin typeface="Roboto"/>
                <a:ea typeface="Roboto"/>
                <a:cs typeface="Roboto"/>
                <a:sym typeface="Roboto"/>
              </a:rPr>
              <a:t>The team of this unit is being built</a:t>
            </a:r>
            <a:endParaRPr>
              <a:solidFill>
                <a:srgbClr val="434343"/>
              </a:solidFill>
              <a:latin typeface="Roboto"/>
              <a:ea typeface="Roboto"/>
              <a:cs typeface="Roboto"/>
              <a:sym typeface="Roboto"/>
            </a:endParaRPr>
          </a:p>
          <a:p>
            <a:pPr indent="-317500" lvl="1" marL="914400" rtl="0" algn="l">
              <a:lnSpc>
                <a:spcPct val="150000"/>
              </a:lnSpc>
              <a:spcBef>
                <a:spcPts val="0"/>
              </a:spcBef>
              <a:spcAft>
                <a:spcPts val="0"/>
              </a:spcAft>
              <a:buClr>
                <a:srgbClr val="434343"/>
              </a:buClr>
              <a:buSzPts val="1400"/>
              <a:buFont typeface="Roboto"/>
              <a:buChar char="○"/>
            </a:pPr>
            <a:r>
              <a:rPr lang="pt-BR">
                <a:solidFill>
                  <a:srgbClr val="434343"/>
                </a:solidFill>
                <a:latin typeface="Roboto"/>
                <a:ea typeface="Roboto"/>
                <a:cs typeface="Roboto"/>
                <a:sym typeface="Roboto"/>
              </a:rPr>
              <a:t>4 designers , 3 front-end devs, 4 back-end devs</a:t>
            </a:r>
            <a:endParaRPr>
              <a:solidFill>
                <a:srgbClr val="434343"/>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a:pPr>
            <a:r>
              <a:rPr b="1" lang="pt-BR">
                <a:solidFill>
                  <a:srgbClr val="00539A"/>
                </a:solidFill>
                <a:latin typeface="Roboto"/>
                <a:ea typeface="Roboto"/>
                <a:cs typeface="Roboto"/>
                <a:sym typeface="Roboto"/>
              </a:rPr>
              <a:t>Context</a:t>
            </a:r>
            <a:endParaRPr b="1">
              <a:solidFill>
                <a:srgbClr val="00539A"/>
              </a:solidFill>
              <a:latin typeface="Roboto"/>
              <a:ea typeface="Roboto"/>
              <a:cs typeface="Roboto"/>
              <a:sym typeface="Roboto"/>
            </a:endParaRPr>
          </a:p>
        </p:txBody>
      </p:sp>
      <p:sp>
        <p:nvSpPr>
          <p:cNvPr id="72" name="Google Shape;72;p15"/>
          <p:cNvSpPr/>
          <p:nvPr/>
        </p:nvSpPr>
        <p:spPr>
          <a:xfrm>
            <a:off x="6152940" y="1055650"/>
            <a:ext cx="2135100" cy="1403700"/>
          </a:xfrm>
          <a:prstGeom prst="roundRect">
            <a:avLst>
              <a:gd fmla="val 400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a:off x="6152919" y="2594236"/>
            <a:ext cx="2135100" cy="1403700"/>
          </a:xfrm>
          <a:prstGeom prst="roundRect">
            <a:avLst>
              <a:gd fmla="val 400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a:off x="3870000" y="2594223"/>
            <a:ext cx="2135100" cy="1403700"/>
          </a:xfrm>
          <a:prstGeom prst="roundRect">
            <a:avLst>
              <a:gd fmla="val 400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txBox="1"/>
          <p:nvPr/>
        </p:nvSpPr>
        <p:spPr>
          <a:xfrm>
            <a:off x="6223463" y="2683191"/>
            <a:ext cx="179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solidFill>
                  <a:srgbClr val="666666"/>
                </a:solidFill>
                <a:latin typeface="Roboto"/>
                <a:ea typeface="Roboto"/>
                <a:cs typeface="Roboto"/>
                <a:sym typeface="Roboto"/>
              </a:rPr>
              <a:t>App Discoverability</a:t>
            </a:r>
            <a:endParaRPr b="1">
              <a:solidFill>
                <a:srgbClr val="666666"/>
              </a:solidFill>
              <a:latin typeface="Roboto"/>
              <a:ea typeface="Roboto"/>
              <a:cs typeface="Roboto"/>
              <a:sym typeface="Roboto"/>
            </a:endParaRPr>
          </a:p>
        </p:txBody>
      </p:sp>
      <p:sp>
        <p:nvSpPr>
          <p:cNvPr id="76" name="Google Shape;76;p15"/>
          <p:cNvSpPr txBox="1"/>
          <p:nvPr/>
        </p:nvSpPr>
        <p:spPr>
          <a:xfrm>
            <a:off x="3927290" y="2654459"/>
            <a:ext cx="131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solidFill>
                  <a:srgbClr val="666666"/>
                </a:solidFill>
                <a:latin typeface="Roboto"/>
                <a:ea typeface="Roboto"/>
                <a:cs typeface="Roboto"/>
                <a:sym typeface="Roboto"/>
              </a:rPr>
              <a:t>Channels of Sales</a:t>
            </a:r>
            <a:endParaRPr b="1">
              <a:solidFill>
                <a:srgbClr val="666666"/>
              </a:solidFill>
              <a:latin typeface="Roboto"/>
              <a:ea typeface="Roboto"/>
              <a:cs typeface="Roboto"/>
              <a:sym typeface="Roboto"/>
            </a:endParaRPr>
          </a:p>
        </p:txBody>
      </p:sp>
      <p:sp>
        <p:nvSpPr>
          <p:cNvPr id="77" name="Google Shape;77;p15"/>
          <p:cNvSpPr/>
          <p:nvPr/>
        </p:nvSpPr>
        <p:spPr>
          <a:xfrm>
            <a:off x="3870000" y="1055650"/>
            <a:ext cx="2135100" cy="1403700"/>
          </a:xfrm>
          <a:prstGeom prst="roundRect">
            <a:avLst>
              <a:gd fmla="val 400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txBox="1"/>
          <p:nvPr/>
        </p:nvSpPr>
        <p:spPr>
          <a:xfrm>
            <a:off x="3927290" y="1144610"/>
            <a:ext cx="131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solidFill>
                  <a:srgbClr val="666666"/>
                </a:solidFill>
                <a:latin typeface="Roboto"/>
                <a:ea typeface="Roboto"/>
                <a:cs typeface="Roboto"/>
                <a:sym typeface="Roboto"/>
              </a:rPr>
              <a:t>Design System</a:t>
            </a:r>
            <a:endParaRPr b="1">
              <a:solidFill>
                <a:srgbClr val="666666"/>
              </a:solidFill>
              <a:latin typeface="Roboto"/>
              <a:ea typeface="Roboto"/>
              <a:cs typeface="Roboto"/>
              <a:sym typeface="Roboto"/>
            </a:endParaRPr>
          </a:p>
        </p:txBody>
      </p:sp>
      <p:sp>
        <p:nvSpPr>
          <p:cNvPr id="79" name="Google Shape;79;p15"/>
          <p:cNvSpPr txBox="1"/>
          <p:nvPr/>
        </p:nvSpPr>
        <p:spPr>
          <a:xfrm>
            <a:off x="6210230" y="1144610"/>
            <a:ext cx="131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solidFill>
                  <a:srgbClr val="666666"/>
                </a:solidFill>
                <a:latin typeface="Roboto"/>
                <a:ea typeface="Roboto"/>
                <a:cs typeface="Roboto"/>
                <a:sym typeface="Roboto"/>
              </a:rPr>
              <a:t>Admin for Partners</a:t>
            </a:r>
            <a:endParaRPr b="1">
              <a:solidFill>
                <a:srgbClr val="666666"/>
              </a:solidFill>
              <a:latin typeface="Roboto"/>
              <a:ea typeface="Roboto"/>
              <a:cs typeface="Roboto"/>
              <a:sym typeface="Roboto"/>
            </a:endParaRPr>
          </a:p>
        </p:txBody>
      </p:sp>
      <p:grpSp>
        <p:nvGrpSpPr>
          <p:cNvPr id="80" name="Google Shape;80;p15"/>
          <p:cNvGrpSpPr/>
          <p:nvPr/>
        </p:nvGrpSpPr>
        <p:grpSpPr>
          <a:xfrm>
            <a:off x="5457928" y="851059"/>
            <a:ext cx="369347" cy="400200"/>
            <a:chOff x="8287953" y="199684"/>
            <a:chExt cx="369347" cy="400200"/>
          </a:xfrm>
        </p:grpSpPr>
        <p:sp>
          <p:nvSpPr>
            <p:cNvPr id="81" name="Google Shape;81;p15"/>
            <p:cNvSpPr/>
            <p:nvPr/>
          </p:nvSpPr>
          <p:spPr>
            <a:xfrm>
              <a:off x="8288000" y="206263"/>
              <a:ext cx="369300" cy="369300"/>
            </a:xfrm>
            <a:prstGeom prst="ellipse">
              <a:avLst/>
            </a:prstGeom>
            <a:solidFill>
              <a:srgbClr val="005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txBox="1"/>
            <p:nvPr/>
          </p:nvSpPr>
          <p:spPr>
            <a:xfrm>
              <a:off x="8287953" y="199684"/>
              <a:ext cx="36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a:solidFill>
                    <a:schemeClr val="lt1"/>
                  </a:solidFill>
                  <a:latin typeface="Roboto"/>
                  <a:ea typeface="Roboto"/>
                  <a:cs typeface="Roboto"/>
                  <a:sym typeface="Roboto"/>
                </a:rPr>
                <a:t>2</a:t>
              </a:r>
              <a:endParaRPr b="1">
                <a:solidFill>
                  <a:schemeClr val="lt1"/>
                </a:solidFill>
                <a:latin typeface="Roboto"/>
                <a:ea typeface="Roboto"/>
                <a:cs typeface="Roboto"/>
                <a:sym typeface="Roboto"/>
              </a:endParaRPr>
            </a:p>
          </p:txBody>
        </p:sp>
      </p:grpSp>
      <p:grpSp>
        <p:nvGrpSpPr>
          <p:cNvPr id="83" name="Google Shape;83;p15"/>
          <p:cNvGrpSpPr/>
          <p:nvPr/>
        </p:nvGrpSpPr>
        <p:grpSpPr>
          <a:xfrm>
            <a:off x="7731153" y="851059"/>
            <a:ext cx="369347" cy="400200"/>
            <a:chOff x="8287953" y="199684"/>
            <a:chExt cx="369347" cy="400200"/>
          </a:xfrm>
        </p:grpSpPr>
        <p:sp>
          <p:nvSpPr>
            <p:cNvPr id="84" name="Google Shape;84;p15"/>
            <p:cNvSpPr/>
            <p:nvPr/>
          </p:nvSpPr>
          <p:spPr>
            <a:xfrm>
              <a:off x="8288000" y="206263"/>
              <a:ext cx="369300" cy="369300"/>
            </a:xfrm>
            <a:prstGeom prst="ellipse">
              <a:avLst/>
            </a:prstGeom>
            <a:solidFill>
              <a:srgbClr val="005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txBox="1"/>
            <p:nvPr/>
          </p:nvSpPr>
          <p:spPr>
            <a:xfrm>
              <a:off x="8287953" y="199684"/>
              <a:ext cx="36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a:solidFill>
                    <a:schemeClr val="lt1"/>
                  </a:solidFill>
                  <a:latin typeface="Roboto"/>
                  <a:ea typeface="Roboto"/>
                  <a:cs typeface="Roboto"/>
                  <a:sym typeface="Roboto"/>
                </a:rPr>
                <a:t>2</a:t>
              </a:r>
              <a:endParaRPr b="1">
                <a:solidFill>
                  <a:schemeClr val="lt1"/>
                </a:solidFill>
                <a:latin typeface="Roboto"/>
                <a:ea typeface="Roboto"/>
                <a:cs typeface="Roboto"/>
                <a:sym typeface="Roboto"/>
              </a:endParaRPr>
            </a:p>
          </p:txBody>
        </p:sp>
      </p:grpSp>
      <p:cxnSp>
        <p:nvCxnSpPr>
          <p:cNvPr id="86" name="Google Shape;86;p15"/>
          <p:cNvCxnSpPr>
            <a:stCxn id="85" idx="2"/>
            <a:endCxn id="76" idx="3"/>
          </p:cNvCxnSpPr>
          <p:nvPr/>
        </p:nvCxnSpPr>
        <p:spPr>
          <a:xfrm rot="5400000">
            <a:off x="5724003" y="770359"/>
            <a:ext cx="1710900" cy="2672700"/>
          </a:xfrm>
          <a:prstGeom prst="curvedConnector2">
            <a:avLst/>
          </a:prstGeom>
          <a:noFill/>
          <a:ln cap="flat" cmpd="sng" w="19050">
            <a:solidFill>
              <a:srgbClr val="FF8F8F"/>
            </a:solidFill>
            <a:prstDash val="dash"/>
            <a:round/>
            <a:headEnd len="med" w="med" type="none"/>
            <a:tailEnd len="med" w="med" type="stealth"/>
          </a:ln>
        </p:spPr>
      </p:cxnSp>
      <p:cxnSp>
        <p:nvCxnSpPr>
          <p:cNvPr id="87" name="Google Shape;87;p15"/>
          <p:cNvCxnSpPr>
            <a:stCxn id="85" idx="2"/>
            <a:endCxn id="75" idx="3"/>
          </p:cNvCxnSpPr>
          <p:nvPr/>
        </p:nvCxnSpPr>
        <p:spPr>
          <a:xfrm flipH="1" rot="-5400000">
            <a:off x="7153353" y="2013709"/>
            <a:ext cx="1632000" cy="107100"/>
          </a:xfrm>
          <a:prstGeom prst="curvedConnector4">
            <a:avLst>
              <a:gd fmla="val 43870" name="adj1"/>
              <a:gd fmla="val 322301" name="adj2"/>
            </a:avLst>
          </a:prstGeom>
          <a:noFill/>
          <a:ln cap="flat" cmpd="sng" w="19050">
            <a:solidFill>
              <a:srgbClr val="FF8F8F"/>
            </a:solidFill>
            <a:prstDash val="dash"/>
            <a:round/>
            <a:headEnd len="med" w="med" type="none"/>
            <a:tailEnd len="med" w="med" type="stealth"/>
          </a:ln>
        </p:spPr>
      </p:cxnSp>
      <p:sp>
        <p:nvSpPr>
          <p:cNvPr id="88" name="Google Shape;88;p15"/>
          <p:cNvSpPr txBox="1"/>
          <p:nvPr/>
        </p:nvSpPr>
        <p:spPr>
          <a:xfrm>
            <a:off x="628750" y="988350"/>
            <a:ext cx="2549400" cy="268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rgbClr val="595959"/>
                </a:solidFill>
                <a:latin typeface="Roboto"/>
                <a:ea typeface="Roboto"/>
                <a:cs typeface="Roboto"/>
                <a:sym typeface="Roboto"/>
              </a:rPr>
              <a:t>Today I lead a team of 4 product designers, all allocated within the Ecosystem tribe. The Design System and Admin for Partners squads have focused designers. The other squads receive a specific dedication according to demand. </a:t>
            </a:r>
            <a:endParaRPr sz="1100">
              <a:solidFill>
                <a:srgbClr val="595959"/>
              </a:solidFill>
              <a:latin typeface="Roboto"/>
              <a:ea typeface="Roboto"/>
              <a:cs typeface="Roboto"/>
              <a:sym typeface="Roboto"/>
            </a:endParaRPr>
          </a:p>
          <a:p>
            <a:pPr indent="0" lvl="0" marL="0" rtl="0" algn="l">
              <a:spcBef>
                <a:spcPts val="1000"/>
              </a:spcBef>
              <a:spcAft>
                <a:spcPts val="1000"/>
              </a:spcAft>
              <a:buNone/>
            </a:pPr>
            <a:r>
              <a:rPr lang="pt-BR" sz="1100">
                <a:solidFill>
                  <a:srgbClr val="595959"/>
                </a:solidFill>
                <a:latin typeface="Roboto"/>
                <a:ea typeface="Roboto"/>
                <a:cs typeface="Roboto"/>
                <a:sym typeface="Roboto"/>
              </a:rPr>
              <a:t>This case is related to the Admin for Partners squad, which has led the migration from the old administrator to a completely new one. Within this context, I have also worked in the execution because the demand was very high.</a:t>
            </a:r>
            <a:endParaRPr sz="1100">
              <a:solidFill>
                <a:srgbClr val="595959"/>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8F"/>
        </a:solidFill>
      </p:bgPr>
    </p:bg>
    <p:spTree>
      <p:nvGrpSpPr>
        <p:cNvPr id="92" name="Shape 92"/>
        <p:cNvGrpSpPr/>
        <p:nvPr/>
      </p:nvGrpSpPr>
      <p:grpSpPr>
        <a:xfrm>
          <a:off x="0" y="0"/>
          <a:ext cx="0" cy="0"/>
          <a:chOff x="0" y="0"/>
          <a:chExt cx="0" cy="0"/>
        </a:xfrm>
      </p:grpSpPr>
      <p:sp>
        <p:nvSpPr>
          <p:cNvPr id="93" name="Google Shape;93;p16"/>
          <p:cNvSpPr txBox="1"/>
          <p:nvPr/>
        </p:nvSpPr>
        <p:spPr>
          <a:xfrm>
            <a:off x="628750" y="2661679"/>
            <a:ext cx="25494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lt1"/>
                </a:solidFill>
                <a:latin typeface="Roboto"/>
                <a:ea typeface="Roboto"/>
                <a:cs typeface="Roboto"/>
                <a:sym typeface="Roboto"/>
              </a:rPr>
              <a:t>As we can see in the image on the right, our current administrator is old and also coupled to the backend of the Nuvemhsop core platform. This means that our tool has many dependencies (such as authentication) and consequently many barriers for us to deliver more value for our partners.</a:t>
            </a:r>
            <a:endParaRPr sz="1100">
              <a:solidFill>
                <a:schemeClr val="lt1"/>
              </a:solidFill>
              <a:latin typeface="Roboto"/>
              <a:ea typeface="Roboto"/>
              <a:cs typeface="Roboto"/>
              <a:sym typeface="Roboto"/>
            </a:endParaRPr>
          </a:p>
        </p:txBody>
      </p:sp>
      <p:sp>
        <p:nvSpPr>
          <p:cNvPr id="94" name="Google Shape;94;p16"/>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FFDFDF"/>
              </a:buClr>
              <a:buSzPts val="1400"/>
              <a:buFont typeface="Roboto"/>
              <a:buAutoNum type="arabicPeriod" startAt="2"/>
            </a:pPr>
            <a:r>
              <a:rPr b="1" lang="pt-BR">
                <a:solidFill>
                  <a:srgbClr val="FFDFDF"/>
                </a:solidFill>
                <a:latin typeface="Roboto"/>
                <a:ea typeface="Roboto"/>
                <a:cs typeface="Roboto"/>
                <a:sym typeface="Roboto"/>
              </a:rPr>
              <a:t>Challenge</a:t>
            </a:r>
            <a:endParaRPr b="1">
              <a:solidFill>
                <a:srgbClr val="FFDFDF"/>
              </a:solidFill>
              <a:latin typeface="Roboto"/>
              <a:ea typeface="Roboto"/>
              <a:cs typeface="Roboto"/>
              <a:sym typeface="Roboto"/>
            </a:endParaRPr>
          </a:p>
        </p:txBody>
      </p:sp>
      <p:sp>
        <p:nvSpPr>
          <p:cNvPr id="95" name="Google Shape;95;p16"/>
          <p:cNvSpPr txBox="1"/>
          <p:nvPr/>
        </p:nvSpPr>
        <p:spPr>
          <a:xfrm>
            <a:off x="612951" y="1093163"/>
            <a:ext cx="27591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chemeClr val="lt1"/>
                </a:solidFill>
                <a:latin typeface="Roboto"/>
                <a:ea typeface="Roboto"/>
                <a:cs typeface="Roboto"/>
                <a:sym typeface="Roboto"/>
              </a:rPr>
              <a:t>The legacy system is too old, merged to the core and restrict further improvements.</a:t>
            </a:r>
            <a:endParaRPr sz="2000">
              <a:solidFill>
                <a:schemeClr val="lt1"/>
              </a:solidFill>
              <a:latin typeface="Roboto"/>
              <a:ea typeface="Roboto"/>
              <a:cs typeface="Roboto"/>
              <a:sym typeface="Roboto"/>
            </a:endParaRPr>
          </a:p>
        </p:txBody>
      </p:sp>
      <p:pic>
        <p:nvPicPr>
          <p:cNvPr id="96" name="Google Shape;96;p16"/>
          <p:cNvPicPr preferRelativeResize="0"/>
          <p:nvPr/>
        </p:nvPicPr>
        <p:blipFill>
          <a:blip r:embed="rId3">
            <a:alphaModFix/>
          </a:blip>
          <a:stretch>
            <a:fillRect/>
          </a:stretch>
        </p:blipFill>
        <p:spPr>
          <a:xfrm>
            <a:off x="3869997" y="0"/>
            <a:ext cx="5878299"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3357"/>
        </a:solidFill>
      </p:bgPr>
    </p:bg>
    <p:spTree>
      <p:nvGrpSpPr>
        <p:cNvPr id="100" name="Shape 100"/>
        <p:cNvGrpSpPr/>
        <p:nvPr/>
      </p:nvGrpSpPr>
      <p:grpSpPr>
        <a:xfrm>
          <a:off x="0" y="0"/>
          <a:ext cx="0" cy="0"/>
          <a:chOff x="0" y="0"/>
          <a:chExt cx="0" cy="0"/>
        </a:xfrm>
      </p:grpSpPr>
      <p:sp>
        <p:nvSpPr>
          <p:cNvPr id="101" name="Google Shape;101;p17"/>
          <p:cNvSpPr txBox="1"/>
          <p:nvPr/>
        </p:nvSpPr>
        <p:spPr>
          <a:xfrm>
            <a:off x="1302499" y="2393675"/>
            <a:ext cx="19431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lt1"/>
                </a:solidFill>
                <a:latin typeface="Roboto"/>
                <a:ea typeface="Roboto"/>
                <a:cs typeface="Roboto"/>
                <a:sym typeface="Roboto"/>
              </a:rPr>
              <a:t>We knew through some partners and our operation that the administrator had many problems that impacted the routine of partners and generated many complaints.</a:t>
            </a:r>
            <a:endParaRPr sz="1100">
              <a:solidFill>
                <a:schemeClr val="lt1"/>
              </a:solidFill>
              <a:latin typeface="Roboto"/>
              <a:ea typeface="Roboto"/>
              <a:cs typeface="Roboto"/>
              <a:sym typeface="Roboto"/>
            </a:endParaRPr>
          </a:p>
        </p:txBody>
      </p:sp>
      <p:sp>
        <p:nvSpPr>
          <p:cNvPr id="102" name="Google Shape;102;p17"/>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D9D9D9"/>
              </a:buClr>
              <a:buSzPts val="1400"/>
              <a:buFont typeface="Roboto"/>
              <a:buAutoNum type="arabicPeriod" startAt="3"/>
            </a:pPr>
            <a:r>
              <a:rPr b="1" lang="pt-BR">
                <a:solidFill>
                  <a:srgbClr val="D9D9D9"/>
                </a:solidFill>
                <a:latin typeface="Roboto"/>
                <a:ea typeface="Roboto"/>
                <a:cs typeface="Roboto"/>
                <a:sym typeface="Roboto"/>
              </a:rPr>
              <a:t>Decision point</a:t>
            </a:r>
            <a:endParaRPr b="1">
              <a:solidFill>
                <a:srgbClr val="D9D9D9"/>
              </a:solidFill>
              <a:latin typeface="Roboto"/>
              <a:ea typeface="Roboto"/>
              <a:cs typeface="Roboto"/>
              <a:sym typeface="Roboto"/>
            </a:endParaRPr>
          </a:p>
        </p:txBody>
      </p:sp>
      <p:sp>
        <p:nvSpPr>
          <p:cNvPr id="103" name="Google Shape;103;p17"/>
          <p:cNvSpPr txBox="1"/>
          <p:nvPr/>
        </p:nvSpPr>
        <p:spPr>
          <a:xfrm>
            <a:off x="1305651" y="1377866"/>
            <a:ext cx="1825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chemeClr val="lt1"/>
                </a:solidFill>
                <a:latin typeface="Roboto"/>
                <a:ea typeface="Roboto"/>
                <a:cs typeface="Roboto"/>
                <a:sym typeface="Roboto"/>
              </a:rPr>
              <a:t>We have many complaints from partners</a:t>
            </a:r>
            <a:endParaRPr b="1" sz="1800">
              <a:solidFill>
                <a:schemeClr val="lt1"/>
              </a:solidFill>
              <a:latin typeface="Roboto"/>
              <a:ea typeface="Roboto"/>
              <a:cs typeface="Roboto"/>
              <a:sym typeface="Roboto"/>
            </a:endParaRPr>
          </a:p>
        </p:txBody>
      </p:sp>
      <p:sp>
        <p:nvSpPr>
          <p:cNvPr id="104" name="Google Shape;104;p17"/>
          <p:cNvSpPr txBox="1"/>
          <p:nvPr/>
        </p:nvSpPr>
        <p:spPr>
          <a:xfrm>
            <a:off x="3525971" y="1377866"/>
            <a:ext cx="1825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chemeClr val="lt1"/>
                </a:solidFill>
                <a:latin typeface="Roboto"/>
                <a:ea typeface="Roboto"/>
                <a:cs typeface="Roboto"/>
                <a:sym typeface="Roboto"/>
              </a:rPr>
              <a:t>Unmerge from the core to gain speed</a:t>
            </a:r>
            <a:endParaRPr b="1" sz="1800">
              <a:solidFill>
                <a:schemeClr val="lt1"/>
              </a:solidFill>
              <a:latin typeface="Roboto"/>
              <a:ea typeface="Roboto"/>
              <a:cs typeface="Roboto"/>
              <a:sym typeface="Roboto"/>
            </a:endParaRPr>
          </a:p>
        </p:txBody>
      </p:sp>
      <p:sp>
        <p:nvSpPr>
          <p:cNvPr id="105" name="Google Shape;105;p17"/>
          <p:cNvSpPr txBox="1"/>
          <p:nvPr/>
        </p:nvSpPr>
        <p:spPr>
          <a:xfrm>
            <a:off x="5784550" y="1377875"/>
            <a:ext cx="2239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chemeClr val="lt1"/>
                </a:solidFill>
                <a:latin typeface="Roboto"/>
                <a:ea typeface="Roboto"/>
                <a:cs typeface="Roboto"/>
                <a:sym typeface="Roboto"/>
              </a:rPr>
              <a:t>Enable future improvements to be easier and quicker to implement</a:t>
            </a:r>
            <a:endParaRPr b="1" sz="1800">
              <a:solidFill>
                <a:schemeClr val="lt1"/>
              </a:solidFill>
              <a:latin typeface="Roboto"/>
              <a:ea typeface="Roboto"/>
              <a:cs typeface="Roboto"/>
              <a:sym typeface="Roboto"/>
            </a:endParaRPr>
          </a:p>
        </p:txBody>
      </p:sp>
      <p:sp>
        <p:nvSpPr>
          <p:cNvPr id="106" name="Google Shape;106;p17"/>
          <p:cNvSpPr txBox="1"/>
          <p:nvPr/>
        </p:nvSpPr>
        <p:spPr>
          <a:xfrm>
            <a:off x="5789598" y="2687245"/>
            <a:ext cx="19431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lt1"/>
                </a:solidFill>
                <a:latin typeface="Roboto"/>
                <a:ea typeface="Roboto"/>
                <a:cs typeface="Roboto"/>
                <a:sym typeface="Roboto"/>
              </a:rPr>
              <a:t>We wanted to quickly deliver a big number of improvements for our partners. To make this possible, we needed to migrate the administrator to a new technology.</a:t>
            </a:r>
            <a:endParaRPr sz="1100">
              <a:solidFill>
                <a:schemeClr val="lt1"/>
              </a:solidFill>
              <a:latin typeface="Roboto"/>
              <a:ea typeface="Roboto"/>
              <a:cs typeface="Roboto"/>
              <a:sym typeface="Roboto"/>
            </a:endParaRPr>
          </a:p>
        </p:txBody>
      </p:sp>
      <p:sp>
        <p:nvSpPr>
          <p:cNvPr id="107" name="Google Shape;107;p17"/>
          <p:cNvSpPr txBox="1"/>
          <p:nvPr/>
        </p:nvSpPr>
        <p:spPr>
          <a:xfrm>
            <a:off x="3532294" y="2393675"/>
            <a:ext cx="19431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lt1"/>
                </a:solidFill>
                <a:latin typeface="Roboto"/>
                <a:ea typeface="Roboto"/>
                <a:cs typeface="Roboto"/>
                <a:sym typeface="Roboto"/>
              </a:rPr>
              <a:t>The Admin for Partners was built inside the Nuvemshop core. This made it have a lot of dependencies on the core and therefore a lot of barriers when it came to doing maintenance or implementing improvements.</a:t>
            </a:r>
            <a:endParaRPr sz="1100">
              <a:solidFill>
                <a:schemeClr val="l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18"/>
          <p:cNvSpPr txBox="1"/>
          <p:nvPr/>
        </p:nvSpPr>
        <p:spPr>
          <a:xfrm>
            <a:off x="628750" y="2508704"/>
            <a:ext cx="22800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dk2"/>
                </a:solidFill>
                <a:latin typeface="Roboto"/>
                <a:ea typeface="Roboto"/>
                <a:cs typeface="Roboto"/>
                <a:sym typeface="Roboto"/>
              </a:rPr>
              <a:t>As there are many opportunities for improvement, we ran the risk of adding too many modifications and extending the migration too much. Therefore, we took the decision to add a few improvements that had high impact, such as being mobile friendly, and trying to get closer to the baseline, so we would gain speed to finish this transition.</a:t>
            </a:r>
            <a:endParaRPr sz="1100">
              <a:solidFill>
                <a:schemeClr val="dk2"/>
              </a:solidFill>
              <a:latin typeface="Roboto"/>
              <a:ea typeface="Roboto"/>
              <a:cs typeface="Roboto"/>
              <a:sym typeface="Roboto"/>
            </a:endParaRPr>
          </a:p>
        </p:txBody>
      </p:sp>
      <p:sp>
        <p:nvSpPr>
          <p:cNvPr id="113" name="Google Shape;113;p18"/>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2C3357"/>
              </a:buClr>
              <a:buSzPts val="1400"/>
              <a:buFont typeface="Roboto"/>
              <a:buAutoNum type="arabicPeriod" startAt="3"/>
            </a:pPr>
            <a:r>
              <a:rPr b="1" lang="pt-BR">
                <a:solidFill>
                  <a:srgbClr val="2C3357"/>
                </a:solidFill>
                <a:latin typeface="Roboto"/>
                <a:ea typeface="Roboto"/>
                <a:cs typeface="Roboto"/>
                <a:sym typeface="Roboto"/>
              </a:rPr>
              <a:t>Decision point</a:t>
            </a:r>
            <a:endParaRPr b="1">
              <a:solidFill>
                <a:srgbClr val="2C3357"/>
              </a:solidFill>
              <a:latin typeface="Roboto"/>
              <a:ea typeface="Roboto"/>
              <a:cs typeface="Roboto"/>
              <a:sym typeface="Roboto"/>
            </a:endParaRPr>
          </a:p>
        </p:txBody>
      </p:sp>
      <p:sp>
        <p:nvSpPr>
          <p:cNvPr id="114" name="Google Shape;114;p18"/>
          <p:cNvSpPr txBox="1"/>
          <p:nvPr/>
        </p:nvSpPr>
        <p:spPr>
          <a:xfrm>
            <a:off x="612950" y="1090000"/>
            <a:ext cx="2374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chemeClr val="dk2"/>
                </a:solidFill>
                <a:latin typeface="Roboto"/>
                <a:ea typeface="Roboto"/>
                <a:cs typeface="Roboto"/>
                <a:sym typeface="Roboto"/>
              </a:rPr>
              <a:t>How can we move fast on this migration?</a:t>
            </a:r>
            <a:endParaRPr sz="2400">
              <a:solidFill>
                <a:schemeClr val="dk2"/>
              </a:solidFill>
              <a:latin typeface="Roboto"/>
              <a:ea typeface="Roboto"/>
              <a:cs typeface="Roboto"/>
              <a:sym typeface="Roboto"/>
            </a:endParaRPr>
          </a:p>
        </p:txBody>
      </p:sp>
      <p:grpSp>
        <p:nvGrpSpPr>
          <p:cNvPr id="115" name="Google Shape;115;p18"/>
          <p:cNvGrpSpPr/>
          <p:nvPr/>
        </p:nvGrpSpPr>
        <p:grpSpPr>
          <a:xfrm>
            <a:off x="3767826" y="1510343"/>
            <a:ext cx="4598624" cy="2350350"/>
            <a:chOff x="4302950" y="1450400"/>
            <a:chExt cx="4388000" cy="2242701"/>
          </a:xfrm>
        </p:grpSpPr>
        <p:pic>
          <p:nvPicPr>
            <p:cNvPr id="116" name="Google Shape;116;p18"/>
            <p:cNvPicPr preferRelativeResize="0"/>
            <p:nvPr/>
          </p:nvPicPr>
          <p:blipFill rotWithShape="1">
            <a:blip r:embed="rId3">
              <a:alphaModFix/>
            </a:blip>
            <a:srcRect b="0" l="20911" r="0" t="0"/>
            <a:stretch/>
          </p:blipFill>
          <p:spPr>
            <a:xfrm>
              <a:off x="4570750" y="1450400"/>
              <a:ext cx="4120200" cy="2242701"/>
            </a:xfrm>
            <a:prstGeom prst="rect">
              <a:avLst/>
            </a:prstGeom>
            <a:noFill/>
            <a:ln>
              <a:noFill/>
            </a:ln>
          </p:spPr>
        </p:pic>
        <p:pic>
          <p:nvPicPr>
            <p:cNvPr id="117" name="Google Shape;117;p18"/>
            <p:cNvPicPr preferRelativeResize="0"/>
            <p:nvPr/>
          </p:nvPicPr>
          <p:blipFill rotWithShape="1">
            <a:blip r:embed="rId3">
              <a:alphaModFix/>
            </a:blip>
            <a:srcRect b="50268" l="0" r="78227" t="34739"/>
            <a:stretch/>
          </p:blipFill>
          <p:spPr>
            <a:xfrm rot="-5400000">
              <a:off x="3903938" y="2179327"/>
              <a:ext cx="1134275" cy="33625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1F8"/>
        </a:solidFill>
      </p:bgPr>
    </p:bg>
    <p:spTree>
      <p:nvGrpSpPr>
        <p:cNvPr id="121" name="Shape 121"/>
        <p:cNvGrpSpPr/>
        <p:nvPr/>
      </p:nvGrpSpPr>
      <p:grpSpPr>
        <a:xfrm>
          <a:off x="0" y="0"/>
          <a:ext cx="0" cy="0"/>
          <a:chOff x="0" y="0"/>
          <a:chExt cx="0" cy="0"/>
        </a:xfrm>
      </p:grpSpPr>
      <p:sp>
        <p:nvSpPr>
          <p:cNvPr id="122" name="Google Shape;122;p19"/>
          <p:cNvSpPr txBox="1"/>
          <p:nvPr/>
        </p:nvSpPr>
        <p:spPr>
          <a:xfrm>
            <a:off x="628750" y="2858425"/>
            <a:ext cx="33357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dk2"/>
                </a:solidFill>
                <a:latin typeface="Roboto"/>
                <a:ea typeface="Roboto"/>
                <a:cs typeface="Roboto"/>
                <a:sym typeface="Roboto"/>
              </a:rPr>
              <a:t>Together with the technology migration, we wanted to bring real value to our partners in this case. We did a qualitative research with about 30 partners of different types, and found a wide range of problems. Our biggest challenge here was to prioritise these problems so that we could fit them into the migration. Some of the mai</a:t>
            </a:r>
            <a:r>
              <a:rPr lang="pt-BR" sz="1100">
                <a:solidFill>
                  <a:schemeClr val="dk2"/>
                </a:solidFill>
                <a:latin typeface="Roboto"/>
                <a:ea typeface="Roboto"/>
                <a:cs typeface="Roboto"/>
                <a:sym typeface="Roboto"/>
              </a:rPr>
              <a:t>n</a:t>
            </a:r>
            <a:r>
              <a:rPr lang="pt-BR" sz="1100">
                <a:solidFill>
                  <a:schemeClr val="dk2"/>
                </a:solidFill>
                <a:latin typeface="Roboto"/>
                <a:ea typeface="Roboto"/>
                <a:cs typeface="Roboto"/>
                <a:sym typeface="Roboto"/>
              </a:rPr>
              <a:t> problems were related to the use of the administrator, for example he had a very bad experience on mobile.</a:t>
            </a:r>
            <a:endParaRPr sz="1100">
              <a:solidFill>
                <a:schemeClr val="dk2"/>
              </a:solidFill>
              <a:latin typeface="Roboto"/>
              <a:ea typeface="Roboto"/>
              <a:cs typeface="Roboto"/>
              <a:sym typeface="Roboto"/>
            </a:endParaRPr>
          </a:p>
        </p:txBody>
      </p:sp>
      <p:pic>
        <p:nvPicPr>
          <p:cNvPr id="123" name="Google Shape;123;p19"/>
          <p:cNvPicPr preferRelativeResize="0"/>
          <p:nvPr/>
        </p:nvPicPr>
        <p:blipFill rotWithShape="1">
          <a:blip r:embed="rId3">
            <a:alphaModFix/>
          </a:blip>
          <a:srcRect b="0" l="2922" r="0" t="0"/>
          <a:stretch/>
        </p:blipFill>
        <p:spPr>
          <a:xfrm>
            <a:off x="4572897" y="595170"/>
            <a:ext cx="7240274" cy="4366500"/>
          </a:xfrm>
          <a:prstGeom prst="rect">
            <a:avLst/>
          </a:prstGeom>
          <a:noFill/>
          <a:ln>
            <a:noFill/>
          </a:ln>
        </p:spPr>
      </p:pic>
      <p:sp>
        <p:nvSpPr>
          <p:cNvPr id="124" name="Google Shape;124;p19"/>
          <p:cNvSpPr txBox="1"/>
          <p:nvPr/>
        </p:nvSpPr>
        <p:spPr>
          <a:xfrm>
            <a:off x="612950" y="1090000"/>
            <a:ext cx="2980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chemeClr val="dk2"/>
                </a:solidFill>
                <a:latin typeface="Roboto"/>
                <a:ea typeface="Roboto"/>
                <a:cs typeface="Roboto"/>
                <a:sym typeface="Roboto"/>
              </a:rPr>
              <a:t>Along with tech migration, what real value could we add for users?</a:t>
            </a:r>
            <a:endParaRPr sz="2400">
              <a:solidFill>
                <a:schemeClr val="dk2"/>
              </a:solidFill>
              <a:latin typeface="Roboto"/>
              <a:ea typeface="Roboto"/>
              <a:cs typeface="Roboto"/>
              <a:sym typeface="Roboto"/>
            </a:endParaRPr>
          </a:p>
        </p:txBody>
      </p:sp>
      <p:sp>
        <p:nvSpPr>
          <p:cNvPr id="125" name="Google Shape;125;p19"/>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2C3357"/>
              </a:buClr>
              <a:buSzPts val="1400"/>
              <a:buFont typeface="Roboto"/>
              <a:buAutoNum type="arabicPeriod" startAt="3"/>
            </a:pPr>
            <a:r>
              <a:rPr b="1" lang="pt-BR">
                <a:solidFill>
                  <a:srgbClr val="2C3357"/>
                </a:solidFill>
                <a:latin typeface="Roboto"/>
                <a:ea typeface="Roboto"/>
                <a:cs typeface="Roboto"/>
                <a:sym typeface="Roboto"/>
              </a:rPr>
              <a:t>Decision point</a:t>
            </a:r>
            <a:endParaRPr b="1">
              <a:solidFill>
                <a:srgbClr val="2C3357"/>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20"/>
          <p:cNvSpPr/>
          <p:nvPr/>
        </p:nvSpPr>
        <p:spPr>
          <a:xfrm>
            <a:off x="539050" y="1498675"/>
            <a:ext cx="3890700" cy="3296700"/>
          </a:xfrm>
          <a:prstGeom prst="rect">
            <a:avLst/>
          </a:prstGeom>
          <a:noFill/>
          <a:ln cap="flat" cmpd="sng" w="19050">
            <a:solidFill>
              <a:srgbClr val="FF8F8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2C3357"/>
              </a:buClr>
              <a:buSzPts val="1400"/>
              <a:buFont typeface="Roboto"/>
              <a:buAutoNum type="arabicPeriod" startAt="3"/>
            </a:pPr>
            <a:r>
              <a:rPr b="1" lang="pt-BR">
                <a:solidFill>
                  <a:srgbClr val="2C3357"/>
                </a:solidFill>
                <a:latin typeface="Roboto"/>
                <a:ea typeface="Roboto"/>
                <a:cs typeface="Roboto"/>
                <a:sym typeface="Roboto"/>
              </a:rPr>
              <a:t>Decision point</a:t>
            </a:r>
            <a:endParaRPr b="1">
              <a:solidFill>
                <a:srgbClr val="2C3357"/>
              </a:solidFill>
              <a:latin typeface="Roboto"/>
              <a:ea typeface="Roboto"/>
              <a:cs typeface="Roboto"/>
              <a:sym typeface="Roboto"/>
            </a:endParaRPr>
          </a:p>
        </p:txBody>
      </p:sp>
      <p:sp>
        <p:nvSpPr>
          <p:cNvPr id="132" name="Google Shape;132;p20"/>
          <p:cNvSpPr/>
          <p:nvPr/>
        </p:nvSpPr>
        <p:spPr>
          <a:xfrm>
            <a:off x="708411" y="1641225"/>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a:off x="708411" y="3229250"/>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0"/>
          <p:cNvSpPr/>
          <p:nvPr/>
        </p:nvSpPr>
        <p:spPr>
          <a:xfrm>
            <a:off x="2641864" y="1641225"/>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a:off x="2641864" y="3229250"/>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a:off x="4575316" y="1641225"/>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4575316" y="3229250"/>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0"/>
          <p:cNvSpPr/>
          <p:nvPr/>
        </p:nvSpPr>
        <p:spPr>
          <a:xfrm>
            <a:off x="6508768" y="1641225"/>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0"/>
          <p:cNvSpPr/>
          <p:nvPr/>
        </p:nvSpPr>
        <p:spPr>
          <a:xfrm>
            <a:off x="6508768" y="3229250"/>
            <a:ext cx="1644600" cy="1400400"/>
          </a:xfrm>
          <a:prstGeom prst="rect">
            <a:avLst/>
          </a:prstGeom>
          <a:solidFill>
            <a:srgbClr val="F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0"/>
          <p:cNvSpPr txBox="1"/>
          <p:nvPr/>
        </p:nvSpPr>
        <p:spPr>
          <a:xfrm>
            <a:off x="813454" y="1742950"/>
            <a:ext cx="1266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Responsive experience, mobile friendly</a:t>
            </a:r>
            <a:endParaRPr>
              <a:solidFill>
                <a:schemeClr val="dk2"/>
              </a:solidFill>
              <a:latin typeface="Roboto"/>
              <a:ea typeface="Roboto"/>
              <a:cs typeface="Roboto"/>
              <a:sym typeface="Roboto"/>
            </a:endParaRPr>
          </a:p>
        </p:txBody>
      </p:sp>
      <p:sp>
        <p:nvSpPr>
          <p:cNvPr id="141" name="Google Shape;141;p20"/>
          <p:cNvSpPr txBox="1"/>
          <p:nvPr/>
        </p:nvSpPr>
        <p:spPr>
          <a:xfrm>
            <a:off x="2757250" y="1742950"/>
            <a:ext cx="1383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Better overview of the receivable balance</a:t>
            </a:r>
            <a:endParaRPr>
              <a:solidFill>
                <a:schemeClr val="dk2"/>
              </a:solidFill>
              <a:latin typeface="Roboto"/>
              <a:ea typeface="Roboto"/>
              <a:cs typeface="Roboto"/>
              <a:sym typeface="Roboto"/>
            </a:endParaRPr>
          </a:p>
        </p:txBody>
      </p:sp>
      <p:sp>
        <p:nvSpPr>
          <p:cNvPr id="142" name="Google Shape;142;p20"/>
          <p:cNvSpPr txBox="1"/>
          <p:nvPr/>
        </p:nvSpPr>
        <p:spPr>
          <a:xfrm>
            <a:off x="6637074" y="1742950"/>
            <a:ext cx="1266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Better detailing of receivable balances</a:t>
            </a:r>
            <a:endParaRPr>
              <a:solidFill>
                <a:schemeClr val="dk2"/>
              </a:solidFill>
              <a:latin typeface="Roboto"/>
              <a:ea typeface="Roboto"/>
              <a:cs typeface="Roboto"/>
              <a:sym typeface="Roboto"/>
            </a:endParaRPr>
          </a:p>
        </p:txBody>
      </p:sp>
      <p:sp>
        <p:nvSpPr>
          <p:cNvPr id="143" name="Google Shape;143;p20"/>
          <p:cNvSpPr txBox="1"/>
          <p:nvPr/>
        </p:nvSpPr>
        <p:spPr>
          <a:xfrm>
            <a:off x="4693294" y="1742950"/>
            <a:ext cx="1266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Reports of activities as partners</a:t>
            </a:r>
            <a:endParaRPr>
              <a:solidFill>
                <a:schemeClr val="dk2"/>
              </a:solidFill>
              <a:latin typeface="Roboto"/>
              <a:ea typeface="Roboto"/>
              <a:cs typeface="Roboto"/>
              <a:sym typeface="Roboto"/>
            </a:endParaRPr>
          </a:p>
        </p:txBody>
      </p:sp>
      <p:sp>
        <p:nvSpPr>
          <p:cNvPr id="144" name="Google Shape;144;p20"/>
          <p:cNvSpPr txBox="1"/>
          <p:nvPr/>
        </p:nvSpPr>
        <p:spPr>
          <a:xfrm>
            <a:off x="813454" y="3342475"/>
            <a:ext cx="12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Filters in the stores listing</a:t>
            </a:r>
            <a:endParaRPr>
              <a:solidFill>
                <a:schemeClr val="dk2"/>
              </a:solidFill>
              <a:latin typeface="Roboto"/>
              <a:ea typeface="Roboto"/>
              <a:cs typeface="Roboto"/>
              <a:sym typeface="Roboto"/>
            </a:endParaRPr>
          </a:p>
        </p:txBody>
      </p:sp>
      <p:sp>
        <p:nvSpPr>
          <p:cNvPr id="145" name="Google Shape;145;p20"/>
          <p:cNvSpPr txBox="1"/>
          <p:nvPr/>
        </p:nvSpPr>
        <p:spPr>
          <a:xfrm>
            <a:off x="2757234" y="3342475"/>
            <a:ext cx="1266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Steps in the creation of apps</a:t>
            </a:r>
            <a:endParaRPr>
              <a:solidFill>
                <a:schemeClr val="dk2"/>
              </a:solidFill>
              <a:latin typeface="Roboto"/>
              <a:ea typeface="Roboto"/>
              <a:cs typeface="Roboto"/>
              <a:sym typeface="Roboto"/>
            </a:endParaRPr>
          </a:p>
        </p:txBody>
      </p:sp>
      <p:sp>
        <p:nvSpPr>
          <p:cNvPr id="146" name="Google Shape;146;p20"/>
          <p:cNvSpPr txBox="1"/>
          <p:nvPr/>
        </p:nvSpPr>
        <p:spPr>
          <a:xfrm>
            <a:off x="4693294" y="3342475"/>
            <a:ext cx="1266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Better access to docs for developers</a:t>
            </a:r>
            <a:endParaRPr>
              <a:solidFill>
                <a:schemeClr val="dk2"/>
              </a:solidFill>
              <a:latin typeface="Roboto"/>
              <a:ea typeface="Roboto"/>
              <a:cs typeface="Roboto"/>
              <a:sym typeface="Roboto"/>
            </a:endParaRPr>
          </a:p>
        </p:txBody>
      </p:sp>
      <p:sp>
        <p:nvSpPr>
          <p:cNvPr id="147" name="Google Shape;147;p20"/>
          <p:cNvSpPr txBox="1"/>
          <p:nvPr/>
        </p:nvSpPr>
        <p:spPr>
          <a:xfrm>
            <a:off x="612950" y="861400"/>
            <a:ext cx="464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chemeClr val="dk2"/>
                </a:solidFill>
                <a:latin typeface="Roboto"/>
                <a:ea typeface="Roboto"/>
                <a:cs typeface="Roboto"/>
                <a:sym typeface="Roboto"/>
              </a:rPr>
              <a:t>Problems vs. Baseline</a:t>
            </a:r>
            <a:endParaRPr sz="2400">
              <a:solidFill>
                <a:schemeClr val="dk2"/>
              </a:solidFill>
              <a:latin typeface="Roboto"/>
              <a:ea typeface="Roboto"/>
              <a:cs typeface="Roboto"/>
              <a:sym typeface="Roboto"/>
            </a:endParaRPr>
          </a:p>
        </p:txBody>
      </p:sp>
      <p:sp>
        <p:nvSpPr>
          <p:cNvPr id="148" name="Google Shape;148;p20"/>
          <p:cNvSpPr txBox="1"/>
          <p:nvPr/>
        </p:nvSpPr>
        <p:spPr>
          <a:xfrm>
            <a:off x="6637086" y="3342475"/>
            <a:ext cx="1423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a:solidFill>
                  <a:schemeClr val="dk2"/>
                </a:solidFill>
                <a:latin typeface="Roboto"/>
                <a:ea typeface="Roboto"/>
                <a:cs typeface="Roboto"/>
                <a:sym typeface="Roboto"/>
              </a:rPr>
              <a:t>Centralised communication about platform improvements</a:t>
            </a:r>
            <a:endParaRPr>
              <a:solidFill>
                <a:schemeClr val="dk2"/>
              </a:solidFill>
              <a:latin typeface="Roboto"/>
              <a:ea typeface="Roboto"/>
              <a:cs typeface="Roboto"/>
              <a:sym typeface="Roboto"/>
            </a:endParaRPr>
          </a:p>
        </p:txBody>
      </p:sp>
      <p:sp>
        <p:nvSpPr>
          <p:cNvPr id="149" name="Google Shape;149;p20"/>
          <p:cNvSpPr txBox="1"/>
          <p:nvPr/>
        </p:nvSpPr>
        <p:spPr>
          <a:xfrm>
            <a:off x="8137106" y="4274580"/>
            <a:ext cx="1423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b="1" lang="pt-BR" sz="1700">
                <a:solidFill>
                  <a:srgbClr val="FF8F8F"/>
                </a:solidFill>
                <a:latin typeface="Roboto"/>
                <a:ea typeface="Roboto"/>
                <a:cs typeface="Roboto"/>
                <a:sym typeface="Roboto"/>
              </a:rPr>
              <a:t>(...)</a:t>
            </a:r>
            <a:endParaRPr b="1" sz="1700">
              <a:solidFill>
                <a:srgbClr val="FF8F8F"/>
              </a:solidFill>
              <a:latin typeface="Roboto"/>
              <a:ea typeface="Roboto"/>
              <a:cs typeface="Roboto"/>
              <a:sym typeface="Roboto"/>
            </a:endParaRPr>
          </a:p>
        </p:txBody>
      </p:sp>
      <p:sp>
        <p:nvSpPr>
          <p:cNvPr id="150" name="Google Shape;150;p20"/>
          <p:cNvSpPr txBox="1"/>
          <p:nvPr/>
        </p:nvSpPr>
        <p:spPr>
          <a:xfrm rot="-397367">
            <a:off x="4587140" y="839618"/>
            <a:ext cx="2122564" cy="38477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300">
                <a:solidFill>
                  <a:srgbClr val="FF8F8F"/>
                </a:solidFill>
                <a:latin typeface="Roboto"/>
                <a:ea typeface="Roboto"/>
                <a:cs typeface="Roboto"/>
                <a:sym typeface="Roboto"/>
              </a:rPr>
              <a:t>low hanging fruits</a:t>
            </a:r>
            <a:endParaRPr sz="1300">
              <a:solidFill>
                <a:srgbClr val="FF8F8F"/>
              </a:solidFill>
              <a:latin typeface="Roboto"/>
              <a:ea typeface="Roboto"/>
              <a:cs typeface="Roboto"/>
              <a:sym typeface="Roboto"/>
            </a:endParaRPr>
          </a:p>
        </p:txBody>
      </p:sp>
      <p:sp>
        <p:nvSpPr>
          <p:cNvPr id="151" name="Google Shape;151;p20"/>
          <p:cNvSpPr/>
          <p:nvPr/>
        </p:nvSpPr>
        <p:spPr>
          <a:xfrm>
            <a:off x="4191000" y="1157300"/>
            <a:ext cx="433400" cy="342900"/>
          </a:xfrm>
          <a:custGeom>
            <a:rect b="b" l="l" r="r" t="t"/>
            <a:pathLst>
              <a:path extrusionOk="0" h="13716" w="17336">
                <a:moveTo>
                  <a:pt x="17336" y="0"/>
                </a:moveTo>
                <a:cubicBezTo>
                  <a:pt x="10012" y="811"/>
                  <a:pt x="0" y="6347"/>
                  <a:pt x="0" y="13716"/>
                </a:cubicBezTo>
              </a:path>
            </a:pathLst>
          </a:custGeom>
          <a:noFill/>
          <a:ln cap="flat" cmpd="sng" w="9525">
            <a:solidFill>
              <a:srgbClr val="FF8F8F"/>
            </a:solidFill>
            <a:prstDash val="solid"/>
            <a:round/>
            <a:headEnd len="med" w="med" type="none"/>
            <a:tailEnd len="med" w="med" type="triangle"/>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5" name="Shape 155"/>
        <p:cNvGrpSpPr/>
        <p:nvPr/>
      </p:nvGrpSpPr>
      <p:grpSpPr>
        <a:xfrm>
          <a:off x="0" y="0"/>
          <a:ext cx="0" cy="0"/>
          <a:chOff x="0" y="0"/>
          <a:chExt cx="0" cy="0"/>
        </a:xfrm>
      </p:grpSpPr>
      <p:sp>
        <p:nvSpPr>
          <p:cNvPr id="156" name="Google Shape;156;p21"/>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4"/>
            </a:pPr>
            <a:r>
              <a:rPr b="1" lang="pt-BR">
                <a:solidFill>
                  <a:srgbClr val="00539A"/>
                </a:solidFill>
                <a:latin typeface="Roboto"/>
                <a:ea typeface="Roboto"/>
                <a:cs typeface="Roboto"/>
                <a:sym typeface="Roboto"/>
              </a:rPr>
              <a:t>Project goals</a:t>
            </a:r>
            <a:endParaRPr b="1">
              <a:solidFill>
                <a:srgbClr val="00539A"/>
              </a:solidFill>
              <a:latin typeface="Roboto"/>
              <a:ea typeface="Roboto"/>
              <a:cs typeface="Roboto"/>
              <a:sym typeface="Roboto"/>
            </a:endParaRPr>
          </a:p>
        </p:txBody>
      </p:sp>
      <p:sp>
        <p:nvSpPr>
          <p:cNvPr id="157" name="Google Shape;157;p21"/>
          <p:cNvSpPr txBox="1"/>
          <p:nvPr/>
        </p:nvSpPr>
        <p:spPr>
          <a:xfrm>
            <a:off x="3417033" y="1796525"/>
            <a:ext cx="21936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chemeClr val="dk2"/>
                </a:solidFill>
                <a:latin typeface="Roboto"/>
                <a:ea typeface="Roboto"/>
                <a:cs typeface="Roboto"/>
                <a:sym typeface="Roboto"/>
              </a:rPr>
              <a:t>2.</a:t>
            </a:r>
            <a:endParaRPr b="1" sz="2200">
              <a:solidFill>
                <a:schemeClr val="dk2"/>
              </a:solidFill>
              <a:latin typeface="Roboto"/>
              <a:ea typeface="Roboto"/>
              <a:cs typeface="Roboto"/>
              <a:sym typeface="Roboto"/>
            </a:endParaRPr>
          </a:p>
          <a:p>
            <a:pPr indent="0" lvl="0" marL="0" rtl="0" algn="l">
              <a:spcBef>
                <a:spcPts val="0"/>
              </a:spcBef>
              <a:spcAft>
                <a:spcPts val="0"/>
              </a:spcAft>
              <a:buNone/>
            </a:pPr>
            <a:r>
              <a:rPr b="1" lang="pt-BR" sz="2200">
                <a:solidFill>
                  <a:schemeClr val="dk2"/>
                </a:solidFill>
                <a:latin typeface="Roboto"/>
                <a:ea typeface="Roboto"/>
                <a:cs typeface="Roboto"/>
                <a:sym typeface="Roboto"/>
              </a:rPr>
              <a:t>To use the new design system as base of this redesign</a:t>
            </a:r>
            <a:endParaRPr b="1" sz="2200">
              <a:solidFill>
                <a:schemeClr val="dk2"/>
              </a:solidFill>
              <a:latin typeface="Roboto"/>
              <a:ea typeface="Roboto"/>
              <a:cs typeface="Roboto"/>
              <a:sym typeface="Roboto"/>
            </a:endParaRPr>
          </a:p>
        </p:txBody>
      </p:sp>
      <p:sp>
        <p:nvSpPr>
          <p:cNvPr id="158" name="Google Shape;158;p21"/>
          <p:cNvSpPr txBox="1"/>
          <p:nvPr/>
        </p:nvSpPr>
        <p:spPr>
          <a:xfrm>
            <a:off x="609324" y="1796525"/>
            <a:ext cx="23442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chemeClr val="dk2"/>
                </a:solidFill>
                <a:latin typeface="Roboto"/>
                <a:ea typeface="Roboto"/>
                <a:cs typeface="Roboto"/>
                <a:sym typeface="Roboto"/>
              </a:rPr>
              <a:t>1</a:t>
            </a:r>
            <a:r>
              <a:rPr b="1" lang="pt-BR" sz="2200">
                <a:solidFill>
                  <a:schemeClr val="dk2"/>
                </a:solidFill>
                <a:latin typeface="Roboto"/>
                <a:ea typeface="Roboto"/>
                <a:cs typeface="Roboto"/>
                <a:sym typeface="Roboto"/>
              </a:rPr>
              <a:t>.</a:t>
            </a:r>
            <a:endParaRPr b="1" sz="2200">
              <a:solidFill>
                <a:schemeClr val="dk2"/>
              </a:solidFill>
              <a:latin typeface="Roboto"/>
              <a:ea typeface="Roboto"/>
              <a:cs typeface="Roboto"/>
              <a:sym typeface="Roboto"/>
            </a:endParaRPr>
          </a:p>
          <a:p>
            <a:pPr indent="0" lvl="0" marL="0" rtl="0" algn="l">
              <a:spcBef>
                <a:spcPts val="0"/>
              </a:spcBef>
              <a:spcAft>
                <a:spcPts val="0"/>
              </a:spcAft>
              <a:buNone/>
            </a:pPr>
            <a:r>
              <a:rPr b="1" lang="pt-BR" sz="2200">
                <a:solidFill>
                  <a:schemeClr val="dk2"/>
                </a:solidFill>
                <a:latin typeface="Roboto"/>
                <a:ea typeface="Roboto"/>
                <a:cs typeface="Roboto"/>
                <a:sym typeface="Roboto"/>
              </a:rPr>
              <a:t>Redesign the system with little but </a:t>
            </a:r>
            <a:r>
              <a:rPr b="1" lang="pt-BR" sz="2200">
                <a:solidFill>
                  <a:schemeClr val="dk2"/>
                </a:solidFill>
                <a:latin typeface="Roboto"/>
                <a:ea typeface="Roboto"/>
                <a:cs typeface="Roboto"/>
                <a:sym typeface="Roboto"/>
              </a:rPr>
              <a:t>impactful</a:t>
            </a:r>
            <a:r>
              <a:rPr b="1" lang="pt-BR" sz="2200">
                <a:solidFill>
                  <a:schemeClr val="dk2"/>
                </a:solidFill>
                <a:latin typeface="Roboto"/>
                <a:ea typeface="Roboto"/>
                <a:cs typeface="Roboto"/>
                <a:sym typeface="Roboto"/>
              </a:rPr>
              <a:t> changes from baseline</a:t>
            </a:r>
            <a:endParaRPr b="1" sz="2200">
              <a:solidFill>
                <a:schemeClr val="dk2"/>
              </a:solidFill>
              <a:latin typeface="Roboto"/>
              <a:ea typeface="Roboto"/>
              <a:cs typeface="Roboto"/>
              <a:sym typeface="Roboto"/>
            </a:endParaRPr>
          </a:p>
        </p:txBody>
      </p:sp>
      <p:sp>
        <p:nvSpPr>
          <p:cNvPr id="159" name="Google Shape;159;p21"/>
          <p:cNvSpPr txBox="1"/>
          <p:nvPr/>
        </p:nvSpPr>
        <p:spPr>
          <a:xfrm>
            <a:off x="6224725" y="1796525"/>
            <a:ext cx="19848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chemeClr val="dk2"/>
                </a:solidFill>
                <a:latin typeface="Roboto"/>
                <a:ea typeface="Roboto"/>
                <a:cs typeface="Roboto"/>
                <a:sym typeface="Roboto"/>
              </a:rPr>
              <a:t>3</a:t>
            </a:r>
            <a:r>
              <a:rPr b="1" lang="pt-BR" sz="2200">
                <a:solidFill>
                  <a:schemeClr val="dk2"/>
                </a:solidFill>
                <a:latin typeface="Roboto"/>
                <a:ea typeface="Roboto"/>
                <a:cs typeface="Roboto"/>
                <a:sym typeface="Roboto"/>
              </a:rPr>
              <a:t>.</a:t>
            </a:r>
            <a:endParaRPr b="1" sz="2200">
              <a:solidFill>
                <a:schemeClr val="dk2"/>
              </a:solidFill>
              <a:latin typeface="Roboto"/>
              <a:ea typeface="Roboto"/>
              <a:cs typeface="Roboto"/>
              <a:sym typeface="Roboto"/>
            </a:endParaRPr>
          </a:p>
          <a:p>
            <a:pPr indent="0" lvl="0" marL="0" rtl="0" algn="l">
              <a:spcBef>
                <a:spcPts val="0"/>
              </a:spcBef>
              <a:spcAft>
                <a:spcPts val="0"/>
              </a:spcAft>
              <a:buNone/>
            </a:pPr>
            <a:r>
              <a:rPr b="1" lang="pt-BR" sz="2200">
                <a:solidFill>
                  <a:schemeClr val="dk2"/>
                </a:solidFill>
                <a:latin typeface="Roboto"/>
                <a:ea typeface="Roboto"/>
                <a:cs typeface="Roboto"/>
                <a:sym typeface="Roboto"/>
              </a:rPr>
              <a:t>A</a:t>
            </a:r>
            <a:r>
              <a:rPr b="1" lang="pt-BR" sz="2200">
                <a:solidFill>
                  <a:schemeClr val="dk2"/>
                </a:solidFill>
                <a:latin typeface="Roboto"/>
                <a:ea typeface="Roboto"/>
                <a:cs typeface="Roboto"/>
                <a:sym typeface="Roboto"/>
              </a:rPr>
              <a:t>pply low-hanging fruit to add real value for partners</a:t>
            </a:r>
            <a:endParaRPr b="1" sz="2200">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nvSpPr>
        <p:spPr>
          <a:xfrm>
            <a:off x="2248680" y="1970061"/>
            <a:ext cx="1086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Decision</a:t>
            </a:r>
            <a:endParaRPr sz="1000">
              <a:solidFill>
                <a:schemeClr val="dk2"/>
              </a:solidFill>
              <a:latin typeface="Roboto"/>
              <a:ea typeface="Roboto"/>
              <a:cs typeface="Roboto"/>
              <a:sym typeface="Roboto"/>
            </a:endParaRPr>
          </a:p>
        </p:txBody>
      </p:sp>
      <p:sp>
        <p:nvSpPr>
          <p:cNvPr id="165" name="Google Shape;165;p22"/>
          <p:cNvSpPr txBox="1"/>
          <p:nvPr/>
        </p:nvSpPr>
        <p:spPr>
          <a:xfrm>
            <a:off x="5319230" y="1949239"/>
            <a:ext cx="1086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Creative sessions</a:t>
            </a:r>
            <a:endParaRPr sz="1000">
              <a:solidFill>
                <a:schemeClr val="dk2"/>
              </a:solidFill>
              <a:latin typeface="Roboto"/>
              <a:ea typeface="Roboto"/>
              <a:cs typeface="Roboto"/>
              <a:sym typeface="Roboto"/>
            </a:endParaRPr>
          </a:p>
        </p:txBody>
      </p:sp>
      <p:sp>
        <p:nvSpPr>
          <p:cNvPr id="166" name="Google Shape;166;p22"/>
          <p:cNvSpPr txBox="1"/>
          <p:nvPr/>
        </p:nvSpPr>
        <p:spPr>
          <a:xfrm>
            <a:off x="6463979" y="3310414"/>
            <a:ext cx="1086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Prototype</a:t>
            </a:r>
            <a:endParaRPr sz="1000">
              <a:solidFill>
                <a:schemeClr val="dk2"/>
              </a:solidFill>
              <a:latin typeface="Roboto"/>
              <a:ea typeface="Roboto"/>
              <a:cs typeface="Roboto"/>
              <a:sym typeface="Roboto"/>
            </a:endParaRPr>
          </a:p>
        </p:txBody>
      </p:sp>
      <p:sp>
        <p:nvSpPr>
          <p:cNvPr id="167" name="Google Shape;167;p22"/>
          <p:cNvSpPr txBox="1"/>
          <p:nvPr/>
        </p:nvSpPr>
        <p:spPr>
          <a:xfrm>
            <a:off x="1109780" y="1970061"/>
            <a:ext cx="1086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Inputs from business</a:t>
            </a:r>
            <a:endParaRPr sz="1000">
              <a:solidFill>
                <a:schemeClr val="dk2"/>
              </a:solidFill>
              <a:latin typeface="Roboto"/>
              <a:ea typeface="Roboto"/>
              <a:cs typeface="Roboto"/>
              <a:sym typeface="Roboto"/>
            </a:endParaRPr>
          </a:p>
        </p:txBody>
      </p:sp>
      <p:sp>
        <p:nvSpPr>
          <p:cNvPr id="168" name="Google Shape;168;p22"/>
          <p:cNvSpPr txBox="1"/>
          <p:nvPr/>
        </p:nvSpPr>
        <p:spPr>
          <a:xfrm>
            <a:off x="5319231" y="3310414"/>
            <a:ext cx="1086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Hand over </a:t>
            </a:r>
            <a:br>
              <a:rPr lang="pt-BR" sz="1000">
                <a:solidFill>
                  <a:schemeClr val="dk2"/>
                </a:solidFill>
                <a:latin typeface="Roboto"/>
                <a:ea typeface="Roboto"/>
                <a:cs typeface="Roboto"/>
                <a:sym typeface="Roboto"/>
              </a:rPr>
            </a:br>
            <a:r>
              <a:rPr lang="pt-BR" sz="1000">
                <a:solidFill>
                  <a:schemeClr val="dk2"/>
                </a:solidFill>
                <a:latin typeface="Roboto"/>
                <a:ea typeface="Roboto"/>
                <a:cs typeface="Roboto"/>
                <a:sym typeface="Roboto"/>
              </a:rPr>
              <a:t>to built</a:t>
            </a:r>
            <a:endParaRPr sz="1000">
              <a:solidFill>
                <a:schemeClr val="dk2"/>
              </a:solidFill>
              <a:latin typeface="Roboto"/>
              <a:ea typeface="Roboto"/>
              <a:cs typeface="Roboto"/>
              <a:sym typeface="Roboto"/>
            </a:endParaRPr>
          </a:p>
        </p:txBody>
      </p:sp>
      <p:sp>
        <p:nvSpPr>
          <p:cNvPr id="169" name="Google Shape;169;p22"/>
          <p:cNvSpPr/>
          <p:nvPr/>
        </p:nvSpPr>
        <p:spPr>
          <a:xfrm rot="-8100000">
            <a:off x="2116040" y="2083670"/>
            <a:ext cx="155281" cy="155281"/>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2"/>
          <p:cNvSpPr/>
          <p:nvPr/>
        </p:nvSpPr>
        <p:spPr>
          <a:xfrm rot="-8100000">
            <a:off x="6325490" y="2062849"/>
            <a:ext cx="155281" cy="155281"/>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2"/>
          <p:cNvSpPr/>
          <p:nvPr/>
        </p:nvSpPr>
        <p:spPr>
          <a:xfrm rot="2700000">
            <a:off x="6387072" y="3479083"/>
            <a:ext cx="155281" cy="155281"/>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2" name="Google Shape;172;p22"/>
          <p:cNvPicPr preferRelativeResize="0"/>
          <p:nvPr/>
        </p:nvPicPr>
        <p:blipFill>
          <a:blip r:embed="rId3">
            <a:alphaModFix/>
          </a:blip>
          <a:stretch>
            <a:fillRect/>
          </a:stretch>
        </p:blipFill>
        <p:spPr>
          <a:xfrm>
            <a:off x="1422807" y="1326011"/>
            <a:ext cx="460234" cy="597717"/>
          </a:xfrm>
          <a:prstGeom prst="rect">
            <a:avLst/>
          </a:prstGeom>
          <a:noFill/>
          <a:ln>
            <a:noFill/>
          </a:ln>
        </p:spPr>
      </p:pic>
      <p:pic>
        <p:nvPicPr>
          <p:cNvPr id="173" name="Google Shape;173;p22"/>
          <p:cNvPicPr preferRelativeResize="0"/>
          <p:nvPr/>
        </p:nvPicPr>
        <p:blipFill>
          <a:blip r:embed="rId4">
            <a:alphaModFix/>
          </a:blip>
          <a:stretch>
            <a:fillRect/>
          </a:stretch>
        </p:blipFill>
        <p:spPr>
          <a:xfrm>
            <a:off x="2479627" y="1326018"/>
            <a:ext cx="603684" cy="597717"/>
          </a:xfrm>
          <a:prstGeom prst="rect">
            <a:avLst/>
          </a:prstGeom>
          <a:noFill/>
          <a:ln>
            <a:noFill/>
          </a:ln>
        </p:spPr>
      </p:pic>
      <p:pic>
        <p:nvPicPr>
          <p:cNvPr id="174" name="Google Shape;174;p22"/>
          <p:cNvPicPr preferRelativeResize="0"/>
          <p:nvPr/>
        </p:nvPicPr>
        <p:blipFill>
          <a:blip r:embed="rId5">
            <a:alphaModFix/>
          </a:blip>
          <a:stretch>
            <a:fillRect/>
          </a:stretch>
        </p:blipFill>
        <p:spPr>
          <a:xfrm>
            <a:off x="5592313" y="1305189"/>
            <a:ext cx="531959" cy="597717"/>
          </a:xfrm>
          <a:prstGeom prst="rect">
            <a:avLst/>
          </a:prstGeom>
          <a:noFill/>
          <a:ln>
            <a:noFill/>
          </a:ln>
        </p:spPr>
      </p:pic>
      <p:pic>
        <p:nvPicPr>
          <p:cNvPr id="175" name="Google Shape;175;p22"/>
          <p:cNvPicPr preferRelativeResize="0"/>
          <p:nvPr/>
        </p:nvPicPr>
        <p:blipFill>
          <a:blip r:embed="rId6">
            <a:alphaModFix/>
          </a:blip>
          <a:stretch>
            <a:fillRect/>
          </a:stretch>
        </p:blipFill>
        <p:spPr>
          <a:xfrm>
            <a:off x="6706968" y="2666364"/>
            <a:ext cx="603684" cy="597717"/>
          </a:xfrm>
          <a:prstGeom prst="rect">
            <a:avLst/>
          </a:prstGeom>
          <a:noFill/>
          <a:ln>
            <a:noFill/>
          </a:ln>
        </p:spPr>
      </p:pic>
      <p:pic>
        <p:nvPicPr>
          <p:cNvPr id="176" name="Google Shape;176;p22"/>
          <p:cNvPicPr preferRelativeResize="0"/>
          <p:nvPr/>
        </p:nvPicPr>
        <p:blipFill>
          <a:blip r:embed="rId7">
            <a:alphaModFix/>
          </a:blip>
          <a:stretch>
            <a:fillRect/>
          </a:stretch>
        </p:blipFill>
        <p:spPr>
          <a:xfrm>
            <a:off x="5560528" y="2666364"/>
            <a:ext cx="603684" cy="597717"/>
          </a:xfrm>
          <a:prstGeom prst="rect">
            <a:avLst/>
          </a:prstGeom>
          <a:noFill/>
          <a:ln>
            <a:noFill/>
          </a:ln>
        </p:spPr>
      </p:pic>
      <p:sp>
        <p:nvSpPr>
          <p:cNvPr id="177" name="Google Shape;177;p22"/>
          <p:cNvSpPr txBox="1"/>
          <p:nvPr/>
        </p:nvSpPr>
        <p:spPr>
          <a:xfrm>
            <a:off x="6463979" y="1949239"/>
            <a:ext cx="1086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Design</a:t>
            </a:r>
            <a:endParaRPr sz="1000">
              <a:solidFill>
                <a:schemeClr val="dk2"/>
              </a:solidFill>
              <a:latin typeface="Roboto"/>
              <a:ea typeface="Roboto"/>
              <a:cs typeface="Roboto"/>
              <a:sym typeface="Roboto"/>
            </a:endParaRPr>
          </a:p>
        </p:txBody>
      </p:sp>
      <p:pic>
        <p:nvPicPr>
          <p:cNvPr id="178" name="Google Shape;178;p22"/>
          <p:cNvPicPr preferRelativeResize="0"/>
          <p:nvPr/>
        </p:nvPicPr>
        <p:blipFill>
          <a:blip r:embed="rId8">
            <a:alphaModFix/>
          </a:blip>
          <a:stretch>
            <a:fillRect/>
          </a:stretch>
        </p:blipFill>
        <p:spPr>
          <a:xfrm>
            <a:off x="6779242" y="1305202"/>
            <a:ext cx="531975" cy="597725"/>
          </a:xfrm>
          <a:prstGeom prst="rect">
            <a:avLst/>
          </a:prstGeom>
          <a:noFill/>
          <a:ln>
            <a:noFill/>
          </a:ln>
        </p:spPr>
      </p:pic>
      <p:sp>
        <p:nvSpPr>
          <p:cNvPr id="179" name="Google Shape;179;p22"/>
          <p:cNvSpPr/>
          <p:nvPr/>
        </p:nvSpPr>
        <p:spPr>
          <a:xfrm rot="2700000">
            <a:off x="7468172" y="3479083"/>
            <a:ext cx="155281" cy="155281"/>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p:nvPr/>
        </p:nvSpPr>
        <p:spPr>
          <a:xfrm>
            <a:off x="7272218" y="2008802"/>
            <a:ext cx="219600" cy="21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2"/>
          <p:cNvSpPr/>
          <p:nvPr/>
        </p:nvSpPr>
        <p:spPr>
          <a:xfrm>
            <a:off x="7348418" y="3446927"/>
            <a:ext cx="219600" cy="21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2" name="Google Shape;182;p22"/>
          <p:cNvCxnSpPr>
            <a:stCxn id="180" idx="3"/>
            <a:endCxn id="181" idx="3"/>
          </p:cNvCxnSpPr>
          <p:nvPr/>
        </p:nvCxnSpPr>
        <p:spPr>
          <a:xfrm>
            <a:off x="7491818" y="2118602"/>
            <a:ext cx="76200" cy="1438200"/>
          </a:xfrm>
          <a:prstGeom prst="curvedConnector3">
            <a:avLst>
              <a:gd fmla="val 661827" name="adj1"/>
            </a:avLst>
          </a:prstGeom>
          <a:noFill/>
          <a:ln cap="flat" cmpd="sng" w="19050">
            <a:solidFill>
              <a:srgbClr val="D2E7F9"/>
            </a:solidFill>
            <a:prstDash val="solid"/>
            <a:round/>
            <a:headEnd len="med" w="med" type="none"/>
            <a:tailEnd len="med" w="med" type="none"/>
          </a:ln>
        </p:spPr>
      </p:cxnSp>
      <p:sp>
        <p:nvSpPr>
          <p:cNvPr id="183" name="Google Shape;183;p22"/>
          <p:cNvSpPr/>
          <p:nvPr/>
        </p:nvSpPr>
        <p:spPr>
          <a:xfrm rot="-8100000">
            <a:off x="5223665" y="2062849"/>
            <a:ext cx="155281" cy="155281"/>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2"/>
          <p:cNvSpPr/>
          <p:nvPr/>
        </p:nvSpPr>
        <p:spPr>
          <a:xfrm>
            <a:off x="5441493" y="3375302"/>
            <a:ext cx="219600" cy="21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p:nvPr/>
        </p:nvSpPr>
        <p:spPr>
          <a:xfrm>
            <a:off x="5274793" y="2030702"/>
            <a:ext cx="219600" cy="21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2"/>
          <p:cNvSpPr/>
          <p:nvPr/>
        </p:nvSpPr>
        <p:spPr>
          <a:xfrm>
            <a:off x="4162430" y="2034373"/>
            <a:ext cx="219600" cy="21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 name="Google Shape;187;p22"/>
          <p:cNvCxnSpPr>
            <a:stCxn id="185" idx="1"/>
            <a:endCxn id="184" idx="1"/>
          </p:cNvCxnSpPr>
          <p:nvPr/>
        </p:nvCxnSpPr>
        <p:spPr>
          <a:xfrm>
            <a:off x="5274793" y="2140502"/>
            <a:ext cx="166800" cy="1344600"/>
          </a:xfrm>
          <a:prstGeom prst="curvedConnector3">
            <a:avLst>
              <a:gd fmla="val -235814" name="adj1"/>
            </a:avLst>
          </a:prstGeom>
          <a:noFill/>
          <a:ln cap="flat" cmpd="sng" w="19050">
            <a:solidFill>
              <a:srgbClr val="D2E7F9"/>
            </a:solidFill>
            <a:prstDash val="solid"/>
            <a:round/>
            <a:headEnd len="med" w="med" type="none"/>
            <a:tailEnd len="med" w="med" type="none"/>
          </a:ln>
        </p:spPr>
      </p:cxnSp>
      <p:cxnSp>
        <p:nvCxnSpPr>
          <p:cNvPr id="188" name="Google Shape;188;p22"/>
          <p:cNvCxnSpPr>
            <a:stCxn id="185" idx="1"/>
            <a:endCxn id="186" idx="3"/>
          </p:cNvCxnSpPr>
          <p:nvPr/>
        </p:nvCxnSpPr>
        <p:spPr>
          <a:xfrm flipH="1">
            <a:off x="4381993" y="2140502"/>
            <a:ext cx="892800" cy="3600"/>
          </a:xfrm>
          <a:prstGeom prst="curvedConnector3">
            <a:avLst>
              <a:gd fmla="val 49998" name="adj1"/>
            </a:avLst>
          </a:prstGeom>
          <a:noFill/>
          <a:ln cap="flat" cmpd="sng" w="19050">
            <a:solidFill>
              <a:srgbClr val="D2E7F9"/>
            </a:solidFill>
            <a:prstDash val="solid"/>
            <a:round/>
            <a:headEnd len="med" w="med" type="none"/>
            <a:tailEnd len="med" w="med" type="none"/>
          </a:ln>
        </p:spPr>
      </p:cxnSp>
      <p:pic>
        <p:nvPicPr>
          <p:cNvPr id="189" name="Google Shape;189;p22"/>
          <p:cNvPicPr preferRelativeResize="0"/>
          <p:nvPr/>
        </p:nvPicPr>
        <p:blipFill>
          <a:blip r:embed="rId9">
            <a:alphaModFix/>
          </a:blip>
          <a:stretch>
            <a:fillRect/>
          </a:stretch>
        </p:blipFill>
        <p:spPr>
          <a:xfrm>
            <a:off x="3627656" y="1326006"/>
            <a:ext cx="603675" cy="603675"/>
          </a:xfrm>
          <a:prstGeom prst="rect">
            <a:avLst/>
          </a:prstGeom>
          <a:noFill/>
          <a:ln>
            <a:noFill/>
          </a:ln>
        </p:spPr>
      </p:pic>
      <p:sp>
        <p:nvSpPr>
          <p:cNvPr id="190" name="Google Shape;190;p22"/>
          <p:cNvSpPr txBox="1"/>
          <p:nvPr/>
        </p:nvSpPr>
        <p:spPr>
          <a:xfrm>
            <a:off x="3379705" y="1970061"/>
            <a:ext cx="1086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Research</a:t>
            </a:r>
            <a:endParaRPr sz="1000">
              <a:solidFill>
                <a:schemeClr val="dk2"/>
              </a:solidFill>
              <a:latin typeface="Roboto"/>
              <a:ea typeface="Roboto"/>
              <a:cs typeface="Roboto"/>
              <a:sym typeface="Roboto"/>
            </a:endParaRPr>
          </a:p>
        </p:txBody>
      </p:sp>
      <p:sp>
        <p:nvSpPr>
          <p:cNvPr id="191" name="Google Shape;191;p22"/>
          <p:cNvSpPr/>
          <p:nvPr/>
        </p:nvSpPr>
        <p:spPr>
          <a:xfrm rot="-8100000">
            <a:off x="3247065" y="2083670"/>
            <a:ext cx="155281" cy="155281"/>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txBox="1"/>
          <p:nvPr/>
        </p:nvSpPr>
        <p:spPr>
          <a:xfrm>
            <a:off x="1229530" y="2838377"/>
            <a:ext cx="33291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dk2"/>
                </a:solidFill>
                <a:latin typeface="Roboto"/>
                <a:ea typeface="Roboto"/>
                <a:cs typeface="Roboto"/>
                <a:sym typeface="Roboto"/>
              </a:rPr>
              <a:t>We started this process together with product and engineering, considering the contributions we had from the business area, taking decisions together with them and the research we carried out with partners. After these steps, we entered in a continuous cycle inside the tribe, to advance in the Admin for Partners flows and hand over to the engineering team.</a:t>
            </a:r>
            <a:endParaRPr sz="1100">
              <a:solidFill>
                <a:schemeClr val="dk2"/>
              </a:solidFill>
              <a:latin typeface="Roboto"/>
              <a:ea typeface="Roboto"/>
              <a:cs typeface="Roboto"/>
              <a:sym typeface="Roboto"/>
            </a:endParaRPr>
          </a:p>
        </p:txBody>
      </p:sp>
      <p:sp>
        <p:nvSpPr>
          <p:cNvPr id="193" name="Google Shape;193;p22"/>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5"/>
            </a:pPr>
            <a:r>
              <a:rPr b="1" lang="pt-BR">
                <a:solidFill>
                  <a:srgbClr val="00539A"/>
                </a:solidFill>
                <a:latin typeface="Roboto"/>
                <a:ea typeface="Roboto"/>
                <a:cs typeface="Roboto"/>
                <a:sym typeface="Roboto"/>
              </a:rPr>
              <a:t>Process</a:t>
            </a:r>
            <a:endParaRPr b="1">
              <a:solidFill>
                <a:srgbClr val="00539A"/>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23"/>
          <p:cNvSpPr txBox="1"/>
          <p:nvPr/>
        </p:nvSpPr>
        <p:spPr>
          <a:xfrm>
            <a:off x="620475" y="1133775"/>
            <a:ext cx="2175900" cy="268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pt-BR" sz="1100">
                <a:solidFill>
                  <a:schemeClr val="dk2"/>
                </a:solidFill>
                <a:latin typeface="Roboto"/>
                <a:ea typeface="Roboto"/>
                <a:cs typeface="Roboto"/>
                <a:sym typeface="Roboto"/>
              </a:rPr>
              <a:t>To give visibility into all the flows we needed to migrate and also the status of their migration, I created a plan where I did this tracking from the design discipline point of view and reported weekly to the whole tribe.</a:t>
            </a:r>
            <a:endParaRPr sz="1100">
              <a:solidFill>
                <a:schemeClr val="dk2"/>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rPr lang="pt-BR" sz="1100">
                <a:solidFill>
                  <a:schemeClr val="dk2"/>
                </a:solidFill>
                <a:latin typeface="Roboto"/>
                <a:ea typeface="Roboto"/>
                <a:cs typeface="Roboto"/>
                <a:sym typeface="Roboto"/>
              </a:rPr>
              <a:t>The design team also benefited from this tracking because they knew exactly who was responsible for each part. In this way they gained more autonomy over migration.</a:t>
            </a:r>
            <a:endParaRPr sz="1100">
              <a:solidFill>
                <a:schemeClr val="dk2"/>
              </a:solidFill>
              <a:latin typeface="Roboto"/>
              <a:ea typeface="Roboto"/>
              <a:cs typeface="Roboto"/>
              <a:sym typeface="Roboto"/>
            </a:endParaRPr>
          </a:p>
        </p:txBody>
      </p:sp>
      <p:pic>
        <p:nvPicPr>
          <p:cNvPr id="199" name="Google Shape;199;p23"/>
          <p:cNvPicPr preferRelativeResize="0"/>
          <p:nvPr/>
        </p:nvPicPr>
        <p:blipFill>
          <a:blip r:embed="rId3">
            <a:alphaModFix/>
          </a:blip>
          <a:stretch>
            <a:fillRect/>
          </a:stretch>
        </p:blipFill>
        <p:spPr>
          <a:xfrm>
            <a:off x="2958501" y="720001"/>
            <a:ext cx="7940326" cy="3563076"/>
          </a:xfrm>
          <a:prstGeom prst="rect">
            <a:avLst/>
          </a:prstGeom>
          <a:noFill/>
          <a:ln>
            <a:noFill/>
          </a:ln>
        </p:spPr>
      </p:pic>
      <p:sp>
        <p:nvSpPr>
          <p:cNvPr id="200" name="Google Shape;200;p23"/>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5"/>
            </a:pPr>
            <a:r>
              <a:rPr b="1" lang="pt-BR">
                <a:solidFill>
                  <a:srgbClr val="00539A"/>
                </a:solidFill>
                <a:latin typeface="Roboto"/>
                <a:ea typeface="Roboto"/>
                <a:cs typeface="Roboto"/>
                <a:sym typeface="Roboto"/>
              </a:rPr>
              <a:t>Process</a:t>
            </a:r>
            <a:endParaRPr b="1">
              <a:solidFill>
                <a:srgbClr val="00539A"/>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4" name="Shape 204"/>
        <p:cNvGrpSpPr/>
        <p:nvPr/>
      </p:nvGrpSpPr>
      <p:grpSpPr>
        <a:xfrm>
          <a:off x="0" y="0"/>
          <a:ext cx="0" cy="0"/>
          <a:chOff x="0" y="0"/>
          <a:chExt cx="0" cy="0"/>
        </a:xfrm>
      </p:grpSpPr>
      <p:pic>
        <p:nvPicPr>
          <p:cNvPr id="205" name="Google Shape;205;p24"/>
          <p:cNvPicPr preferRelativeResize="0"/>
          <p:nvPr/>
        </p:nvPicPr>
        <p:blipFill>
          <a:blip r:embed="rId3">
            <a:alphaModFix/>
          </a:blip>
          <a:stretch>
            <a:fillRect/>
          </a:stretch>
        </p:blipFill>
        <p:spPr>
          <a:xfrm>
            <a:off x="152400" y="467688"/>
            <a:ext cx="8839204" cy="4208117"/>
          </a:xfrm>
          <a:prstGeom prst="rect">
            <a:avLst/>
          </a:prstGeom>
          <a:noFill/>
          <a:ln>
            <a:noFill/>
          </a:ln>
        </p:spPr>
      </p:pic>
      <p:sp>
        <p:nvSpPr>
          <p:cNvPr id="206" name="Google Shape;206;p24"/>
          <p:cNvSpPr txBox="1"/>
          <p:nvPr/>
        </p:nvSpPr>
        <p:spPr>
          <a:xfrm>
            <a:off x="134584" y="1426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6"/>
            </a:pPr>
            <a:r>
              <a:rPr b="1" lang="pt-BR">
                <a:solidFill>
                  <a:srgbClr val="00539A"/>
                </a:solidFill>
                <a:latin typeface="Roboto"/>
                <a:ea typeface="Roboto"/>
                <a:cs typeface="Roboto"/>
                <a:sym typeface="Roboto"/>
              </a:rPr>
              <a:t>Execution</a:t>
            </a:r>
            <a:endParaRPr b="1">
              <a:solidFill>
                <a:srgbClr val="00539A"/>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3">
            <a:alphaModFix/>
          </a:blip>
          <a:stretch>
            <a:fillRect/>
          </a:stretch>
        </p:blipFill>
        <p:spPr>
          <a:xfrm>
            <a:off x="707900" y="1102644"/>
            <a:ext cx="1669387" cy="2967792"/>
          </a:xfrm>
          <a:prstGeom prst="rect">
            <a:avLst/>
          </a:prstGeom>
          <a:noFill/>
          <a:ln>
            <a:noFill/>
          </a:ln>
          <a:effectLst>
            <a:outerShdw blurRad="385763" rotWithShape="0" algn="bl" dir="5400000" dist="142875">
              <a:srgbClr val="000000">
                <a:alpha val="20000"/>
              </a:srgbClr>
            </a:outerShdw>
          </a:effectLst>
        </p:spPr>
      </p:pic>
      <p:sp>
        <p:nvSpPr>
          <p:cNvPr id="212" name="Google Shape;212;p25"/>
          <p:cNvSpPr txBox="1"/>
          <p:nvPr/>
        </p:nvSpPr>
        <p:spPr>
          <a:xfrm>
            <a:off x="612950"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Login: mobile</a:t>
            </a:r>
            <a:endParaRPr sz="1000">
              <a:solidFill>
                <a:srgbClr val="FF8F8F"/>
              </a:solidFill>
              <a:latin typeface="Roboto"/>
              <a:ea typeface="Roboto"/>
              <a:cs typeface="Roboto"/>
              <a:sym typeface="Roboto"/>
            </a:endParaRPr>
          </a:p>
        </p:txBody>
      </p:sp>
      <p:pic>
        <p:nvPicPr>
          <p:cNvPr id="213" name="Google Shape;213;p25"/>
          <p:cNvPicPr preferRelativeResize="0"/>
          <p:nvPr/>
        </p:nvPicPr>
        <p:blipFill>
          <a:blip r:embed="rId4">
            <a:alphaModFix/>
          </a:blip>
          <a:stretch>
            <a:fillRect/>
          </a:stretch>
        </p:blipFill>
        <p:spPr>
          <a:xfrm>
            <a:off x="3084990" y="1102650"/>
            <a:ext cx="5278634" cy="2967775"/>
          </a:xfrm>
          <a:prstGeom prst="rect">
            <a:avLst/>
          </a:prstGeom>
          <a:noFill/>
          <a:ln>
            <a:noFill/>
          </a:ln>
          <a:effectLst>
            <a:outerShdw blurRad="385763" rotWithShape="0" algn="bl" dir="5400000" dist="142875">
              <a:srgbClr val="000000">
                <a:alpha val="20000"/>
              </a:srgbClr>
            </a:outerShdw>
          </a:effectLst>
        </p:spPr>
      </p:pic>
      <p:sp>
        <p:nvSpPr>
          <p:cNvPr id="214" name="Google Shape;214;p25"/>
          <p:cNvSpPr txBox="1"/>
          <p:nvPr/>
        </p:nvSpPr>
        <p:spPr>
          <a:xfrm>
            <a:off x="3008800"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Login: desktop</a:t>
            </a:r>
            <a:endParaRPr sz="1000">
              <a:solidFill>
                <a:srgbClr val="FF8F8F"/>
              </a:solidFill>
              <a:latin typeface="Roboto"/>
              <a:ea typeface="Roboto"/>
              <a:cs typeface="Roboto"/>
              <a:sym typeface="Roboto"/>
            </a:endParaRPr>
          </a:p>
        </p:txBody>
      </p:sp>
      <p:sp>
        <p:nvSpPr>
          <p:cNvPr id="215" name="Google Shape;215;p25"/>
          <p:cNvSpPr txBox="1"/>
          <p:nvPr/>
        </p:nvSpPr>
        <p:spPr>
          <a:xfrm>
            <a:off x="134584" y="1426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6"/>
            </a:pPr>
            <a:r>
              <a:rPr b="1" lang="pt-BR">
                <a:solidFill>
                  <a:srgbClr val="00539A"/>
                </a:solidFill>
                <a:latin typeface="Roboto"/>
                <a:ea typeface="Roboto"/>
                <a:cs typeface="Roboto"/>
                <a:sym typeface="Roboto"/>
              </a:rPr>
              <a:t>Execution</a:t>
            </a:r>
            <a:endParaRPr b="1">
              <a:solidFill>
                <a:srgbClr val="00539A"/>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9" name="Shape 219"/>
        <p:cNvGrpSpPr/>
        <p:nvPr/>
      </p:nvGrpSpPr>
      <p:grpSpPr>
        <a:xfrm>
          <a:off x="0" y="0"/>
          <a:ext cx="0" cy="0"/>
          <a:chOff x="0" y="0"/>
          <a:chExt cx="0" cy="0"/>
        </a:xfrm>
      </p:grpSpPr>
      <p:sp>
        <p:nvSpPr>
          <p:cNvPr id="220" name="Google Shape;220;p26"/>
          <p:cNvSpPr txBox="1"/>
          <p:nvPr/>
        </p:nvSpPr>
        <p:spPr>
          <a:xfrm>
            <a:off x="612950"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Home screen: mobile</a:t>
            </a:r>
            <a:endParaRPr sz="1000">
              <a:solidFill>
                <a:srgbClr val="FF8F8F"/>
              </a:solidFill>
              <a:latin typeface="Roboto"/>
              <a:ea typeface="Roboto"/>
              <a:cs typeface="Roboto"/>
              <a:sym typeface="Roboto"/>
            </a:endParaRPr>
          </a:p>
        </p:txBody>
      </p:sp>
      <p:pic>
        <p:nvPicPr>
          <p:cNvPr id="221" name="Google Shape;221;p26"/>
          <p:cNvPicPr preferRelativeResize="0"/>
          <p:nvPr/>
        </p:nvPicPr>
        <p:blipFill>
          <a:blip r:embed="rId3">
            <a:alphaModFix/>
          </a:blip>
          <a:stretch>
            <a:fillRect/>
          </a:stretch>
        </p:blipFill>
        <p:spPr>
          <a:xfrm>
            <a:off x="707900" y="1102650"/>
            <a:ext cx="1669375" cy="2967782"/>
          </a:xfrm>
          <a:prstGeom prst="rect">
            <a:avLst/>
          </a:prstGeom>
          <a:noFill/>
          <a:ln>
            <a:noFill/>
          </a:ln>
          <a:effectLst>
            <a:outerShdw blurRad="385763" rotWithShape="0" algn="bl" dir="5400000" dist="142875">
              <a:srgbClr val="000000">
                <a:alpha val="20000"/>
              </a:srgbClr>
            </a:outerShdw>
          </a:effectLst>
        </p:spPr>
      </p:pic>
      <p:sp>
        <p:nvSpPr>
          <p:cNvPr id="222" name="Google Shape;222;p26"/>
          <p:cNvSpPr txBox="1"/>
          <p:nvPr/>
        </p:nvSpPr>
        <p:spPr>
          <a:xfrm>
            <a:off x="2987850"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Home screen: desktop</a:t>
            </a:r>
            <a:endParaRPr sz="1000">
              <a:solidFill>
                <a:srgbClr val="FF8F8F"/>
              </a:solidFill>
              <a:latin typeface="Roboto"/>
              <a:ea typeface="Roboto"/>
              <a:cs typeface="Roboto"/>
              <a:sym typeface="Roboto"/>
            </a:endParaRPr>
          </a:p>
        </p:txBody>
      </p:sp>
      <p:pic>
        <p:nvPicPr>
          <p:cNvPr id="223" name="Google Shape;223;p26"/>
          <p:cNvPicPr preferRelativeResize="0"/>
          <p:nvPr/>
        </p:nvPicPr>
        <p:blipFill>
          <a:blip r:embed="rId4">
            <a:alphaModFix/>
          </a:blip>
          <a:stretch>
            <a:fillRect/>
          </a:stretch>
        </p:blipFill>
        <p:spPr>
          <a:xfrm>
            <a:off x="3084999" y="1102650"/>
            <a:ext cx="5278606" cy="2967775"/>
          </a:xfrm>
          <a:prstGeom prst="rect">
            <a:avLst/>
          </a:prstGeom>
          <a:noFill/>
          <a:ln>
            <a:noFill/>
          </a:ln>
          <a:effectLst>
            <a:outerShdw blurRad="385763" rotWithShape="0" algn="bl" dir="5400000" dist="142875">
              <a:srgbClr val="000000">
                <a:alpha val="20000"/>
              </a:srgbClr>
            </a:outerShdw>
          </a:effectLst>
        </p:spPr>
      </p:pic>
      <p:sp>
        <p:nvSpPr>
          <p:cNvPr id="224" name="Google Shape;224;p26"/>
          <p:cNvSpPr txBox="1"/>
          <p:nvPr/>
        </p:nvSpPr>
        <p:spPr>
          <a:xfrm>
            <a:off x="134584" y="1426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6"/>
            </a:pPr>
            <a:r>
              <a:rPr b="1" lang="pt-BR">
                <a:solidFill>
                  <a:srgbClr val="00539A"/>
                </a:solidFill>
                <a:latin typeface="Roboto"/>
                <a:ea typeface="Roboto"/>
                <a:cs typeface="Roboto"/>
                <a:sym typeface="Roboto"/>
              </a:rPr>
              <a:t>Execution</a:t>
            </a:r>
            <a:endParaRPr b="1">
              <a:solidFill>
                <a:srgbClr val="00539A"/>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8" name="Shape 228"/>
        <p:cNvGrpSpPr/>
        <p:nvPr/>
      </p:nvGrpSpPr>
      <p:grpSpPr>
        <a:xfrm>
          <a:off x="0" y="0"/>
          <a:ext cx="0" cy="0"/>
          <a:chOff x="0" y="0"/>
          <a:chExt cx="0" cy="0"/>
        </a:xfrm>
      </p:grpSpPr>
      <p:sp>
        <p:nvSpPr>
          <p:cNvPr id="229" name="Google Shape;229;p27"/>
          <p:cNvSpPr txBox="1"/>
          <p:nvPr/>
        </p:nvSpPr>
        <p:spPr>
          <a:xfrm>
            <a:off x="611371"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App create form: mobile</a:t>
            </a:r>
            <a:endParaRPr sz="1000">
              <a:solidFill>
                <a:srgbClr val="FF8F8F"/>
              </a:solidFill>
              <a:latin typeface="Roboto"/>
              <a:ea typeface="Roboto"/>
              <a:cs typeface="Roboto"/>
              <a:sym typeface="Roboto"/>
            </a:endParaRPr>
          </a:p>
        </p:txBody>
      </p:sp>
      <p:pic>
        <p:nvPicPr>
          <p:cNvPr id="230" name="Google Shape;230;p27"/>
          <p:cNvPicPr preferRelativeResize="0"/>
          <p:nvPr/>
        </p:nvPicPr>
        <p:blipFill>
          <a:blip r:embed="rId3">
            <a:alphaModFix/>
          </a:blip>
          <a:stretch>
            <a:fillRect/>
          </a:stretch>
        </p:blipFill>
        <p:spPr>
          <a:xfrm>
            <a:off x="714389" y="1102650"/>
            <a:ext cx="1669376" cy="2967782"/>
          </a:xfrm>
          <a:prstGeom prst="rect">
            <a:avLst/>
          </a:prstGeom>
          <a:noFill/>
          <a:ln>
            <a:noFill/>
          </a:ln>
          <a:effectLst>
            <a:outerShdw blurRad="385763" rotWithShape="0" algn="bl" dir="5400000" dist="142875">
              <a:srgbClr val="000000">
                <a:alpha val="20000"/>
              </a:srgbClr>
            </a:outerShdw>
          </a:effectLst>
        </p:spPr>
      </p:pic>
      <p:sp>
        <p:nvSpPr>
          <p:cNvPr id="231" name="Google Shape;231;p27"/>
          <p:cNvSpPr txBox="1"/>
          <p:nvPr/>
        </p:nvSpPr>
        <p:spPr>
          <a:xfrm>
            <a:off x="3008800"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App create form: desktop</a:t>
            </a:r>
            <a:endParaRPr sz="1000">
              <a:solidFill>
                <a:srgbClr val="FF8F8F"/>
              </a:solidFill>
              <a:latin typeface="Roboto"/>
              <a:ea typeface="Roboto"/>
              <a:cs typeface="Roboto"/>
              <a:sym typeface="Roboto"/>
            </a:endParaRPr>
          </a:p>
        </p:txBody>
      </p:sp>
      <p:pic>
        <p:nvPicPr>
          <p:cNvPr id="232" name="Google Shape;232;p27"/>
          <p:cNvPicPr preferRelativeResize="0"/>
          <p:nvPr/>
        </p:nvPicPr>
        <p:blipFill>
          <a:blip r:embed="rId4">
            <a:alphaModFix/>
          </a:blip>
          <a:stretch>
            <a:fillRect/>
          </a:stretch>
        </p:blipFill>
        <p:spPr>
          <a:xfrm>
            <a:off x="3085000" y="1102650"/>
            <a:ext cx="5278624" cy="2967794"/>
          </a:xfrm>
          <a:prstGeom prst="rect">
            <a:avLst/>
          </a:prstGeom>
          <a:noFill/>
          <a:ln>
            <a:noFill/>
          </a:ln>
          <a:effectLst>
            <a:outerShdw blurRad="385763" rotWithShape="0" algn="bl" dir="5400000" dist="142875">
              <a:srgbClr val="000000">
                <a:alpha val="20000"/>
              </a:srgbClr>
            </a:outerShdw>
          </a:effectLst>
        </p:spPr>
      </p:pic>
      <p:sp>
        <p:nvSpPr>
          <p:cNvPr id="233" name="Google Shape;233;p27"/>
          <p:cNvSpPr txBox="1"/>
          <p:nvPr/>
        </p:nvSpPr>
        <p:spPr>
          <a:xfrm>
            <a:off x="134584" y="1426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6"/>
            </a:pPr>
            <a:r>
              <a:rPr b="1" lang="pt-BR">
                <a:solidFill>
                  <a:srgbClr val="00539A"/>
                </a:solidFill>
                <a:latin typeface="Roboto"/>
                <a:ea typeface="Roboto"/>
                <a:cs typeface="Roboto"/>
                <a:sym typeface="Roboto"/>
              </a:rPr>
              <a:t>Execution</a:t>
            </a:r>
            <a:endParaRPr b="1">
              <a:solidFill>
                <a:srgbClr val="00539A"/>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37" name="Shape 237"/>
        <p:cNvGrpSpPr/>
        <p:nvPr/>
      </p:nvGrpSpPr>
      <p:grpSpPr>
        <a:xfrm>
          <a:off x="0" y="0"/>
          <a:ext cx="0" cy="0"/>
          <a:chOff x="0" y="0"/>
          <a:chExt cx="0" cy="0"/>
        </a:xfrm>
      </p:grpSpPr>
      <p:sp>
        <p:nvSpPr>
          <p:cNvPr id="238" name="Google Shape;238;p28"/>
          <p:cNvSpPr txBox="1"/>
          <p:nvPr/>
        </p:nvSpPr>
        <p:spPr>
          <a:xfrm>
            <a:off x="611371"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Apps details: mobile</a:t>
            </a:r>
            <a:endParaRPr sz="1000">
              <a:solidFill>
                <a:srgbClr val="FF8F8F"/>
              </a:solidFill>
              <a:latin typeface="Roboto"/>
              <a:ea typeface="Roboto"/>
              <a:cs typeface="Roboto"/>
              <a:sym typeface="Roboto"/>
            </a:endParaRPr>
          </a:p>
        </p:txBody>
      </p:sp>
      <p:pic>
        <p:nvPicPr>
          <p:cNvPr id="239" name="Google Shape;239;p28"/>
          <p:cNvPicPr preferRelativeResize="0"/>
          <p:nvPr/>
        </p:nvPicPr>
        <p:blipFill>
          <a:blip r:embed="rId3">
            <a:alphaModFix/>
          </a:blip>
          <a:stretch>
            <a:fillRect/>
          </a:stretch>
        </p:blipFill>
        <p:spPr>
          <a:xfrm>
            <a:off x="714389" y="1102650"/>
            <a:ext cx="1669375" cy="2967771"/>
          </a:xfrm>
          <a:prstGeom prst="rect">
            <a:avLst/>
          </a:prstGeom>
          <a:noFill/>
          <a:ln>
            <a:noFill/>
          </a:ln>
          <a:effectLst>
            <a:outerShdw blurRad="385763" rotWithShape="0" algn="bl" dir="5400000" dist="142875">
              <a:srgbClr val="000000">
                <a:alpha val="20000"/>
              </a:srgbClr>
            </a:outerShdw>
          </a:effectLst>
        </p:spPr>
      </p:pic>
      <p:pic>
        <p:nvPicPr>
          <p:cNvPr id="240" name="Google Shape;240;p28"/>
          <p:cNvPicPr preferRelativeResize="0"/>
          <p:nvPr/>
        </p:nvPicPr>
        <p:blipFill>
          <a:blip r:embed="rId4">
            <a:alphaModFix/>
          </a:blip>
          <a:stretch>
            <a:fillRect/>
          </a:stretch>
        </p:blipFill>
        <p:spPr>
          <a:xfrm>
            <a:off x="3084973" y="1102650"/>
            <a:ext cx="5278671" cy="2967800"/>
          </a:xfrm>
          <a:prstGeom prst="rect">
            <a:avLst/>
          </a:prstGeom>
          <a:noFill/>
          <a:ln>
            <a:noFill/>
          </a:ln>
          <a:effectLst>
            <a:outerShdw blurRad="385763" rotWithShape="0" algn="bl" dir="5400000" dist="142875">
              <a:srgbClr val="000000">
                <a:alpha val="20000"/>
              </a:srgbClr>
            </a:outerShdw>
          </a:effectLst>
        </p:spPr>
      </p:pic>
      <p:sp>
        <p:nvSpPr>
          <p:cNvPr id="241" name="Google Shape;241;p28"/>
          <p:cNvSpPr txBox="1"/>
          <p:nvPr/>
        </p:nvSpPr>
        <p:spPr>
          <a:xfrm>
            <a:off x="3008800"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Apps details: desktop</a:t>
            </a:r>
            <a:endParaRPr sz="1000">
              <a:solidFill>
                <a:srgbClr val="FF8F8F"/>
              </a:solidFill>
              <a:latin typeface="Roboto"/>
              <a:ea typeface="Roboto"/>
              <a:cs typeface="Roboto"/>
              <a:sym typeface="Roboto"/>
            </a:endParaRPr>
          </a:p>
        </p:txBody>
      </p:sp>
      <p:sp>
        <p:nvSpPr>
          <p:cNvPr id="242" name="Google Shape;242;p28"/>
          <p:cNvSpPr txBox="1"/>
          <p:nvPr/>
        </p:nvSpPr>
        <p:spPr>
          <a:xfrm>
            <a:off x="134584" y="1426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6"/>
            </a:pPr>
            <a:r>
              <a:rPr b="1" lang="pt-BR">
                <a:solidFill>
                  <a:srgbClr val="00539A"/>
                </a:solidFill>
                <a:latin typeface="Roboto"/>
                <a:ea typeface="Roboto"/>
                <a:cs typeface="Roboto"/>
                <a:sym typeface="Roboto"/>
              </a:rPr>
              <a:t>Execution</a:t>
            </a:r>
            <a:endParaRPr b="1">
              <a:solidFill>
                <a:srgbClr val="00539A"/>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46" name="Shape 246"/>
        <p:cNvGrpSpPr/>
        <p:nvPr/>
      </p:nvGrpSpPr>
      <p:grpSpPr>
        <a:xfrm>
          <a:off x="0" y="0"/>
          <a:ext cx="0" cy="0"/>
          <a:chOff x="0" y="0"/>
          <a:chExt cx="0" cy="0"/>
        </a:xfrm>
      </p:grpSpPr>
      <p:sp>
        <p:nvSpPr>
          <p:cNvPr id="247" name="Google Shape;247;p29"/>
          <p:cNvSpPr txBox="1"/>
          <p:nvPr/>
        </p:nvSpPr>
        <p:spPr>
          <a:xfrm>
            <a:off x="611371"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Balance details: mobile</a:t>
            </a:r>
            <a:endParaRPr sz="1000">
              <a:solidFill>
                <a:srgbClr val="FF8F8F"/>
              </a:solidFill>
              <a:latin typeface="Roboto"/>
              <a:ea typeface="Roboto"/>
              <a:cs typeface="Roboto"/>
              <a:sym typeface="Roboto"/>
            </a:endParaRPr>
          </a:p>
        </p:txBody>
      </p:sp>
      <p:sp>
        <p:nvSpPr>
          <p:cNvPr id="248" name="Google Shape;248;p29"/>
          <p:cNvSpPr txBox="1"/>
          <p:nvPr/>
        </p:nvSpPr>
        <p:spPr>
          <a:xfrm>
            <a:off x="3008800" y="611550"/>
            <a:ext cx="176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000">
                <a:solidFill>
                  <a:srgbClr val="FF8F8F"/>
                </a:solidFill>
                <a:latin typeface="Roboto"/>
                <a:ea typeface="Roboto"/>
                <a:cs typeface="Roboto"/>
                <a:sym typeface="Roboto"/>
              </a:rPr>
              <a:t>Balance details: desktop</a:t>
            </a:r>
            <a:endParaRPr sz="1000">
              <a:solidFill>
                <a:srgbClr val="FF8F8F"/>
              </a:solidFill>
              <a:latin typeface="Roboto"/>
              <a:ea typeface="Roboto"/>
              <a:cs typeface="Roboto"/>
              <a:sym typeface="Roboto"/>
            </a:endParaRPr>
          </a:p>
        </p:txBody>
      </p:sp>
      <p:sp>
        <p:nvSpPr>
          <p:cNvPr id="249" name="Google Shape;249;p29"/>
          <p:cNvSpPr txBox="1"/>
          <p:nvPr/>
        </p:nvSpPr>
        <p:spPr>
          <a:xfrm>
            <a:off x="134584" y="1426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6"/>
            </a:pPr>
            <a:r>
              <a:rPr b="1" lang="pt-BR">
                <a:solidFill>
                  <a:srgbClr val="00539A"/>
                </a:solidFill>
                <a:latin typeface="Roboto"/>
                <a:ea typeface="Roboto"/>
                <a:cs typeface="Roboto"/>
                <a:sym typeface="Roboto"/>
              </a:rPr>
              <a:t>Execution</a:t>
            </a:r>
            <a:endParaRPr b="1">
              <a:solidFill>
                <a:srgbClr val="00539A"/>
              </a:solidFill>
              <a:latin typeface="Roboto"/>
              <a:ea typeface="Roboto"/>
              <a:cs typeface="Roboto"/>
              <a:sym typeface="Roboto"/>
            </a:endParaRPr>
          </a:p>
        </p:txBody>
      </p:sp>
      <p:pic>
        <p:nvPicPr>
          <p:cNvPr id="250" name="Google Shape;250;p29"/>
          <p:cNvPicPr preferRelativeResize="0"/>
          <p:nvPr/>
        </p:nvPicPr>
        <p:blipFill>
          <a:blip r:embed="rId3">
            <a:alphaModFix/>
          </a:blip>
          <a:stretch>
            <a:fillRect/>
          </a:stretch>
        </p:blipFill>
        <p:spPr>
          <a:xfrm>
            <a:off x="3084973" y="1103374"/>
            <a:ext cx="5276032" cy="2966327"/>
          </a:xfrm>
          <a:prstGeom prst="rect">
            <a:avLst/>
          </a:prstGeom>
          <a:noFill/>
          <a:ln>
            <a:noFill/>
          </a:ln>
          <a:effectLst>
            <a:outerShdw blurRad="385763" rotWithShape="0" algn="bl" dir="5400000" dist="142875">
              <a:srgbClr val="000000">
                <a:alpha val="20000"/>
              </a:srgbClr>
            </a:outerShdw>
          </a:effectLst>
        </p:spPr>
      </p:pic>
      <p:pic>
        <p:nvPicPr>
          <p:cNvPr id="251" name="Google Shape;251;p29"/>
          <p:cNvPicPr preferRelativeResize="0"/>
          <p:nvPr/>
        </p:nvPicPr>
        <p:blipFill>
          <a:blip r:embed="rId4">
            <a:alphaModFix/>
          </a:blip>
          <a:stretch>
            <a:fillRect/>
          </a:stretch>
        </p:blipFill>
        <p:spPr>
          <a:xfrm>
            <a:off x="714389" y="1102650"/>
            <a:ext cx="1669370" cy="2967774"/>
          </a:xfrm>
          <a:prstGeom prst="rect">
            <a:avLst/>
          </a:prstGeom>
          <a:noFill/>
          <a:ln>
            <a:noFill/>
          </a:ln>
          <a:effectLst>
            <a:outerShdw blurRad="385763" rotWithShape="0" algn="bl" dir="5400000" dist="142875">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5" name="Shape 255"/>
        <p:cNvGrpSpPr/>
        <p:nvPr/>
      </p:nvGrpSpPr>
      <p:grpSpPr>
        <a:xfrm>
          <a:off x="0" y="0"/>
          <a:ext cx="0" cy="0"/>
          <a:chOff x="0" y="0"/>
          <a:chExt cx="0" cy="0"/>
        </a:xfrm>
      </p:grpSpPr>
      <p:sp>
        <p:nvSpPr>
          <p:cNvPr id="256" name="Google Shape;256;p30"/>
          <p:cNvSpPr txBox="1"/>
          <p:nvPr/>
        </p:nvSpPr>
        <p:spPr>
          <a:xfrm>
            <a:off x="134584" y="1426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00539A"/>
              </a:buClr>
              <a:buSzPts val="1400"/>
              <a:buFont typeface="Roboto"/>
              <a:buAutoNum type="arabicPeriod" startAt="6"/>
            </a:pPr>
            <a:r>
              <a:rPr b="1" lang="pt-BR">
                <a:solidFill>
                  <a:srgbClr val="00539A"/>
                </a:solidFill>
                <a:latin typeface="Roboto"/>
                <a:ea typeface="Roboto"/>
                <a:cs typeface="Roboto"/>
                <a:sym typeface="Roboto"/>
              </a:rPr>
              <a:t>Execution</a:t>
            </a:r>
            <a:endParaRPr b="1">
              <a:solidFill>
                <a:srgbClr val="00539A"/>
              </a:solidFill>
              <a:latin typeface="Roboto"/>
              <a:ea typeface="Roboto"/>
              <a:cs typeface="Roboto"/>
              <a:sym typeface="Roboto"/>
            </a:endParaRPr>
          </a:p>
        </p:txBody>
      </p:sp>
      <p:pic>
        <p:nvPicPr>
          <p:cNvPr id="257" name="Google Shape;257;p30"/>
          <p:cNvPicPr preferRelativeResize="0"/>
          <p:nvPr/>
        </p:nvPicPr>
        <p:blipFill>
          <a:blip r:embed="rId3">
            <a:alphaModFix/>
          </a:blip>
          <a:stretch>
            <a:fillRect/>
          </a:stretch>
        </p:blipFill>
        <p:spPr>
          <a:xfrm>
            <a:off x="4728988" y="1661200"/>
            <a:ext cx="4046461" cy="2275025"/>
          </a:xfrm>
          <a:prstGeom prst="rect">
            <a:avLst/>
          </a:prstGeom>
          <a:noFill/>
          <a:ln>
            <a:noFill/>
          </a:ln>
          <a:effectLst>
            <a:outerShdw blurRad="385763" rotWithShape="0" algn="bl" dir="5400000" dist="142875">
              <a:srgbClr val="000000">
                <a:alpha val="20000"/>
              </a:srgbClr>
            </a:outerShdw>
          </a:effectLst>
        </p:spPr>
      </p:pic>
      <p:pic>
        <p:nvPicPr>
          <p:cNvPr id="258" name="Google Shape;258;p30"/>
          <p:cNvPicPr preferRelativeResize="0"/>
          <p:nvPr/>
        </p:nvPicPr>
        <p:blipFill rotWithShape="1">
          <a:blip r:embed="rId4">
            <a:alphaModFix/>
          </a:blip>
          <a:srcRect b="35745" l="0" r="0" t="0"/>
          <a:stretch/>
        </p:blipFill>
        <p:spPr>
          <a:xfrm>
            <a:off x="368550" y="1661200"/>
            <a:ext cx="4046463" cy="2275022"/>
          </a:xfrm>
          <a:prstGeom prst="rect">
            <a:avLst/>
          </a:prstGeom>
          <a:noFill/>
          <a:ln>
            <a:noFill/>
          </a:ln>
          <a:effectLst>
            <a:outerShdw blurRad="385763" rotWithShape="0" algn="bl" dir="5400000" dist="142875">
              <a:srgbClr val="000000">
                <a:alpha val="20000"/>
              </a:srgbClr>
            </a:outerShdw>
          </a:effectLst>
        </p:spPr>
      </p:pic>
      <p:sp>
        <p:nvSpPr>
          <p:cNvPr id="259" name="Google Shape;259;p30"/>
          <p:cNvSpPr txBox="1"/>
          <p:nvPr/>
        </p:nvSpPr>
        <p:spPr>
          <a:xfrm>
            <a:off x="270150" y="1309275"/>
            <a:ext cx="4275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latin typeface="Roboto"/>
                <a:ea typeface="Roboto"/>
                <a:cs typeface="Roboto"/>
                <a:sym typeface="Roboto"/>
              </a:rPr>
              <a:t>Original system</a:t>
            </a:r>
            <a:endParaRPr b="1" sz="1000">
              <a:solidFill>
                <a:srgbClr val="000000"/>
              </a:solidFill>
              <a:latin typeface="Roboto"/>
              <a:ea typeface="Roboto"/>
              <a:cs typeface="Roboto"/>
              <a:sym typeface="Roboto"/>
            </a:endParaRPr>
          </a:p>
        </p:txBody>
      </p:sp>
      <p:sp>
        <p:nvSpPr>
          <p:cNvPr id="260" name="Google Shape;260;p30"/>
          <p:cNvSpPr txBox="1"/>
          <p:nvPr/>
        </p:nvSpPr>
        <p:spPr>
          <a:xfrm>
            <a:off x="4660675" y="1309275"/>
            <a:ext cx="421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latin typeface="Roboto"/>
                <a:ea typeface="Roboto"/>
                <a:cs typeface="Roboto"/>
                <a:sym typeface="Roboto"/>
              </a:rPr>
              <a:t>After redesign</a:t>
            </a:r>
            <a:endParaRPr sz="1000">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4" name="Shape 264"/>
        <p:cNvGrpSpPr/>
        <p:nvPr/>
      </p:nvGrpSpPr>
      <p:grpSpPr>
        <a:xfrm>
          <a:off x="0" y="0"/>
          <a:ext cx="0" cy="0"/>
          <a:chOff x="0" y="0"/>
          <a:chExt cx="0" cy="0"/>
        </a:xfrm>
      </p:grpSpPr>
      <p:sp>
        <p:nvSpPr>
          <p:cNvPr id="265" name="Google Shape;265;p31"/>
          <p:cNvSpPr txBox="1"/>
          <p:nvPr/>
        </p:nvSpPr>
        <p:spPr>
          <a:xfrm>
            <a:off x="6224725" y="1435050"/>
            <a:ext cx="2467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4000">
                <a:solidFill>
                  <a:srgbClr val="FF8F8F"/>
                </a:solidFill>
                <a:latin typeface="Roboto"/>
                <a:ea typeface="Roboto"/>
                <a:cs typeface="Roboto"/>
                <a:sym typeface="Roboto"/>
              </a:rPr>
              <a:t>4,5</a:t>
            </a:r>
            <a:r>
              <a:rPr b="1" lang="pt-BR" sz="4000">
                <a:solidFill>
                  <a:srgbClr val="FF8F8F"/>
                </a:solidFill>
                <a:latin typeface="Roboto"/>
                <a:ea typeface="Roboto"/>
                <a:cs typeface="Roboto"/>
                <a:sym typeface="Roboto"/>
              </a:rPr>
              <a:t> </a:t>
            </a:r>
            <a:br>
              <a:rPr b="1" lang="pt-BR" sz="2200">
                <a:solidFill>
                  <a:srgbClr val="FF8F8F"/>
                </a:solidFill>
                <a:latin typeface="Roboto"/>
                <a:ea typeface="Roboto"/>
                <a:cs typeface="Roboto"/>
                <a:sym typeface="Roboto"/>
              </a:rPr>
            </a:br>
            <a:r>
              <a:rPr lang="pt-BR" sz="2200">
                <a:solidFill>
                  <a:srgbClr val="FF8F8F"/>
                </a:solidFill>
                <a:latin typeface="Roboto"/>
                <a:ea typeface="Roboto"/>
                <a:cs typeface="Roboto"/>
                <a:sym typeface="Roboto"/>
              </a:rPr>
              <a:t>satisfaction score of the new version</a:t>
            </a:r>
            <a:endParaRPr sz="2200">
              <a:solidFill>
                <a:srgbClr val="FF8F8F"/>
              </a:solidFill>
              <a:latin typeface="Roboto"/>
              <a:ea typeface="Roboto"/>
              <a:cs typeface="Roboto"/>
              <a:sym typeface="Roboto"/>
            </a:endParaRPr>
          </a:p>
        </p:txBody>
      </p:sp>
      <p:sp>
        <p:nvSpPr>
          <p:cNvPr id="266" name="Google Shape;266;p31"/>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D9D9D9"/>
              </a:buClr>
              <a:buSzPts val="1400"/>
              <a:buFont typeface="Roboto"/>
              <a:buAutoNum type="arabicPeriod" startAt="7"/>
            </a:pPr>
            <a:r>
              <a:rPr b="1" lang="pt-BR">
                <a:solidFill>
                  <a:srgbClr val="D9D9D9"/>
                </a:solidFill>
                <a:latin typeface="Roboto"/>
                <a:ea typeface="Roboto"/>
                <a:cs typeface="Roboto"/>
                <a:sym typeface="Roboto"/>
              </a:rPr>
              <a:t>Results</a:t>
            </a:r>
            <a:endParaRPr b="1">
              <a:solidFill>
                <a:srgbClr val="D9D9D9"/>
              </a:solidFill>
              <a:latin typeface="Roboto"/>
              <a:ea typeface="Roboto"/>
              <a:cs typeface="Roboto"/>
              <a:sym typeface="Roboto"/>
            </a:endParaRPr>
          </a:p>
        </p:txBody>
      </p:sp>
      <p:sp>
        <p:nvSpPr>
          <p:cNvPr id="267" name="Google Shape;267;p31"/>
          <p:cNvSpPr txBox="1"/>
          <p:nvPr/>
        </p:nvSpPr>
        <p:spPr>
          <a:xfrm>
            <a:off x="3417025" y="1435050"/>
            <a:ext cx="2344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4000">
                <a:solidFill>
                  <a:srgbClr val="FF8F8F"/>
                </a:solidFill>
                <a:latin typeface="Roboto"/>
                <a:ea typeface="Roboto"/>
                <a:cs typeface="Roboto"/>
                <a:sym typeface="Roboto"/>
              </a:rPr>
              <a:t>100</a:t>
            </a:r>
            <a:r>
              <a:rPr b="1" lang="pt-BR" sz="4000">
                <a:solidFill>
                  <a:srgbClr val="FF8F8F"/>
                </a:solidFill>
                <a:latin typeface="Roboto"/>
                <a:ea typeface="Roboto"/>
                <a:cs typeface="Roboto"/>
                <a:sym typeface="Roboto"/>
              </a:rPr>
              <a:t>% </a:t>
            </a:r>
            <a:br>
              <a:rPr b="1" lang="pt-BR" sz="2200">
                <a:solidFill>
                  <a:srgbClr val="FF8F8F"/>
                </a:solidFill>
                <a:latin typeface="Roboto"/>
                <a:ea typeface="Roboto"/>
                <a:cs typeface="Roboto"/>
                <a:sym typeface="Roboto"/>
              </a:rPr>
            </a:br>
            <a:r>
              <a:rPr lang="pt-BR" sz="2200">
                <a:solidFill>
                  <a:srgbClr val="FF8F8F"/>
                </a:solidFill>
                <a:latin typeface="Roboto"/>
                <a:ea typeface="Roboto"/>
                <a:cs typeface="Roboto"/>
                <a:sym typeface="Roboto"/>
              </a:rPr>
              <a:t>partners using the new platform</a:t>
            </a:r>
            <a:endParaRPr sz="2200">
              <a:solidFill>
                <a:srgbClr val="FF8F8F"/>
              </a:solidFill>
              <a:latin typeface="Roboto"/>
              <a:ea typeface="Roboto"/>
              <a:cs typeface="Roboto"/>
              <a:sym typeface="Roboto"/>
            </a:endParaRPr>
          </a:p>
        </p:txBody>
      </p:sp>
      <p:sp>
        <p:nvSpPr>
          <p:cNvPr id="268" name="Google Shape;268;p31"/>
          <p:cNvSpPr txBox="1"/>
          <p:nvPr/>
        </p:nvSpPr>
        <p:spPr>
          <a:xfrm>
            <a:off x="609324" y="1435056"/>
            <a:ext cx="2344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4000">
                <a:solidFill>
                  <a:srgbClr val="FF8F8F"/>
                </a:solidFill>
                <a:latin typeface="Roboto"/>
                <a:ea typeface="Roboto"/>
                <a:cs typeface="Roboto"/>
                <a:sym typeface="Roboto"/>
              </a:rPr>
              <a:t>100</a:t>
            </a:r>
            <a:r>
              <a:rPr b="1" lang="pt-BR" sz="4000">
                <a:solidFill>
                  <a:srgbClr val="FF8F8F"/>
                </a:solidFill>
                <a:latin typeface="Roboto"/>
                <a:ea typeface="Roboto"/>
                <a:cs typeface="Roboto"/>
                <a:sym typeface="Roboto"/>
              </a:rPr>
              <a:t>% </a:t>
            </a:r>
            <a:br>
              <a:rPr b="1" lang="pt-BR" sz="2200">
                <a:solidFill>
                  <a:srgbClr val="FF8F8F"/>
                </a:solidFill>
                <a:latin typeface="Roboto"/>
                <a:ea typeface="Roboto"/>
                <a:cs typeface="Roboto"/>
                <a:sym typeface="Roboto"/>
              </a:rPr>
            </a:br>
            <a:r>
              <a:rPr lang="pt-BR" sz="2200">
                <a:solidFill>
                  <a:srgbClr val="FF8F8F"/>
                </a:solidFill>
                <a:latin typeface="Roboto"/>
                <a:ea typeface="Roboto"/>
                <a:cs typeface="Roboto"/>
                <a:sym typeface="Roboto"/>
              </a:rPr>
              <a:t>of migrated functionalities</a:t>
            </a:r>
            <a:endParaRPr sz="2200">
              <a:solidFill>
                <a:srgbClr val="FF8F8F"/>
              </a:solidFill>
              <a:latin typeface="Roboto"/>
              <a:ea typeface="Roboto"/>
              <a:cs typeface="Roboto"/>
              <a:sym typeface="Roboto"/>
            </a:endParaRPr>
          </a:p>
        </p:txBody>
      </p:sp>
      <p:sp>
        <p:nvSpPr>
          <p:cNvPr id="269" name="Google Shape;269;p31"/>
          <p:cNvSpPr txBox="1"/>
          <p:nvPr/>
        </p:nvSpPr>
        <p:spPr>
          <a:xfrm>
            <a:off x="3425129" y="3042675"/>
            <a:ext cx="2324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rgbClr val="EFEFEF"/>
                </a:solidFill>
                <a:latin typeface="Roboto"/>
                <a:ea typeface="Roboto"/>
                <a:cs typeface="Roboto"/>
                <a:sym typeface="Roboto"/>
              </a:rPr>
              <a:t>We completed the migration with the entire partner base using the new platform in 8 months, without the need to rollback users and maintain accounts on the old platform.</a:t>
            </a:r>
            <a:endParaRPr sz="1100">
              <a:solidFill>
                <a:srgbClr val="EFEFEF"/>
              </a:solidFill>
              <a:latin typeface="Roboto"/>
              <a:ea typeface="Roboto"/>
              <a:cs typeface="Roboto"/>
              <a:sym typeface="Roboto"/>
            </a:endParaRPr>
          </a:p>
        </p:txBody>
      </p:sp>
      <p:sp>
        <p:nvSpPr>
          <p:cNvPr id="270" name="Google Shape;270;p31"/>
          <p:cNvSpPr txBox="1"/>
          <p:nvPr/>
        </p:nvSpPr>
        <p:spPr>
          <a:xfrm>
            <a:off x="628750" y="3042675"/>
            <a:ext cx="2324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rgbClr val="EFEFEF"/>
                </a:solidFill>
                <a:latin typeface="Roboto"/>
                <a:ea typeface="Roboto"/>
                <a:cs typeface="Roboto"/>
                <a:sym typeface="Roboto"/>
              </a:rPr>
              <a:t>We migrated all the functionalities that existed in the old platform to the new one, making room for improvements and new features.</a:t>
            </a:r>
            <a:endParaRPr sz="1100">
              <a:solidFill>
                <a:srgbClr val="EFEFEF"/>
              </a:solidFill>
              <a:latin typeface="Roboto"/>
              <a:ea typeface="Roboto"/>
              <a:cs typeface="Roboto"/>
              <a:sym typeface="Roboto"/>
            </a:endParaRPr>
          </a:p>
        </p:txBody>
      </p:sp>
      <p:sp>
        <p:nvSpPr>
          <p:cNvPr id="271" name="Google Shape;271;p31"/>
          <p:cNvSpPr txBox="1"/>
          <p:nvPr/>
        </p:nvSpPr>
        <p:spPr>
          <a:xfrm>
            <a:off x="6221475" y="3042675"/>
            <a:ext cx="24033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rgbClr val="EFEFEF"/>
                </a:solidFill>
                <a:latin typeface="Roboto"/>
                <a:ea typeface="Roboto"/>
                <a:cs typeface="Roboto"/>
                <a:sym typeface="Roboto"/>
              </a:rPr>
              <a:t>Our satisfaction goal was to be equal to or greater than satisfaction with the previous platform. At the end of the migration, we met our target and identified frictions in the experience of the new platform.</a:t>
            </a:r>
            <a:endParaRPr sz="1100">
              <a:solidFill>
                <a:srgbClr val="EFEF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8F"/>
        </a:solidFill>
      </p:bgPr>
    </p:bg>
    <p:spTree>
      <p:nvGrpSpPr>
        <p:cNvPr id="275" name="Shape 275"/>
        <p:cNvGrpSpPr/>
        <p:nvPr/>
      </p:nvGrpSpPr>
      <p:grpSpPr>
        <a:xfrm>
          <a:off x="0" y="0"/>
          <a:ext cx="0" cy="0"/>
          <a:chOff x="0" y="0"/>
          <a:chExt cx="0" cy="0"/>
        </a:xfrm>
      </p:grpSpPr>
      <p:sp>
        <p:nvSpPr>
          <p:cNvPr id="276" name="Google Shape;276;p32"/>
          <p:cNvSpPr txBox="1"/>
          <p:nvPr/>
        </p:nvSpPr>
        <p:spPr>
          <a:xfrm>
            <a:off x="6187050" y="1872725"/>
            <a:ext cx="24111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pt-BR" sz="1900">
                <a:solidFill>
                  <a:schemeClr val="lt1"/>
                </a:solidFill>
                <a:latin typeface="Roboto"/>
                <a:ea typeface="Roboto"/>
                <a:cs typeface="Roboto"/>
                <a:sym typeface="Roboto"/>
              </a:rPr>
              <a:t>Explored more the use of the design system</a:t>
            </a:r>
            <a:endParaRPr b="1" sz="1900">
              <a:solidFill>
                <a:schemeClr val="lt1"/>
              </a:solidFill>
              <a:latin typeface="Roboto"/>
              <a:ea typeface="Roboto"/>
              <a:cs typeface="Roboto"/>
              <a:sym typeface="Roboto"/>
            </a:endParaRPr>
          </a:p>
        </p:txBody>
      </p:sp>
      <p:sp>
        <p:nvSpPr>
          <p:cNvPr id="277" name="Google Shape;277;p32"/>
          <p:cNvSpPr txBox="1"/>
          <p:nvPr/>
        </p:nvSpPr>
        <p:spPr>
          <a:xfrm>
            <a:off x="591784"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FFDFDF"/>
              </a:buClr>
              <a:buSzPts val="1400"/>
              <a:buFont typeface="Roboto"/>
              <a:buAutoNum type="arabicPeriod" startAt="8"/>
            </a:pPr>
            <a:r>
              <a:rPr b="1" lang="pt-BR">
                <a:solidFill>
                  <a:srgbClr val="FFDFDF"/>
                </a:solidFill>
                <a:latin typeface="Roboto"/>
                <a:ea typeface="Roboto"/>
                <a:cs typeface="Roboto"/>
                <a:sym typeface="Roboto"/>
              </a:rPr>
              <a:t>Learnings</a:t>
            </a:r>
            <a:endParaRPr b="1">
              <a:solidFill>
                <a:srgbClr val="FFDFDF"/>
              </a:solidFill>
              <a:latin typeface="Roboto"/>
              <a:ea typeface="Roboto"/>
              <a:cs typeface="Roboto"/>
              <a:sym typeface="Roboto"/>
            </a:endParaRPr>
          </a:p>
        </p:txBody>
      </p:sp>
      <p:sp>
        <p:nvSpPr>
          <p:cNvPr id="278" name="Google Shape;278;p32"/>
          <p:cNvSpPr txBox="1"/>
          <p:nvPr/>
        </p:nvSpPr>
        <p:spPr>
          <a:xfrm>
            <a:off x="631700" y="1872725"/>
            <a:ext cx="23040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900">
                <a:solidFill>
                  <a:schemeClr val="lt1"/>
                </a:solidFill>
                <a:latin typeface="Roboto"/>
                <a:ea typeface="Roboto"/>
                <a:cs typeface="Roboto"/>
                <a:sym typeface="Roboto"/>
              </a:rPr>
              <a:t>Explored more MVPs during migration</a:t>
            </a:r>
            <a:endParaRPr b="1" sz="1900">
              <a:solidFill>
                <a:schemeClr val="lt1"/>
              </a:solidFill>
              <a:latin typeface="Roboto"/>
              <a:ea typeface="Roboto"/>
              <a:cs typeface="Roboto"/>
              <a:sym typeface="Roboto"/>
            </a:endParaRPr>
          </a:p>
        </p:txBody>
      </p:sp>
      <p:sp>
        <p:nvSpPr>
          <p:cNvPr id="279" name="Google Shape;279;p32"/>
          <p:cNvSpPr txBox="1"/>
          <p:nvPr/>
        </p:nvSpPr>
        <p:spPr>
          <a:xfrm>
            <a:off x="3488998" y="1872725"/>
            <a:ext cx="21936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900">
                <a:solidFill>
                  <a:schemeClr val="lt1"/>
                </a:solidFill>
                <a:latin typeface="Roboto"/>
                <a:ea typeface="Roboto"/>
                <a:cs typeface="Roboto"/>
                <a:sym typeface="Roboto"/>
              </a:rPr>
              <a:t>Broken down deliveries into smaller parts</a:t>
            </a:r>
            <a:endParaRPr b="1" sz="1900">
              <a:solidFill>
                <a:schemeClr val="lt1"/>
              </a:solidFill>
              <a:latin typeface="Roboto"/>
              <a:ea typeface="Roboto"/>
              <a:cs typeface="Roboto"/>
              <a:sym typeface="Roboto"/>
            </a:endParaRPr>
          </a:p>
        </p:txBody>
      </p:sp>
      <p:sp>
        <p:nvSpPr>
          <p:cNvPr id="280" name="Google Shape;280;p32"/>
          <p:cNvSpPr txBox="1"/>
          <p:nvPr/>
        </p:nvSpPr>
        <p:spPr>
          <a:xfrm>
            <a:off x="3484851" y="3042675"/>
            <a:ext cx="21936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lt1"/>
                </a:solidFill>
                <a:latin typeface="Roboto"/>
                <a:ea typeface="Roboto"/>
                <a:cs typeface="Roboto"/>
                <a:sym typeface="Roboto"/>
              </a:rPr>
              <a:t>To move faster and collect more feedbacks during the migration, we could have broken down the deliverables better, keeping the goal of the migration as a whole.</a:t>
            </a:r>
            <a:endParaRPr sz="1100">
              <a:solidFill>
                <a:schemeClr val="lt1"/>
              </a:solidFill>
              <a:latin typeface="Roboto"/>
              <a:ea typeface="Roboto"/>
              <a:cs typeface="Roboto"/>
              <a:sym typeface="Roboto"/>
            </a:endParaRPr>
          </a:p>
        </p:txBody>
      </p:sp>
      <p:sp>
        <p:nvSpPr>
          <p:cNvPr id="281" name="Google Shape;281;p32"/>
          <p:cNvSpPr txBox="1"/>
          <p:nvPr/>
        </p:nvSpPr>
        <p:spPr>
          <a:xfrm>
            <a:off x="628750" y="3042675"/>
            <a:ext cx="2304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lt1"/>
                </a:solidFill>
                <a:latin typeface="Roboto"/>
                <a:ea typeface="Roboto"/>
                <a:cs typeface="Roboto"/>
                <a:sym typeface="Roboto"/>
              </a:rPr>
              <a:t>In most of the migration, we spent a lot of effort to deliver features, we could have done faster deliveries to test some critical features with selected users.</a:t>
            </a:r>
            <a:endParaRPr sz="1100">
              <a:solidFill>
                <a:schemeClr val="lt1"/>
              </a:solidFill>
              <a:latin typeface="Roboto"/>
              <a:ea typeface="Roboto"/>
              <a:cs typeface="Roboto"/>
              <a:sym typeface="Roboto"/>
            </a:endParaRPr>
          </a:p>
        </p:txBody>
      </p:sp>
      <p:sp>
        <p:nvSpPr>
          <p:cNvPr id="282" name="Google Shape;282;p32"/>
          <p:cNvSpPr txBox="1"/>
          <p:nvPr/>
        </p:nvSpPr>
        <p:spPr>
          <a:xfrm>
            <a:off x="6189000" y="3042675"/>
            <a:ext cx="24111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chemeClr val="dk1"/>
              </a:buClr>
              <a:buSzPts val="1100"/>
              <a:buFont typeface="Arial"/>
              <a:buNone/>
            </a:pPr>
            <a:r>
              <a:rPr lang="pt-BR" sz="1100">
                <a:solidFill>
                  <a:schemeClr val="lt1"/>
                </a:solidFill>
                <a:latin typeface="Roboto"/>
                <a:ea typeface="Roboto"/>
                <a:cs typeface="Roboto"/>
                <a:sym typeface="Roboto"/>
              </a:rPr>
              <a:t>We used our design system during the migration, however in some cases we customized it to meet some specific UI cases. I believe we would have moved faster if we had used the DS better and left it to evolve parts of the UI in the post-migration.</a:t>
            </a:r>
            <a:endParaRPr sz="1100">
              <a:solidFill>
                <a:schemeClr val="lt1"/>
              </a:solidFill>
              <a:latin typeface="Roboto"/>
              <a:ea typeface="Roboto"/>
              <a:cs typeface="Roboto"/>
              <a:sym typeface="Roboto"/>
            </a:endParaRPr>
          </a:p>
        </p:txBody>
      </p:sp>
      <p:sp>
        <p:nvSpPr>
          <p:cNvPr id="283" name="Google Shape;283;p32"/>
          <p:cNvSpPr txBox="1"/>
          <p:nvPr/>
        </p:nvSpPr>
        <p:spPr>
          <a:xfrm>
            <a:off x="602950" y="1076275"/>
            <a:ext cx="4709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chemeClr val="lt1"/>
                </a:solidFill>
                <a:latin typeface="Roboto"/>
                <a:ea typeface="Roboto"/>
                <a:cs typeface="Roboto"/>
                <a:sym typeface="Roboto"/>
              </a:rPr>
              <a:t>What would I do differently?</a:t>
            </a:r>
            <a:endParaRPr sz="2000">
              <a:solidFill>
                <a:schemeClr val="lt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3357"/>
        </a:solidFill>
      </p:bgPr>
    </p:bg>
    <p:spTree>
      <p:nvGrpSpPr>
        <p:cNvPr id="287" name="Shape 287"/>
        <p:cNvGrpSpPr/>
        <p:nvPr/>
      </p:nvGrpSpPr>
      <p:grpSpPr>
        <a:xfrm>
          <a:off x="0" y="0"/>
          <a:ext cx="0" cy="0"/>
          <a:chOff x="0" y="0"/>
          <a:chExt cx="0" cy="0"/>
        </a:xfrm>
      </p:grpSpPr>
      <p:sp>
        <p:nvSpPr>
          <p:cNvPr id="288" name="Google Shape;288;p33"/>
          <p:cNvSpPr txBox="1"/>
          <p:nvPr/>
        </p:nvSpPr>
        <p:spPr>
          <a:xfrm>
            <a:off x="2710050" y="2310144"/>
            <a:ext cx="3723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2200">
                <a:solidFill>
                  <a:srgbClr val="D2E7F9"/>
                </a:solidFill>
                <a:latin typeface="Roboto"/>
                <a:ea typeface="Roboto"/>
                <a:cs typeface="Roboto"/>
                <a:sym typeface="Roboto"/>
              </a:rPr>
              <a:t>Thanks!</a:t>
            </a:r>
            <a:endParaRPr b="1" sz="2200">
              <a:solidFill>
                <a:srgbClr val="D2E7F9"/>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